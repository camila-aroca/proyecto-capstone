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8" roundtripDataSignature="AMtx7mhldsXtxqq0prS+7++lBLu/TvdjA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57A533-BEDD-CDD8-FCA2-9DB42B9E608E}" v="2" dt="2026-09-03T12:40:37.7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customschemas.google.com/relationships/presentationmetadata" Target="meta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notesMaster" Target="notesMasters/notesMaster1.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ristopher Rojas" userId="1077fd38eb2f231f" providerId="Windows Live" clId="Web-{B157A533-BEDD-CDD8-FCA2-9DB42B9E608E}"/>
    <pc:docChg chg="modSld">
      <pc:chgData name="Cristopher Rojas" userId="1077fd38eb2f231f" providerId="Windows Live" clId="Web-{B157A533-BEDD-CDD8-FCA2-9DB42B9E608E}" dt="2026-09-03T12:40:37.769" v="1"/>
      <pc:docMkLst>
        <pc:docMk/>
      </pc:docMkLst>
      <pc:sldChg chg="addSp delSp">
        <pc:chgData name="Cristopher Rojas" userId="1077fd38eb2f231f" providerId="Windows Live" clId="Web-{B157A533-BEDD-CDD8-FCA2-9DB42B9E608E}" dt="2026-09-03T12:40:37.769" v="1"/>
        <pc:sldMkLst>
          <pc:docMk/>
          <pc:sldMk cId="0" sldId="266"/>
        </pc:sldMkLst>
        <pc:spChg chg="add del">
          <ac:chgData name="Cristopher Rojas" userId="1077fd38eb2f231f" providerId="Windows Live" clId="Web-{B157A533-BEDD-CDD8-FCA2-9DB42B9E608E}" dt="2026-09-03T12:40:37.769" v="1"/>
          <ac:spMkLst>
            <pc:docMk/>
            <pc:sldMk cId="0" sldId="266"/>
            <ac:spMk id="2" creationId="{887C9CD5-FE1C-1878-7095-C97D292CD72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4" name="Google Shape;4;n"/>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5" name="Google Shape;5;n"/>
          <p:cNvSpPr>
            <a:spLocks noGrp="1" noRot="1" noChangeAspect="1"/>
          </p:cNvSpPr>
          <p:nvPr>
            <p:ph type="sldImg" idx="3"/>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 name="Google Shape;6;n"/>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lvl1pPr>
            <a:lvl2pPr marL="914400" lvl="1" indent="-228600">
              <a:spcBef>
                <a:spcPts val="0"/>
              </a:spcBef>
              <a:spcAft>
                <a:spcPts val="0"/>
              </a:spcAft>
              <a:buSzPts val="1400"/>
              <a:buNone/>
              <a:defRPr sz="1800"/>
            </a:lvl2pPr>
            <a:lvl3pPr marL="1371600" lvl="2" indent="-228600">
              <a:spcBef>
                <a:spcPts val="0"/>
              </a:spcBef>
              <a:spcAft>
                <a:spcPts val="0"/>
              </a:spcAft>
              <a:buSzPts val="1400"/>
              <a:buNone/>
              <a:defRPr sz="1800"/>
            </a:lvl3pPr>
            <a:lvl4pPr marL="1828800" lvl="3" indent="-228600">
              <a:spcBef>
                <a:spcPts val="0"/>
              </a:spcBef>
              <a:spcAft>
                <a:spcPts val="0"/>
              </a:spcAft>
              <a:buSzPts val="1400"/>
              <a:buNone/>
              <a:defRPr sz="1800"/>
            </a:lvl4pPr>
            <a:lvl5pPr marL="2286000" lvl="4" indent="-228600">
              <a:spcBef>
                <a:spcPts val="0"/>
              </a:spcBef>
              <a:spcAft>
                <a:spcPts val="0"/>
              </a:spcAft>
              <a:buSzPts val="1400"/>
              <a:buNone/>
              <a:defRPr sz="1800"/>
            </a:lvl5pPr>
            <a:lvl6pPr marL="2743200" lvl="5" indent="-228600">
              <a:spcBef>
                <a:spcPts val="0"/>
              </a:spcBef>
              <a:spcAft>
                <a:spcPts val="0"/>
              </a:spcAft>
              <a:buSzPts val="1400"/>
              <a:buNone/>
              <a:defRPr sz="1800"/>
            </a:lvl6pPr>
            <a:lvl7pPr marL="3200400" lvl="6" indent="-228600">
              <a:spcBef>
                <a:spcPts val="0"/>
              </a:spcBef>
              <a:spcAft>
                <a:spcPts val="0"/>
              </a:spcAft>
              <a:buSzPts val="1400"/>
              <a:buNone/>
              <a:defRPr sz="1800"/>
            </a:lvl7pPr>
            <a:lvl8pPr marL="3657600" lvl="7" indent="-228600">
              <a:spcBef>
                <a:spcPts val="0"/>
              </a:spcBef>
              <a:spcAft>
                <a:spcPts val="0"/>
              </a:spcAft>
              <a:buSzPts val="1400"/>
              <a:buNone/>
              <a:defRPr sz="1800"/>
            </a:lvl8pPr>
            <a:lvl9pPr marL="4114800" lvl="8" indent="-228600">
              <a:spcBef>
                <a:spcPts val="0"/>
              </a:spcBef>
              <a:spcAft>
                <a:spcPts val="0"/>
              </a:spcAft>
              <a:buSzPts val="1400"/>
              <a:buNone/>
              <a:defRPr sz="1800"/>
            </a:lvl9pPr>
          </a:lstStyle>
          <a:p>
            <a:endParaRPr/>
          </a:p>
        </p:txBody>
      </p:sp>
      <p:sp>
        <p:nvSpPr>
          <p:cNvPr id="7" name="Google Shape;7;n"/>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8" name="Google Shape;8;n"/>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 name="Google Shape;13;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Tiempo sugerido: 0:35</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Buenos días. Somos Camila Aroca Muñoz, [integrante 2], [integrante 3] y [integrante 4]. Nuestro proyecto propone una plataforma analítica para apoyar la planificación de la red pública de urgencia en salud mental de la Región Metropolitana. Presentaremos el problema, el MVP propuesto, el avance técnico comprobado y el plan para convertirlo en un producto funcional.</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[Sources]</a:t>
            </a:r>
            <a:endParaRPr/>
          </a:p>
          <a:p>
            <a:pPr marL="0" lvl="0" indent="0" algn="l" rtl="0">
              <a:spcBef>
                <a:spcPts val="0"/>
              </a:spcBef>
              <a:spcAft>
                <a:spcPts val="0"/>
              </a:spcAft>
              <a:buNone/>
            </a:pPr>
            <a:r>
              <a:rPr lang="en-US" sz="1200"/>
              <a:t>- Guía Estudiante Fase 1 — Definición Proyecto APT (archivo proporcionado por la usuaria).</a:t>
            </a:r>
            <a:endParaRPr/>
          </a:p>
          <a:p>
            <a:pPr marL="0" lvl="0" indent="0" algn="l" rtl="0">
              <a:spcBef>
                <a:spcPts val="0"/>
              </a:spcBef>
              <a:spcAft>
                <a:spcPts val="0"/>
              </a:spcAft>
              <a:buNone/>
            </a:pPr>
            <a:r>
              <a:rPr lang="en-US" sz="1200"/>
              <a:t>- Imagen conceptual generada para esta presentación; no representa datos reales ni ubicaciones exactas.</a:t>
            </a:r>
            <a:endParaRPr/>
          </a:p>
        </p:txBody>
      </p:sp>
      <p:sp>
        <p:nvSpPr>
          <p:cNvPr id="14" name="Google Shape;14;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
        <p:cNvGrpSpPr/>
        <p:nvPr/>
      </p:nvGrpSpPr>
      <p:grpSpPr>
        <a:xfrm>
          <a:off x="0" y="0"/>
          <a:ext cx="0" cy="0"/>
          <a:chOff x="0" y="0"/>
          <a:chExt cx="0" cy="0"/>
        </a:xfrm>
      </p:grpSpPr>
      <p:sp>
        <p:nvSpPr>
          <p:cNvPr id="27" name="Google Shape;27;p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 name="Google Shape;28;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Tiempo sugerido: 1:40</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El problema no es la ausencia total de información. DEIS dispone de bases de urgencias y egresos, y existen fuentes territoriales auxiliares. La dificultad es que están separadas, tienen distintas granularidades y requieren preparación antes de compararse. Esto limita la posibilidad de anticipar demanda, visualizar brechas de acceso y relacionar esos hallazgos con la hospitalización psiquiátrica. Los usuarios potenciales son gestores de red, equipos de planificación, referentes de salud mental y jefaturas de urgencia. El cliente piloto todavía no está confirmado, por lo que en esta fase validaremos un perfil accesible de municipalidad, CESFAM, SAPU, SAR u hospital. El análisis será poblacional y ecológico: no vincularemos personas ni establecimientos entre urgencias y egresos.</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[Sources]</a:t>
            </a:r>
            <a:endParaRPr/>
          </a:p>
          <a:p>
            <a:pPr marL="0" lvl="0" indent="0" algn="l" rtl="0">
              <a:spcBef>
                <a:spcPts val="0"/>
              </a:spcBef>
              <a:spcAft>
                <a:spcPts val="0"/>
              </a:spcAft>
              <a:buNone/>
            </a:pPr>
            <a:r>
              <a:rPr lang="en-US" sz="1200"/>
              <a:t>- DEIS/MINSAL, Preguntas frecuentes — secciones Atenciones de urgencia y Egresos hospitalarios: https://deis.minsal.cl/faqs/</a:t>
            </a:r>
            <a:endParaRPr/>
          </a:p>
          <a:p>
            <a:pPr marL="0" lvl="0" indent="0" algn="l" rtl="0">
              <a:spcBef>
                <a:spcPts val="0"/>
              </a:spcBef>
              <a:spcAft>
                <a:spcPts val="0"/>
              </a:spcAft>
              <a:buNone/>
            </a:pPr>
            <a:r>
              <a:rPr lang="en-US" sz="1200"/>
              <a:t>- Definición de alcance validada por el equipo, 23 de agosto de 2026.</a:t>
            </a:r>
            <a:endParaRPr/>
          </a:p>
        </p:txBody>
      </p:sp>
      <p:sp>
        <p:nvSpPr>
          <p:cNvPr id="29" name="Google Shape;29;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3" name="Google Shape;63;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Tiempo sugerido: 1:20</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La solución objetivo se organiza en tres módulos. El primero estimará demanda a cuatro u ocho semanas y comparará su desempeño con un baseline. El segundo incorporará accesibilidad territorial, primero con un MVP de cobertura y luego con OSM o GTFS si la factibilidad lo permite. El tercero caracterizará egresos F00–F99 y duración de estadía. Los resultados se integrarán en una plataforma web. El MVP no gestionará cupos en tiempo real, porque no contamos con acceso ni coordinación institucional para mantener ese dato. También aclaramos que estos módulos todavía no están terminados: la auditoría demuestra avances en datos, no una plataforma ya implementada.</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[Sources]</a:t>
            </a:r>
            <a:endParaRPr/>
          </a:p>
          <a:p>
            <a:pPr marL="0" lvl="0" indent="0" algn="l" rtl="0">
              <a:spcBef>
                <a:spcPts val="0"/>
              </a:spcBef>
              <a:spcAft>
                <a:spcPts val="0"/>
              </a:spcAft>
              <a:buNone/>
            </a:pPr>
            <a:r>
              <a:rPr lang="en-US" sz="1200"/>
              <a:t>- Definición de alcance validada por el equipo, 23 de agosto de 2026.</a:t>
            </a:r>
            <a:endParaRPr/>
          </a:p>
          <a:p>
            <a:pPr marL="0" lvl="0" indent="0" algn="l" rtl="0">
              <a:spcBef>
                <a:spcPts val="0"/>
              </a:spcBef>
              <a:spcAft>
                <a:spcPts val="0"/>
              </a:spcAft>
              <a:buNone/>
            </a:pPr>
            <a:r>
              <a:rPr lang="en-US" sz="1200"/>
              <a:t>- OpenStreetMap Wiki, Routing: https://wiki.openstreetmap.org/wiki/Routing</a:t>
            </a:r>
            <a:endParaRPr/>
          </a:p>
          <a:p>
            <a:pPr marL="0" lvl="0" indent="0" algn="l" rtl="0">
              <a:spcBef>
                <a:spcPts val="0"/>
              </a:spcBef>
              <a:spcAft>
                <a:spcPts val="0"/>
              </a:spcAft>
              <a:buNone/>
            </a:pPr>
            <a:r>
              <a:rPr lang="en-US" sz="1200"/>
              <a:t>- GTFS Schedule Reference: https://gtfs.org/documentation/schedule/reference/</a:t>
            </a:r>
            <a:endParaRPr/>
          </a:p>
        </p:txBody>
      </p:sp>
      <p:sp>
        <p:nvSpPr>
          <p:cNvPr id="64" name="Google Shape;64;p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3" name="Google Shape;93;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Tiempo sugerido: 1:00</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El objetivo general combina construcción y validación. Los objetivos específicos siguen una secuencia verificable: primero validar usuario y criterios de éxito; luego integrar y documentar las fuentes; después construir y evaluar los tres componentes analíticos; y finalmente integrar los resultados en una aplicación web, probarla y validarla. Esta redacción refleja el estado real: el pipeline es un avance, pero la meta académica sigue siendo entregar una solución informática demostrable.</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[Sources]</a:t>
            </a:r>
            <a:endParaRPr/>
          </a:p>
          <a:p>
            <a:pPr marL="0" lvl="0" indent="0" algn="l" rtl="0">
              <a:spcBef>
                <a:spcPts val="0"/>
              </a:spcBef>
              <a:spcAft>
                <a:spcPts val="0"/>
              </a:spcAft>
              <a:buNone/>
            </a:pPr>
            <a:r>
              <a:rPr lang="en-US" sz="1200"/>
              <a:t>- Guía Estudiante Fase 1 — Definición Proyecto APT (archivo proporcionado por la usuaria).</a:t>
            </a:r>
            <a:endParaRPr/>
          </a:p>
        </p:txBody>
      </p:sp>
      <p:sp>
        <p:nvSpPr>
          <p:cNvPr id="94" name="Google Shape;94;p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4" name="Google Shape;124;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Tiempo sugerido: 1:00</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La auditoría muestra un avance importante, pero concentrado en la capa de datos. Ya existen módulos de descarga y limpieza, normalización de urgencias y egresos, EDA, un orquestador y archivos de prueba. Sin embargo, la ejecución completa no quedó verificada porque los datos canónicos no están versionados y pytest no estaba disponible en el entorno auditado. Tampoco existen todavía el modelo predictivo, OSM o GTFS, la API, el frontend, la base espacial ni el despliegue. Por eso distinguimos herramientas actuales de tecnologías previstas y priorizamos estabilizar datos y pruebas antes de construir la web.</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[Sources]</a:t>
            </a:r>
            <a:endParaRPr/>
          </a:p>
          <a:p>
            <a:pPr marL="0" lvl="0" indent="0" algn="l" rtl="0">
              <a:spcBef>
                <a:spcPts val="0"/>
              </a:spcBef>
              <a:spcAft>
                <a:spcPts val="0"/>
              </a:spcAft>
              <a:buNone/>
            </a:pPr>
            <a:r>
              <a:rPr lang="en-US" sz="1200"/>
              <a:t>- PROJECT_STATUS_AUDIT_2026-08-31.md — auditoría integral del repositorio.</a:t>
            </a:r>
            <a:endParaRPr/>
          </a:p>
          <a:p>
            <a:pPr marL="0" lvl="0" indent="0" algn="l" rtl="0">
              <a:spcBef>
                <a:spcPts val="0"/>
              </a:spcBef>
              <a:spcAft>
                <a:spcPts val="0"/>
              </a:spcAft>
              <a:buNone/>
            </a:pPr>
            <a:r>
              <a:rPr lang="en-US" sz="1200"/>
              <a:t>- README.md, PROJECT_CONTEXT.md, PIPELINE.md y árbol de código revisados en la auditoría.</a:t>
            </a:r>
            <a:endParaRPr/>
          </a:p>
        </p:txBody>
      </p:sp>
      <p:sp>
        <p:nvSpPr>
          <p:cNvPr id="125" name="Google Shape;125;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f9f27743ce_5_6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3f9f27743ce_5_63:notes"/>
          <p:cNvSpPr txBox="1">
            <a:spLocks noGrp="1"/>
          </p:cNvSpPr>
          <p:nvPr>
            <p:ph type="body" idx="1"/>
          </p:nvPr>
        </p:nvSpPr>
        <p:spPr>
          <a:xfrm>
            <a:off x="0" y="0"/>
            <a:ext cx="3000000" cy="3000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9" name="Google Shape;179;g3f9f27743ce_5_63:notes"/>
          <p:cNvSpPr txBox="1">
            <a:spLocks noGrp="1"/>
          </p:cNvSpPr>
          <p:nvPr>
            <p:ph type="sldNum" idx="12"/>
          </p:nvPr>
        </p:nvSpPr>
        <p:spPr>
          <a:xfrm>
            <a:off x="0" y="0"/>
            <a:ext cx="3000000" cy="3000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rgbClr val="000000"/>
              </a:buClr>
              <a:buFont typeface="Arial"/>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5" name="Google Shape;185;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Tiempo sugerido: 0:45</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Usaremos dos niveles metodológicos. Kanban gestionará el backlog, las prioridades, los responsables y la evidencia individual. En cada componente aplicaremos un ciclo inspirado en CRISP-DM: comprender, preparar, modelar, evaluar y entregar. La auditoría refuerza este orden, porque no conviene desarrollar la interfaz antes de tener datos y outputs analíticos estables. Cada incremento deberá cerrar con criterio de aceptación, revisión y evidencia en GitHub.</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[Sources]</a:t>
            </a:r>
            <a:endParaRPr/>
          </a:p>
          <a:p>
            <a:pPr marL="0" lvl="0" indent="0" algn="l" rtl="0">
              <a:spcBef>
                <a:spcPts val="0"/>
              </a:spcBef>
              <a:spcAft>
                <a:spcPts val="0"/>
              </a:spcAft>
              <a:buNone/>
            </a:pPr>
            <a:r>
              <a:rPr lang="en-US" sz="1200"/>
              <a:t>- Guía Estudiante Fase 1 — Definición Proyecto APT (archivo proporcionado por la usuaria).</a:t>
            </a:r>
            <a:endParaRPr/>
          </a:p>
          <a:p>
            <a:pPr marL="0" lvl="0" indent="0" algn="l" rtl="0">
              <a:spcBef>
                <a:spcPts val="0"/>
              </a:spcBef>
              <a:spcAft>
                <a:spcPts val="0"/>
              </a:spcAft>
              <a:buNone/>
            </a:pPr>
            <a:r>
              <a:rPr lang="en-US" sz="1200"/>
              <a:t>- Propuesta Proyectos Escuela 1, 2 y 3 — referencia de metodología y evidencias (archivo proporcionado por la usuaria).</a:t>
            </a:r>
            <a:endParaRPr/>
          </a:p>
        </p:txBody>
      </p:sp>
      <p:sp>
        <p:nvSpPr>
          <p:cNvPr id="186" name="Google Shape;186;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f9f27743ce_5_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3f9f27743ce_5_0:notes"/>
          <p:cNvSpPr txBox="1">
            <a:spLocks noGrp="1"/>
          </p:cNvSpPr>
          <p:nvPr>
            <p:ph type="body" idx="1"/>
          </p:nvPr>
        </p:nvSpPr>
        <p:spPr>
          <a:xfrm>
            <a:off x="0" y="0"/>
            <a:ext cx="3000000" cy="3000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8" name="Google Shape;228;g3f9f27743ce_5_0:notes"/>
          <p:cNvSpPr txBox="1">
            <a:spLocks noGrp="1"/>
          </p:cNvSpPr>
          <p:nvPr>
            <p:ph type="sldNum" idx="12"/>
          </p:nvPr>
        </p:nvSpPr>
        <p:spPr>
          <a:xfrm>
            <a:off x="0" y="0"/>
            <a:ext cx="3000000" cy="3000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rgbClr val="000000"/>
              </a:buClr>
              <a:buFont typeface="Arial"/>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f9f27743ce_5_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5" name="Google Shape;235;g3f9f27743ce_5_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Tiempo sugerido: 0:40</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La planificación respeta los hitos oficiales y las dependencias técnicas. Antes del 3 de septiembre cerraremos alcance, usuario y backlog. Para el avance del 15 de octubre priorizaremos reproducibilidad, dataset semanal, baseline, egresos y un MVP territorial. Luego construiremos modelo, API e interfaz sobre outputs ya evaluados. Noviembre queda para integración, pruebas y validación, y la primera semana de diciembre para el cierre ante comisión. Los nombres entre corchetes deben reemplazarse por responsables definitivos.</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[Sources]</a:t>
            </a:r>
            <a:endParaRPr/>
          </a:p>
          <a:p>
            <a:pPr marL="0" lvl="0" indent="0" algn="l" rtl="0">
              <a:spcBef>
                <a:spcPts val="0"/>
              </a:spcBef>
              <a:spcAft>
                <a:spcPts val="0"/>
              </a:spcAft>
              <a:buNone/>
            </a:pPr>
            <a:r>
              <a:rPr lang="en-US" sz="1200"/>
              <a:t>- Fechas oficiales informadas en el aula virtual y en la guía de la asignatura.</a:t>
            </a:r>
            <a:endParaRPr/>
          </a:p>
          <a:p>
            <a:pPr marL="0" lvl="0" indent="0" algn="l" rtl="0">
              <a:spcBef>
                <a:spcPts val="0"/>
              </a:spcBef>
              <a:spcAft>
                <a:spcPts val="0"/>
              </a:spcAft>
              <a:buNone/>
            </a:pPr>
            <a:r>
              <a:rPr lang="en-US" sz="1200"/>
              <a:t>- PROJECT_STATUS_AUDIT_2026-08-31.md — dependencias y próximos pasos recomendados.</a:t>
            </a:r>
            <a:endParaRPr/>
          </a:p>
        </p:txBody>
      </p:sp>
      <p:sp>
        <p:nvSpPr>
          <p:cNvPr id="236" name="Google Shape;236;g3f9f27743ce_5_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3f9f27743ce_5_7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6" name="Google Shape;246;g3f9f27743ce_5_7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Tiempo sugerido: 0:40</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La planificación respeta los hitos oficiales y las dependencias técnicas. Antes del 3 de septiembre cerraremos alcance, usuario y backlog. Para el avance del 15 de octubre priorizaremos reproducibilidad, dataset semanal, baseline, egresos y un MVP territorial. Luego construiremos modelo, API e interfaz sobre outputs ya evaluados. Noviembre queda para integración, pruebas y validación, y la primera semana de diciembre para el cierre ante comisión. Los nombres entre corchetes deben reemplazarse por responsables definitivos.</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[Sources]</a:t>
            </a:r>
            <a:endParaRPr/>
          </a:p>
          <a:p>
            <a:pPr marL="0" lvl="0" indent="0" algn="l" rtl="0">
              <a:spcBef>
                <a:spcPts val="0"/>
              </a:spcBef>
              <a:spcAft>
                <a:spcPts val="0"/>
              </a:spcAft>
              <a:buNone/>
            </a:pPr>
            <a:r>
              <a:rPr lang="en-US" sz="1200"/>
              <a:t>- Fechas oficiales informadas en el aula virtual y en la guía de la asignatura.</a:t>
            </a:r>
            <a:endParaRPr/>
          </a:p>
          <a:p>
            <a:pPr marL="0" lvl="0" indent="0" algn="l" rtl="0">
              <a:spcBef>
                <a:spcPts val="0"/>
              </a:spcBef>
              <a:spcAft>
                <a:spcPts val="0"/>
              </a:spcAft>
              <a:buNone/>
            </a:pPr>
            <a:r>
              <a:rPr lang="en-US" sz="1200"/>
              <a:t>- PROJECT_STATUS_AUDIT_2026-08-31.md — dependencias y próximos pasos recomendados.</a:t>
            </a:r>
            <a:endParaRPr/>
          </a:p>
        </p:txBody>
      </p:sp>
      <p:sp>
        <p:nvSpPr>
          <p:cNvPr id="247" name="Google Shape;247;g3f9f27743ce_5_7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7" name="Google Shape;257;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Tiempo sugerido: 1:00</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Este prototipo es conceptual: muestra navegación y jerarquía de información, no una aplicación ya implementada ni resultados reales. La vista Resumen reunirá mapa, proyección e indicadores. Luego el usuario podrá profundizar en demanda, accesibilidad y hospitalización, y revisar fuentes, calidad y limitaciones. Diseñar este flujo ahora permite validarlo con el usuario piloto antes de invertir tiempo en API y frontend. Los indicadores quedan vacíos hasta que el pipeline, el baseline y los análisis produzcan outputs estables.</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[Sources]</a:t>
            </a:r>
            <a:endParaRPr/>
          </a:p>
          <a:p>
            <a:pPr marL="0" lvl="0" indent="0" algn="l" rtl="0">
              <a:spcBef>
                <a:spcPts val="0"/>
              </a:spcBef>
              <a:spcAft>
                <a:spcPts val="0"/>
              </a:spcAft>
              <a:buNone/>
            </a:pPr>
            <a:r>
              <a:rPr lang="en-US" sz="1200"/>
              <a:t>- Wireframe original elaborado para esta presentación; todos los datos y trazos son ilustrativos.</a:t>
            </a:r>
            <a:endParaRPr/>
          </a:p>
        </p:txBody>
      </p:sp>
      <p:sp>
        <p:nvSpPr>
          <p:cNvPr id="258" name="Google Shape;258;p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3" name="Google Shape;273;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Tiempo sugerido: 0:45</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La auditoría también nos permite ordenar la evidencia. Ya contamos con definición, bitácoras, módulos de datos, normalizaciones, EDA y pruebas escritas. La ejecución completa, los modelos, el componente geoespacial y la web siguen pendientes. Cada integrante dejará trazabilidad mediante tareas asignadas, commits, revisiones, documentos y pruebas. Así demostramos colaboración y competencias técnicas sin confundir código existente con resultados todavía no validados.</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[Sources]</a:t>
            </a:r>
            <a:endParaRPr/>
          </a:p>
          <a:p>
            <a:pPr marL="0" lvl="0" indent="0" algn="l" rtl="0">
              <a:spcBef>
                <a:spcPts val="0"/>
              </a:spcBef>
              <a:spcAft>
                <a:spcPts val="0"/>
              </a:spcAft>
              <a:buNone/>
            </a:pPr>
            <a:r>
              <a:rPr lang="en-US" sz="1200"/>
              <a:t>- Guía Estudiante Fase 1 — Definición Proyecto APT (archivo proporcionado por la usuaria).</a:t>
            </a:r>
            <a:endParaRPr/>
          </a:p>
          <a:p>
            <a:pPr marL="0" lvl="0" indent="0" algn="l" rtl="0">
              <a:spcBef>
                <a:spcPts val="0"/>
              </a:spcBef>
              <a:spcAft>
                <a:spcPts val="0"/>
              </a:spcAft>
              <a:buNone/>
            </a:pPr>
            <a:r>
              <a:rPr lang="en-US" sz="1200"/>
              <a:t>- Propuesta Proyectos Escuela 1, 2 y 3 — referencia de estructura de evidencias (archivo proporcionado por la usuaria).</a:t>
            </a:r>
            <a:endParaRPr/>
          </a:p>
        </p:txBody>
      </p:sp>
      <p:sp>
        <p:nvSpPr>
          <p:cNvPr id="274" name="Google Shape;274;p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1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4" name="Google Shape;314;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Tiempo sugerido: 0:35</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En síntesis, el problema es real y la factibilidad ya tiene una base técnica, pero todavía no tenemos un producto terminado. Nuestro compromiso es avanzar de forma verificable: validar alcance y usuario, estabilizar el pipeline, construir y evaluar los análisis, y recién entonces integrarlos en una plataforma. El impacto esperado es apoyar la planificación sin reemplazar decisiones clínicas ni gestionar pacientes. Muchas gracias.</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[Sources]</a:t>
            </a:r>
            <a:endParaRPr/>
          </a:p>
          <a:p>
            <a:pPr marL="0" lvl="0" indent="0" algn="l" rtl="0">
              <a:spcBef>
                <a:spcPts val="0"/>
              </a:spcBef>
              <a:spcAft>
                <a:spcPts val="0"/>
              </a:spcAft>
              <a:buNone/>
            </a:pPr>
            <a:r>
              <a:rPr lang="en-US" sz="1200"/>
              <a:t>- Definición de alcance del equipo, 23 de agosto de 2026.</a:t>
            </a:r>
            <a:endParaRPr/>
          </a:p>
          <a:p>
            <a:pPr marL="0" lvl="0" indent="0" algn="l" rtl="0">
              <a:spcBef>
                <a:spcPts val="0"/>
              </a:spcBef>
              <a:spcAft>
                <a:spcPts val="0"/>
              </a:spcAft>
              <a:buNone/>
            </a:pPr>
            <a:r>
              <a:rPr lang="en-US" sz="1200"/>
              <a:t>- PROJECT_STATUS_AUDIT_2026-08-31.md.</a:t>
            </a:r>
            <a:endParaRPr/>
          </a:p>
        </p:txBody>
      </p:sp>
      <p:sp>
        <p:nvSpPr>
          <p:cNvPr id="315" name="Google Shape;315;p1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
        <p:cNvGrpSpPr/>
        <p:nvPr/>
      </p:nvGrpSpPr>
      <p:grpSpPr>
        <a:xfrm>
          <a:off x="0" y="0"/>
          <a:ext cx="0" cy="0"/>
          <a:chOff x="0" y="0"/>
          <a:chExt cx="0" cy="0"/>
        </a:xfrm>
      </p:grpSpPr>
      <p:pic>
        <p:nvPicPr>
          <p:cNvPr id="16" name="Google Shape;16;p1"/>
          <p:cNvPicPr preferRelativeResize="0"/>
          <p:nvPr/>
        </p:nvPicPr>
        <p:blipFill rotWithShape="1">
          <a:blip r:embed="rId3">
            <a:alphaModFix/>
          </a:blip>
          <a:srcRect t="27" b="27"/>
          <a:stretch/>
        </p:blipFill>
        <p:spPr>
          <a:xfrm>
            <a:off x="0" y="0"/>
            <a:ext cx="12192000" cy="6858000"/>
          </a:xfrm>
          <a:prstGeom prst="rect">
            <a:avLst/>
          </a:prstGeom>
          <a:noFill/>
          <a:ln>
            <a:noFill/>
          </a:ln>
        </p:spPr>
      </p:pic>
      <p:sp>
        <p:nvSpPr>
          <p:cNvPr id="17" name="Google Shape;17;p1"/>
          <p:cNvSpPr/>
          <p:nvPr/>
        </p:nvSpPr>
        <p:spPr>
          <a:xfrm>
            <a:off x="0" y="0"/>
            <a:ext cx="6191250" cy="68580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1"/>
          <p:cNvSpPr/>
          <p:nvPr/>
        </p:nvSpPr>
        <p:spPr>
          <a:xfrm>
            <a:off x="514350" y="514350"/>
            <a:ext cx="800100" cy="76200"/>
          </a:xfrm>
          <a:prstGeom prst="rect">
            <a:avLst/>
          </a:prstGeom>
          <a:solidFill>
            <a:srgbClr val="2F6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1"/>
          <p:cNvSpPr/>
          <p:nvPr/>
        </p:nvSpPr>
        <p:spPr>
          <a:xfrm>
            <a:off x="514350" y="1065097"/>
            <a:ext cx="5334000" cy="2381400"/>
          </a:xfrm>
          <a:prstGeom prst="rect">
            <a:avLst/>
          </a:prstGeom>
          <a:noFill/>
          <a:ln>
            <a:noFill/>
          </a:ln>
        </p:spPr>
        <p:txBody>
          <a:bodyPr spcFirstLastPara="1" wrap="square" lIns="0" tIns="0" rIns="0" bIns="0" anchor="t" anchorCtr="0">
            <a:noAutofit/>
          </a:bodyPr>
          <a:lstStyle/>
          <a:p>
            <a:pPr marL="0" marR="0" lvl="0" indent="0" algn="l" rtl="0">
              <a:lnSpc>
                <a:spcPct val="94000"/>
              </a:lnSpc>
              <a:spcBef>
                <a:spcPts val="0"/>
              </a:spcBef>
              <a:spcAft>
                <a:spcPts val="0"/>
              </a:spcAft>
              <a:buClr>
                <a:srgbClr val="0B1F33"/>
              </a:buClr>
              <a:buSzPts val="3600"/>
              <a:buFont typeface="Arial"/>
              <a:buNone/>
            </a:pPr>
            <a:r>
              <a:rPr lang="en-US" sz="3600" b="1" i="0">
                <a:solidFill>
                  <a:srgbClr val="0B1F33"/>
                </a:solidFill>
                <a:latin typeface="Arial"/>
                <a:ea typeface="Arial"/>
                <a:cs typeface="Arial"/>
                <a:sym typeface="Arial"/>
              </a:rPr>
              <a:t>Sistema de Análisis y</a:t>
            </a:r>
            <a:endParaRPr/>
          </a:p>
          <a:p>
            <a:pPr marL="0" marR="0" lvl="0" indent="0" algn="l" rtl="0">
              <a:lnSpc>
                <a:spcPct val="94000"/>
              </a:lnSpc>
              <a:spcBef>
                <a:spcPts val="0"/>
              </a:spcBef>
              <a:spcAft>
                <a:spcPts val="0"/>
              </a:spcAft>
              <a:buClr>
                <a:srgbClr val="0B1F33"/>
              </a:buClr>
              <a:buSzPts val="3600"/>
              <a:buFont typeface="Arial"/>
              <a:buNone/>
            </a:pPr>
            <a:r>
              <a:rPr lang="en-US" sz="3600" b="1" i="0">
                <a:solidFill>
                  <a:srgbClr val="0B1F33"/>
                </a:solidFill>
                <a:latin typeface="Arial"/>
                <a:ea typeface="Arial"/>
                <a:cs typeface="Arial"/>
                <a:sym typeface="Arial"/>
              </a:rPr>
              <a:t>Anticipación de Demanda</a:t>
            </a:r>
            <a:endParaRPr/>
          </a:p>
          <a:p>
            <a:pPr marL="0" marR="0" lvl="0" indent="0" algn="l" rtl="0">
              <a:lnSpc>
                <a:spcPct val="94000"/>
              </a:lnSpc>
              <a:spcBef>
                <a:spcPts val="0"/>
              </a:spcBef>
              <a:spcAft>
                <a:spcPts val="0"/>
              </a:spcAft>
              <a:buClr>
                <a:srgbClr val="0B1F33"/>
              </a:buClr>
              <a:buSzPts val="3600"/>
              <a:buFont typeface="Arial"/>
              <a:buNone/>
            </a:pPr>
            <a:r>
              <a:rPr lang="en-US" sz="3600" b="1" i="0">
                <a:solidFill>
                  <a:srgbClr val="0B1F33"/>
                </a:solidFill>
                <a:latin typeface="Arial"/>
                <a:ea typeface="Arial"/>
                <a:cs typeface="Arial"/>
                <a:sym typeface="Arial"/>
              </a:rPr>
              <a:t>de Urgencia en</a:t>
            </a:r>
            <a:endParaRPr/>
          </a:p>
          <a:p>
            <a:pPr marL="0" marR="0" lvl="0" indent="0" algn="l" rtl="0">
              <a:lnSpc>
                <a:spcPct val="94000"/>
              </a:lnSpc>
              <a:spcBef>
                <a:spcPts val="0"/>
              </a:spcBef>
              <a:spcAft>
                <a:spcPts val="0"/>
              </a:spcAft>
              <a:buClr>
                <a:srgbClr val="0B1F33"/>
              </a:buClr>
              <a:buSzPts val="3600"/>
              <a:buFont typeface="Arial"/>
              <a:buNone/>
            </a:pPr>
            <a:r>
              <a:rPr lang="en-US" sz="3600" b="1" i="0">
                <a:solidFill>
                  <a:srgbClr val="0B1F33"/>
                </a:solidFill>
                <a:latin typeface="Arial"/>
                <a:ea typeface="Arial"/>
                <a:cs typeface="Arial"/>
                <a:sym typeface="Arial"/>
              </a:rPr>
              <a:t>Salud Mental</a:t>
            </a:r>
            <a:endParaRPr/>
          </a:p>
        </p:txBody>
      </p:sp>
      <p:sp>
        <p:nvSpPr>
          <p:cNvPr id="20" name="Google Shape;20;p1"/>
          <p:cNvSpPr/>
          <p:nvPr/>
        </p:nvSpPr>
        <p:spPr>
          <a:xfrm>
            <a:off x="533400" y="4000500"/>
            <a:ext cx="5143500" cy="32385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5F6B7A"/>
              </a:buClr>
              <a:buSzPts val="1725"/>
              <a:buFont typeface="Arial"/>
              <a:buNone/>
            </a:pPr>
            <a:r>
              <a:rPr lang="en-US" sz="1725" b="0" i="0">
                <a:solidFill>
                  <a:srgbClr val="5F6B7A"/>
                </a:solidFill>
                <a:latin typeface="Arial"/>
                <a:ea typeface="Arial"/>
                <a:cs typeface="Arial"/>
                <a:sym typeface="Arial"/>
              </a:rPr>
              <a:t>Región Metropolitana · Plataforma analítica web</a:t>
            </a:r>
            <a:endParaRPr/>
          </a:p>
        </p:txBody>
      </p:sp>
      <p:cxnSp>
        <p:nvCxnSpPr>
          <p:cNvPr id="21" name="Google Shape;21;p1"/>
          <p:cNvCxnSpPr/>
          <p:nvPr/>
        </p:nvCxnSpPr>
        <p:spPr>
          <a:xfrm>
            <a:off x="514350" y="4552950"/>
            <a:ext cx="4857750" cy="0"/>
          </a:xfrm>
          <a:prstGeom prst="straightConnector1">
            <a:avLst/>
          </a:prstGeom>
          <a:noFill/>
          <a:ln w="9525" cap="flat" cmpd="sng">
            <a:solidFill>
              <a:srgbClr val="B8C2CC"/>
            </a:solidFill>
            <a:prstDash val="solid"/>
            <a:round/>
            <a:headEnd type="none" w="sm" len="sm"/>
            <a:tailEnd type="none" w="sm" len="sm"/>
          </a:ln>
        </p:spPr>
      </p:cxnSp>
      <p:sp>
        <p:nvSpPr>
          <p:cNvPr id="22" name="Google Shape;22;p1"/>
          <p:cNvSpPr/>
          <p:nvPr/>
        </p:nvSpPr>
        <p:spPr>
          <a:xfrm>
            <a:off x="514350" y="4743450"/>
            <a:ext cx="5286375" cy="51435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142033"/>
              </a:buClr>
              <a:buSzPts val="1275"/>
              <a:buFont typeface="Arial"/>
              <a:buNone/>
            </a:pPr>
            <a:r>
              <a:rPr lang="en-US" sz="1275" b="1" i="0">
                <a:solidFill>
                  <a:srgbClr val="142033"/>
                </a:solidFill>
                <a:latin typeface="Arial"/>
                <a:ea typeface="Arial"/>
                <a:cs typeface="Arial"/>
                <a:sym typeface="Arial"/>
              </a:rPr>
              <a:t>Camila Aroca Muñoz · </a:t>
            </a:r>
            <a:r>
              <a:rPr lang="en-US" sz="1275" b="1">
                <a:solidFill>
                  <a:srgbClr val="142033"/>
                </a:solidFill>
              </a:rPr>
              <a:t>Catalina Rodríguez</a:t>
            </a:r>
            <a:r>
              <a:rPr lang="en-US" sz="1275" b="1" i="0">
                <a:solidFill>
                  <a:srgbClr val="142033"/>
                </a:solidFill>
                <a:latin typeface="Arial"/>
                <a:ea typeface="Arial"/>
                <a:cs typeface="Arial"/>
                <a:sym typeface="Arial"/>
              </a:rPr>
              <a:t> · </a:t>
            </a:r>
            <a:r>
              <a:rPr lang="en-US" sz="1275" b="1">
                <a:solidFill>
                  <a:srgbClr val="142033"/>
                </a:solidFill>
              </a:rPr>
              <a:t>Felipe Rivera</a:t>
            </a:r>
            <a:r>
              <a:rPr lang="en-US" sz="1275" b="1" i="0">
                <a:solidFill>
                  <a:srgbClr val="142033"/>
                </a:solidFill>
                <a:latin typeface="Arial"/>
                <a:ea typeface="Arial"/>
                <a:cs typeface="Arial"/>
                <a:sym typeface="Arial"/>
              </a:rPr>
              <a:t> · </a:t>
            </a:r>
            <a:r>
              <a:rPr lang="en-US" sz="1275" b="1">
                <a:solidFill>
                  <a:srgbClr val="142033"/>
                </a:solidFill>
              </a:rPr>
              <a:t>Cristopher Rojas</a:t>
            </a:r>
            <a:endParaRPr/>
          </a:p>
        </p:txBody>
      </p:sp>
      <p:sp>
        <p:nvSpPr>
          <p:cNvPr id="23" name="Google Shape;23;p1"/>
          <p:cNvSpPr/>
          <p:nvPr/>
        </p:nvSpPr>
        <p:spPr>
          <a:xfrm>
            <a:off x="514350" y="5238750"/>
            <a:ext cx="5334000" cy="2667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5F6B7A"/>
              </a:buClr>
              <a:buSzPts val="1275"/>
              <a:buFont typeface="Arial"/>
              <a:buNone/>
            </a:pPr>
            <a:r>
              <a:rPr lang="en-US" sz="1275" b="0" i="0">
                <a:solidFill>
                  <a:srgbClr val="5F6B7A"/>
                </a:solidFill>
                <a:latin typeface="Arial"/>
                <a:ea typeface="Arial"/>
                <a:cs typeface="Arial"/>
                <a:sym typeface="Arial"/>
              </a:rPr>
              <a:t>Asignatura: </a:t>
            </a:r>
            <a:r>
              <a:rPr lang="en-US" sz="1275">
                <a:solidFill>
                  <a:srgbClr val="5F6B7A"/>
                </a:solidFill>
              </a:rPr>
              <a:t>Capstone</a:t>
            </a:r>
            <a:r>
              <a:rPr lang="en-US" sz="1275" b="0" i="0">
                <a:solidFill>
                  <a:srgbClr val="5F6B7A"/>
                </a:solidFill>
                <a:latin typeface="Arial"/>
                <a:ea typeface="Arial"/>
                <a:cs typeface="Arial"/>
                <a:sym typeface="Arial"/>
              </a:rPr>
              <a:t> 005</a:t>
            </a:r>
            <a:r>
              <a:rPr lang="en-US" sz="1275">
                <a:solidFill>
                  <a:srgbClr val="5F6B7A"/>
                </a:solidFill>
              </a:rPr>
              <a:t>D </a:t>
            </a:r>
            <a:r>
              <a:rPr lang="en-US" sz="1275" b="0" i="0">
                <a:solidFill>
                  <a:srgbClr val="5F6B7A"/>
                </a:solidFill>
                <a:latin typeface="Arial"/>
                <a:ea typeface="Arial"/>
                <a:cs typeface="Arial"/>
                <a:sym typeface="Arial"/>
              </a:rPr>
              <a:t> ·  Docente: </a:t>
            </a:r>
            <a:r>
              <a:rPr lang="en-US" sz="1275">
                <a:solidFill>
                  <a:srgbClr val="5F6B7A"/>
                </a:solidFill>
              </a:rPr>
              <a:t>Cindy Contador</a:t>
            </a:r>
            <a:endParaRPr/>
          </a:p>
        </p:txBody>
      </p:sp>
      <p:sp>
        <p:nvSpPr>
          <p:cNvPr id="24" name="Google Shape;24;p1"/>
          <p:cNvSpPr/>
          <p:nvPr/>
        </p:nvSpPr>
        <p:spPr>
          <a:xfrm>
            <a:off x="514350" y="6038850"/>
            <a:ext cx="1905000" cy="2286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0B1F33"/>
              </a:buClr>
              <a:buSzPts val="1275"/>
              <a:buFont typeface="Arial"/>
              <a:buNone/>
            </a:pPr>
            <a:r>
              <a:rPr lang="en-US" sz="1275" b="1" i="0">
                <a:solidFill>
                  <a:srgbClr val="0B1F33"/>
                </a:solidFill>
                <a:latin typeface="Arial"/>
                <a:ea typeface="Arial"/>
                <a:cs typeface="Arial"/>
                <a:sym typeface="Arial"/>
              </a:rPr>
              <a:t>03 · 09 · 2026</a:t>
            </a:r>
            <a:endParaRPr/>
          </a:p>
        </p:txBody>
      </p:sp>
      <p:pic>
        <p:nvPicPr>
          <p:cNvPr id="25" name="Google Shape;25;p1"/>
          <p:cNvPicPr preferRelativeResize="0"/>
          <p:nvPr/>
        </p:nvPicPr>
        <p:blipFill>
          <a:blip r:embed="rId4">
            <a:alphaModFix amt="30000"/>
          </a:blip>
          <a:stretch>
            <a:fillRect/>
          </a:stretch>
        </p:blipFill>
        <p:spPr>
          <a:xfrm>
            <a:off x="69875" y="50250"/>
            <a:ext cx="1317358" cy="3238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0"/>
        <p:cNvGrpSpPr/>
        <p:nvPr/>
      </p:nvGrpSpPr>
      <p:grpSpPr>
        <a:xfrm>
          <a:off x="0" y="0"/>
          <a:ext cx="0" cy="0"/>
          <a:chOff x="0" y="0"/>
          <a:chExt cx="0" cy="0"/>
        </a:xfrm>
      </p:grpSpPr>
      <p:sp>
        <p:nvSpPr>
          <p:cNvPr id="31" name="Google Shape;31;p2"/>
          <p:cNvSpPr/>
          <p:nvPr/>
        </p:nvSpPr>
        <p:spPr>
          <a:xfrm>
            <a:off x="514350" y="638175"/>
            <a:ext cx="10668000" cy="6477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0B1F33"/>
              </a:buClr>
              <a:buSzPts val="3600"/>
              <a:buFont typeface="Arial"/>
              <a:buNone/>
            </a:pPr>
            <a:r>
              <a:rPr lang="en-US" sz="3600" b="1">
                <a:solidFill>
                  <a:srgbClr val="0B1F33"/>
                </a:solidFill>
              </a:rPr>
              <a:t>Problema: existen datos, pero desorganizados</a:t>
            </a:r>
            <a:endParaRPr/>
          </a:p>
        </p:txBody>
      </p:sp>
      <p:cxnSp>
        <p:nvCxnSpPr>
          <p:cNvPr id="32" name="Google Shape;32;p2"/>
          <p:cNvCxnSpPr/>
          <p:nvPr/>
        </p:nvCxnSpPr>
        <p:spPr>
          <a:xfrm>
            <a:off x="514350" y="1323975"/>
            <a:ext cx="11163300" cy="0"/>
          </a:xfrm>
          <a:prstGeom prst="straightConnector1">
            <a:avLst/>
          </a:prstGeom>
          <a:noFill/>
          <a:ln w="19050" cap="flat" cmpd="sng">
            <a:solidFill>
              <a:srgbClr val="E9EEF3"/>
            </a:solidFill>
            <a:prstDash val="solid"/>
            <a:round/>
            <a:headEnd type="none" w="sm" len="sm"/>
            <a:tailEnd type="none" w="sm" len="sm"/>
          </a:ln>
        </p:spPr>
      </p:cxnSp>
      <p:sp>
        <p:nvSpPr>
          <p:cNvPr id="33" name="Google Shape;33;p2"/>
          <p:cNvSpPr/>
          <p:nvPr/>
        </p:nvSpPr>
        <p:spPr>
          <a:xfrm>
            <a:off x="11334750" y="342900"/>
            <a:ext cx="342900" cy="209550"/>
          </a:xfrm>
          <a:prstGeom prst="rect">
            <a:avLst/>
          </a:prstGeom>
          <a:noFill/>
          <a:ln>
            <a:noFill/>
          </a:ln>
        </p:spPr>
        <p:txBody>
          <a:bodyPr spcFirstLastPara="1" wrap="square" lIns="0" tIns="0" rIns="0" bIns="0" anchor="t" anchorCtr="0">
            <a:noAutofit/>
          </a:bodyPr>
          <a:lstStyle/>
          <a:p>
            <a:pPr marL="0" marR="0" lvl="0" indent="0" algn="r" rtl="0">
              <a:lnSpc>
                <a:spcPct val="105000"/>
              </a:lnSpc>
              <a:spcBef>
                <a:spcPts val="0"/>
              </a:spcBef>
              <a:spcAft>
                <a:spcPts val="0"/>
              </a:spcAft>
              <a:buClr>
                <a:srgbClr val="5F6B7A"/>
              </a:buClr>
              <a:buSzPts val="1125"/>
              <a:buFont typeface="Arial"/>
              <a:buNone/>
            </a:pPr>
            <a:r>
              <a:rPr lang="en-US" sz="1125" b="0" i="0">
                <a:solidFill>
                  <a:srgbClr val="5F6B7A"/>
                </a:solidFill>
                <a:latin typeface="Arial"/>
                <a:ea typeface="Arial"/>
                <a:cs typeface="Arial"/>
                <a:sym typeface="Arial"/>
              </a:rPr>
              <a:t>02</a:t>
            </a:r>
            <a:endParaRPr/>
          </a:p>
        </p:txBody>
      </p:sp>
      <p:sp>
        <p:nvSpPr>
          <p:cNvPr id="34" name="Google Shape;34;p2"/>
          <p:cNvSpPr/>
          <p:nvPr/>
        </p:nvSpPr>
        <p:spPr>
          <a:xfrm>
            <a:off x="552450" y="1657350"/>
            <a:ext cx="1714500" cy="2286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5F6B7A"/>
              </a:buClr>
              <a:buSzPts val="1200"/>
              <a:buFont typeface="Arial"/>
              <a:buNone/>
            </a:pPr>
            <a:r>
              <a:rPr lang="en-US" sz="1200" b="1" i="0">
                <a:solidFill>
                  <a:srgbClr val="5F6B7A"/>
                </a:solidFill>
                <a:latin typeface="Arial"/>
                <a:ea typeface="Arial"/>
                <a:cs typeface="Arial"/>
                <a:sym typeface="Arial"/>
              </a:rPr>
              <a:t>HOY</a:t>
            </a:r>
            <a:endParaRPr/>
          </a:p>
        </p:txBody>
      </p:sp>
      <p:sp>
        <p:nvSpPr>
          <p:cNvPr id="35" name="Google Shape;35;p2"/>
          <p:cNvSpPr/>
          <p:nvPr/>
        </p:nvSpPr>
        <p:spPr>
          <a:xfrm>
            <a:off x="552450" y="2057400"/>
            <a:ext cx="495300" cy="36195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2F6BFF"/>
              </a:buClr>
              <a:buSzPts val="2100"/>
              <a:buFont typeface="Arial"/>
              <a:buNone/>
            </a:pPr>
            <a:r>
              <a:rPr lang="en-US" sz="2100" b="1" i="0">
                <a:solidFill>
                  <a:srgbClr val="2F6BFF"/>
                </a:solidFill>
                <a:latin typeface="Arial"/>
                <a:ea typeface="Arial"/>
                <a:cs typeface="Arial"/>
                <a:sym typeface="Arial"/>
              </a:rPr>
              <a:t>01</a:t>
            </a:r>
            <a:endParaRPr/>
          </a:p>
        </p:txBody>
      </p:sp>
      <p:sp>
        <p:nvSpPr>
          <p:cNvPr id="36" name="Google Shape;36;p2"/>
          <p:cNvSpPr/>
          <p:nvPr/>
        </p:nvSpPr>
        <p:spPr>
          <a:xfrm>
            <a:off x="1200150" y="2057400"/>
            <a:ext cx="2952750" cy="3048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0B1F33"/>
              </a:buClr>
              <a:buSzPts val="1950"/>
              <a:buFont typeface="Arial"/>
              <a:buNone/>
            </a:pPr>
            <a:r>
              <a:rPr lang="en-US" sz="1950" b="1" i="0">
                <a:solidFill>
                  <a:srgbClr val="0B1F33"/>
                </a:solidFill>
                <a:latin typeface="Arial"/>
                <a:ea typeface="Arial"/>
                <a:cs typeface="Arial"/>
                <a:sym typeface="Arial"/>
              </a:rPr>
              <a:t>Atenciones de urgencia</a:t>
            </a:r>
            <a:endParaRPr/>
          </a:p>
        </p:txBody>
      </p:sp>
      <p:sp>
        <p:nvSpPr>
          <p:cNvPr id="37" name="Google Shape;37;p2"/>
          <p:cNvSpPr/>
          <p:nvPr/>
        </p:nvSpPr>
        <p:spPr>
          <a:xfrm>
            <a:off x="1200150" y="2428875"/>
            <a:ext cx="3333750" cy="4191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5F6B7A"/>
              </a:buClr>
              <a:buSzPts val="1350"/>
              <a:buFont typeface="Arial"/>
              <a:buNone/>
            </a:pPr>
            <a:r>
              <a:rPr lang="en-US" sz="1350" b="0" i="0">
                <a:solidFill>
                  <a:srgbClr val="5F6B7A"/>
                </a:solidFill>
                <a:latin typeface="Arial"/>
                <a:ea typeface="Arial"/>
                <a:cs typeface="Arial"/>
                <a:sym typeface="Arial"/>
              </a:rPr>
              <a:t>Series separadas por tiempo y establecimiento</a:t>
            </a:r>
            <a:endParaRPr/>
          </a:p>
        </p:txBody>
      </p:sp>
      <p:cxnSp>
        <p:nvCxnSpPr>
          <p:cNvPr id="38" name="Google Shape;38;p2"/>
          <p:cNvCxnSpPr/>
          <p:nvPr/>
        </p:nvCxnSpPr>
        <p:spPr>
          <a:xfrm>
            <a:off x="552450" y="2933700"/>
            <a:ext cx="4000500" cy="0"/>
          </a:xfrm>
          <a:prstGeom prst="straightConnector1">
            <a:avLst/>
          </a:prstGeom>
          <a:noFill/>
          <a:ln w="9525" cap="flat" cmpd="sng">
            <a:solidFill>
              <a:srgbClr val="E9EEF3"/>
            </a:solidFill>
            <a:prstDash val="solid"/>
            <a:round/>
            <a:headEnd type="none" w="sm" len="sm"/>
            <a:tailEnd type="none" w="sm" len="sm"/>
          </a:ln>
        </p:spPr>
      </p:cxnSp>
      <p:sp>
        <p:nvSpPr>
          <p:cNvPr id="39" name="Google Shape;39;p2"/>
          <p:cNvSpPr/>
          <p:nvPr/>
        </p:nvSpPr>
        <p:spPr>
          <a:xfrm>
            <a:off x="552450" y="3124200"/>
            <a:ext cx="495300" cy="36195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2F6BFF"/>
              </a:buClr>
              <a:buSzPts val="2100"/>
              <a:buFont typeface="Arial"/>
              <a:buNone/>
            </a:pPr>
            <a:r>
              <a:rPr lang="en-US" sz="2100" b="1" i="0">
                <a:solidFill>
                  <a:srgbClr val="2F6BFF"/>
                </a:solidFill>
                <a:latin typeface="Arial"/>
                <a:ea typeface="Arial"/>
                <a:cs typeface="Arial"/>
                <a:sym typeface="Arial"/>
              </a:rPr>
              <a:t>02</a:t>
            </a:r>
            <a:endParaRPr/>
          </a:p>
        </p:txBody>
      </p:sp>
      <p:sp>
        <p:nvSpPr>
          <p:cNvPr id="40" name="Google Shape;40;p2"/>
          <p:cNvSpPr/>
          <p:nvPr/>
        </p:nvSpPr>
        <p:spPr>
          <a:xfrm>
            <a:off x="1200150" y="3124200"/>
            <a:ext cx="2952750" cy="3048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0B1F33"/>
              </a:buClr>
              <a:buSzPts val="1950"/>
              <a:buFont typeface="Arial"/>
              <a:buNone/>
            </a:pPr>
            <a:r>
              <a:rPr lang="en-US" sz="1950" b="1" i="0">
                <a:solidFill>
                  <a:srgbClr val="0B1F33"/>
                </a:solidFill>
                <a:latin typeface="Arial"/>
                <a:ea typeface="Arial"/>
                <a:cs typeface="Arial"/>
                <a:sym typeface="Arial"/>
              </a:rPr>
              <a:t>Egresos hospitalarios</a:t>
            </a:r>
            <a:endParaRPr/>
          </a:p>
        </p:txBody>
      </p:sp>
      <p:sp>
        <p:nvSpPr>
          <p:cNvPr id="41" name="Google Shape;41;p2"/>
          <p:cNvSpPr/>
          <p:nvPr/>
        </p:nvSpPr>
        <p:spPr>
          <a:xfrm>
            <a:off x="1200150" y="3495675"/>
            <a:ext cx="3333750" cy="4191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5F6B7A"/>
              </a:buClr>
              <a:buSzPts val="1350"/>
              <a:buFont typeface="Arial"/>
              <a:buNone/>
            </a:pPr>
            <a:r>
              <a:rPr lang="en-US" sz="1350" b="0" i="0">
                <a:solidFill>
                  <a:srgbClr val="5F6B7A"/>
                </a:solidFill>
                <a:latin typeface="Arial"/>
                <a:ea typeface="Arial"/>
                <a:cs typeface="Arial"/>
                <a:sym typeface="Arial"/>
              </a:rPr>
              <a:t>Diagnósticos codificados y estadías</a:t>
            </a:r>
            <a:endParaRPr/>
          </a:p>
        </p:txBody>
      </p:sp>
      <p:cxnSp>
        <p:nvCxnSpPr>
          <p:cNvPr id="42" name="Google Shape;42;p2"/>
          <p:cNvCxnSpPr/>
          <p:nvPr/>
        </p:nvCxnSpPr>
        <p:spPr>
          <a:xfrm>
            <a:off x="552450" y="4000500"/>
            <a:ext cx="4000500" cy="0"/>
          </a:xfrm>
          <a:prstGeom prst="straightConnector1">
            <a:avLst/>
          </a:prstGeom>
          <a:noFill/>
          <a:ln w="9525" cap="flat" cmpd="sng">
            <a:solidFill>
              <a:srgbClr val="E9EEF3"/>
            </a:solidFill>
            <a:prstDash val="solid"/>
            <a:round/>
            <a:headEnd type="none" w="sm" len="sm"/>
            <a:tailEnd type="none" w="sm" len="sm"/>
          </a:ln>
        </p:spPr>
      </p:cxnSp>
      <p:sp>
        <p:nvSpPr>
          <p:cNvPr id="43" name="Google Shape;43;p2"/>
          <p:cNvSpPr/>
          <p:nvPr/>
        </p:nvSpPr>
        <p:spPr>
          <a:xfrm>
            <a:off x="552450" y="4191000"/>
            <a:ext cx="495300" cy="36195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2F6BFF"/>
              </a:buClr>
              <a:buSzPts val="2100"/>
              <a:buFont typeface="Arial"/>
              <a:buNone/>
            </a:pPr>
            <a:r>
              <a:rPr lang="en-US" sz="2100" b="1" i="0">
                <a:solidFill>
                  <a:srgbClr val="2F6BFF"/>
                </a:solidFill>
                <a:latin typeface="Arial"/>
                <a:ea typeface="Arial"/>
                <a:cs typeface="Arial"/>
                <a:sym typeface="Arial"/>
              </a:rPr>
              <a:t>03</a:t>
            </a:r>
            <a:endParaRPr/>
          </a:p>
        </p:txBody>
      </p:sp>
      <p:sp>
        <p:nvSpPr>
          <p:cNvPr id="44" name="Google Shape;44;p2"/>
          <p:cNvSpPr/>
          <p:nvPr/>
        </p:nvSpPr>
        <p:spPr>
          <a:xfrm>
            <a:off x="1200150" y="4191000"/>
            <a:ext cx="2952750" cy="3048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0B1F33"/>
              </a:buClr>
              <a:buSzPts val="1950"/>
              <a:buFont typeface="Arial"/>
              <a:buNone/>
            </a:pPr>
            <a:r>
              <a:rPr lang="en-US" sz="1950" b="1" i="0">
                <a:solidFill>
                  <a:srgbClr val="0B1F33"/>
                </a:solidFill>
                <a:latin typeface="Arial"/>
                <a:ea typeface="Arial"/>
                <a:cs typeface="Arial"/>
                <a:sym typeface="Arial"/>
              </a:rPr>
              <a:t>Territorio y transporte</a:t>
            </a:r>
            <a:endParaRPr/>
          </a:p>
        </p:txBody>
      </p:sp>
      <p:sp>
        <p:nvSpPr>
          <p:cNvPr id="45" name="Google Shape;45;p2"/>
          <p:cNvSpPr/>
          <p:nvPr/>
        </p:nvSpPr>
        <p:spPr>
          <a:xfrm>
            <a:off x="1200150" y="4562475"/>
            <a:ext cx="3333750" cy="4191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5F6B7A"/>
              </a:buClr>
              <a:buSzPts val="1350"/>
              <a:buFont typeface="Arial"/>
              <a:buNone/>
            </a:pPr>
            <a:r>
              <a:rPr lang="en-US" sz="1350" b="0" i="0">
                <a:solidFill>
                  <a:srgbClr val="5F6B7A"/>
                </a:solidFill>
                <a:latin typeface="Arial"/>
                <a:ea typeface="Arial"/>
                <a:cs typeface="Arial"/>
                <a:sym typeface="Arial"/>
              </a:rPr>
              <a:t>Oferta, población y tiempos de viaje en fuentes distintas</a:t>
            </a:r>
            <a:endParaRPr/>
          </a:p>
        </p:txBody>
      </p:sp>
      <p:cxnSp>
        <p:nvCxnSpPr>
          <p:cNvPr id="46" name="Google Shape;46;p2"/>
          <p:cNvCxnSpPr/>
          <p:nvPr/>
        </p:nvCxnSpPr>
        <p:spPr>
          <a:xfrm>
            <a:off x="5010150" y="1809750"/>
            <a:ext cx="0" cy="3695700"/>
          </a:xfrm>
          <a:prstGeom prst="straightConnector1">
            <a:avLst/>
          </a:prstGeom>
          <a:noFill/>
          <a:ln w="19050" cap="flat" cmpd="sng">
            <a:solidFill>
              <a:srgbClr val="B8C2CC"/>
            </a:solidFill>
            <a:prstDash val="solid"/>
            <a:round/>
            <a:headEnd type="none" w="sm" len="sm"/>
            <a:tailEnd type="none" w="sm" len="sm"/>
          </a:ln>
        </p:spPr>
      </p:cxnSp>
      <p:sp>
        <p:nvSpPr>
          <p:cNvPr id="47" name="Google Shape;47;p2"/>
          <p:cNvSpPr/>
          <p:nvPr/>
        </p:nvSpPr>
        <p:spPr>
          <a:xfrm>
            <a:off x="5524500" y="1657350"/>
            <a:ext cx="2286000" cy="2286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FF7F6E"/>
              </a:buClr>
              <a:buSzPts val="1200"/>
              <a:buFont typeface="Arial"/>
              <a:buNone/>
            </a:pPr>
            <a:r>
              <a:rPr lang="en-US" sz="1200" b="1" i="0">
                <a:solidFill>
                  <a:srgbClr val="FF7F6E"/>
                </a:solidFill>
                <a:latin typeface="Arial"/>
                <a:ea typeface="Arial"/>
                <a:cs typeface="Arial"/>
                <a:sym typeface="Arial"/>
              </a:rPr>
              <a:t>CONSECUENCIA</a:t>
            </a:r>
            <a:endParaRPr/>
          </a:p>
        </p:txBody>
      </p:sp>
      <p:sp>
        <p:nvSpPr>
          <p:cNvPr id="48" name="Google Shape;48;p2"/>
          <p:cNvSpPr/>
          <p:nvPr/>
        </p:nvSpPr>
        <p:spPr>
          <a:xfrm>
            <a:off x="5524500" y="1936182"/>
            <a:ext cx="5619900" cy="8763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0B1F33"/>
              </a:buClr>
              <a:buSzPts val="2700"/>
              <a:buFont typeface="Arial"/>
              <a:buNone/>
            </a:pPr>
            <a:r>
              <a:rPr lang="en-US" sz="2700" b="1" i="0">
                <a:solidFill>
                  <a:srgbClr val="0B1F33"/>
                </a:solidFill>
                <a:latin typeface="Arial"/>
                <a:ea typeface="Arial"/>
                <a:cs typeface="Arial"/>
                <a:sym typeface="Arial"/>
              </a:rPr>
              <a:t>La planificación puede ser reactiva y perder la dimensión territorial.</a:t>
            </a:r>
            <a:endParaRPr/>
          </a:p>
        </p:txBody>
      </p:sp>
      <p:sp>
        <p:nvSpPr>
          <p:cNvPr id="49" name="Google Shape;49;p2"/>
          <p:cNvSpPr/>
          <p:nvPr/>
        </p:nvSpPr>
        <p:spPr>
          <a:xfrm>
            <a:off x="5524500" y="3333750"/>
            <a:ext cx="76200" cy="552450"/>
          </a:xfrm>
          <a:prstGeom prst="rect">
            <a:avLst/>
          </a:prstGeom>
          <a:solidFill>
            <a:srgbClr val="2F6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5791200" y="3295650"/>
            <a:ext cx="2381250" cy="2667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142033"/>
              </a:buClr>
              <a:buSzPts val="1725"/>
              <a:buFont typeface="Arial"/>
              <a:buNone/>
            </a:pPr>
            <a:r>
              <a:rPr lang="en-US" sz="1725" b="1" i="0">
                <a:solidFill>
                  <a:srgbClr val="142033"/>
                </a:solidFill>
                <a:latin typeface="Arial"/>
                <a:ea typeface="Arial"/>
                <a:cs typeface="Arial"/>
                <a:sym typeface="Arial"/>
              </a:rPr>
              <a:t>Anticipación limitada</a:t>
            </a:r>
            <a:endParaRPr/>
          </a:p>
        </p:txBody>
      </p:sp>
      <p:sp>
        <p:nvSpPr>
          <p:cNvPr id="51" name="Google Shape;51;p2"/>
          <p:cNvSpPr/>
          <p:nvPr/>
        </p:nvSpPr>
        <p:spPr>
          <a:xfrm>
            <a:off x="5791200" y="3590925"/>
            <a:ext cx="5334000" cy="40005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5F6B7A"/>
              </a:buClr>
              <a:buSzPts val="1350"/>
              <a:buFont typeface="Arial"/>
              <a:buNone/>
            </a:pPr>
            <a:r>
              <a:rPr lang="en-US" sz="1350" b="0" i="0">
                <a:solidFill>
                  <a:srgbClr val="5F6B7A"/>
                </a:solidFill>
                <a:latin typeface="Arial"/>
                <a:ea typeface="Arial"/>
                <a:cs typeface="Arial"/>
                <a:sym typeface="Arial"/>
              </a:rPr>
              <a:t>No hay una proyección integrada de presión para las próximas 4–8 semanas.</a:t>
            </a:r>
            <a:endParaRPr/>
          </a:p>
        </p:txBody>
      </p:sp>
      <p:sp>
        <p:nvSpPr>
          <p:cNvPr id="52" name="Google Shape;52;p2"/>
          <p:cNvSpPr/>
          <p:nvPr/>
        </p:nvSpPr>
        <p:spPr>
          <a:xfrm>
            <a:off x="5524500" y="4114800"/>
            <a:ext cx="76200" cy="552450"/>
          </a:xfrm>
          <a:prstGeom prst="rect">
            <a:avLst/>
          </a:prstGeom>
          <a:solidFill>
            <a:srgbClr val="18A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5791200" y="4076700"/>
            <a:ext cx="2381250" cy="2667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142033"/>
              </a:buClr>
              <a:buSzPts val="1725"/>
              <a:buFont typeface="Arial"/>
              <a:buNone/>
            </a:pPr>
            <a:r>
              <a:rPr lang="en-US" sz="1725" b="1" i="0">
                <a:solidFill>
                  <a:srgbClr val="142033"/>
                </a:solidFill>
                <a:latin typeface="Arial"/>
                <a:ea typeface="Arial"/>
                <a:cs typeface="Arial"/>
                <a:sym typeface="Arial"/>
              </a:rPr>
              <a:t>Brechas poco visibles</a:t>
            </a:r>
            <a:endParaRPr/>
          </a:p>
        </p:txBody>
      </p:sp>
      <p:sp>
        <p:nvSpPr>
          <p:cNvPr id="54" name="Google Shape;54;p2"/>
          <p:cNvSpPr/>
          <p:nvPr/>
        </p:nvSpPr>
        <p:spPr>
          <a:xfrm>
            <a:off x="5791200" y="4371975"/>
            <a:ext cx="5334000" cy="40005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5F6B7A"/>
              </a:buClr>
              <a:buSzPts val="1350"/>
              <a:buFont typeface="Arial"/>
              <a:buNone/>
            </a:pPr>
            <a:r>
              <a:rPr lang="en-US" sz="1350" b="0" i="0">
                <a:solidFill>
                  <a:srgbClr val="5F6B7A"/>
                </a:solidFill>
                <a:latin typeface="Arial"/>
                <a:ea typeface="Arial"/>
                <a:cs typeface="Arial"/>
                <a:sym typeface="Arial"/>
              </a:rPr>
              <a:t>Es difícil comparar demanda, accesibilidad y vulnerabilidad entre comunas.</a:t>
            </a:r>
            <a:endParaRPr/>
          </a:p>
        </p:txBody>
      </p:sp>
      <p:sp>
        <p:nvSpPr>
          <p:cNvPr id="55" name="Google Shape;55;p2"/>
          <p:cNvSpPr/>
          <p:nvPr/>
        </p:nvSpPr>
        <p:spPr>
          <a:xfrm>
            <a:off x="5524500" y="4895850"/>
            <a:ext cx="76200" cy="552450"/>
          </a:xfrm>
          <a:prstGeom prst="rect">
            <a:avLst/>
          </a:prstGeom>
          <a:solidFill>
            <a:srgbClr val="2F6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5791200" y="4857750"/>
            <a:ext cx="2381250" cy="2667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142033"/>
              </a:buClr>
              <a:buSzPts val="1725"/>
              <a:buFont typeface="Arial"/>
              <a:buNone/>
            </a:pPr>
            <a:r>
              <a:rPr lang="en-US" sz="1725" b="1" i="0">
                <a:solidFill>
                  <a:srgbClr val="142033"/>
                </a:solidFill>
                <a:latin typeface="Arial"/>
                <a:ea typeface="Arial"/>
                <a:cs typeface="Arial"/>
                <a:sym typeface="Arial"/>
              </a:rPr>
              <a:t>Sin visión común</a:t>
            </a:r>
            <a:endParaRPr/>
          </a:p>
        </p:txBody>
      </p:sp>
      <p:sp>
        <p:nvSpPr>
          <p:cNvPr id="57" name="Google Shape;57;p2"/>
          <p:cNvSpPr/>
          <p:nvPr/>
        </p:nvSpPr>
        <p:spPr>
          <a:xfrm>
            <a:off x="5791200" y="5153025"/>
            <a:ext cx="5334000" cy="40005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5F6B7A"/>
              </a:buClr>
              <a:buSzPts val="1350"/>
              <a:buFont typeface="Arial"/>
              <a:buNone/>
            </a:pPr>
            <a:r>
              <a:rPr lang="en-US" sz="1350" b="0" i="0">
                <a:solidFill>
                  <a:srgbClr val="5F6B7A"/>
                </a:solidFill>
                <a:latin typeface="Arial"/>
                <a:ea typeface="Arial"/>
                <a:cs typeface="Arial"/>
                <a:sym typeface="Arial"/>
              </a:rPr>
              <a:t>Gestores de red, planificación y urgencia deben consultar fuentes por separado.</a:t>
            </a:r>
            <a:endParaRPr/>
          </a:p>
        </p:txBody>
      </p:sp>
      <p:sp>
        <p:nvSpPr>
          <p:cNvPr id="58" name="Google Shape;58;p2"/>
          <p:cNvSpPr/>
          <p:nvPr/>
        </p:nvSpPr>
        <p:spPr>
          <a:xfrm>
            <a:off x="514350" y="6515100"/>
            <a:ext cx="2476500" cy="17145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5F6B7A"/>
              </a:buClr>
              <a:buSzPts val="975"/>
              <a:buFont typeface="Arial"/>
              <a:buNone/>
            </a:pPr>
            <a:r>
              <a:rPr lang="en-US" sz="975" b="1" i="0">
                <a:solidFill>
                  <a:srgbClr val="5F6B7A"/>
                </a:solidFill>
                <a:latin typeface="Arial"/>
                <a:ea typeface="Arial"/>
                <a:cs typeface="Arial"/>
                <a:sym typeface="Arial"/>
              </a:rPr>
              <a:t>PROYECTO APT · FASE 1</a:t>
            </a:r>
            <a:endParaRPr/>
          </a:p>
        </p:txBody>
      </p:sp>
      <p:sp>
        <p:nvSpPr>
          <p:cNvPr id="59" name="Google Shape;59;p2"/>
          <p:cNvSpPr/>
          <p:nvPr/>
        </p:nvSpPr>
        <p:spPr>
          <a:xfrm>
            <a:off x="11334750" y="6515100"/>
            <a:ext cx="342900" cy="171450"/>
          </a:xfrm>
          <a:prstGeom prst="rect">
            <a:avLst/>
          </a:prstGeom>
          <a:noFill/>
          <a:ln>
            <a:noFill/>
          </a:ln>
        </p:spPr>
        <p:txBody>
          <a:bodyPr spcFirstLastPara="1" wrap="square" lIns="0" tIns="0" rIns="0" bIns="0" anchor="t" anchorCtr="0">
            <a:noAutofit/>
          </a:bodyPr>
          <a:lstStyle/>
          <a:p>
            <a:pPr marL="0" marR="0" lvl="0" indent="0" algn="r" rtl="0">
              <a:lnSpc>
                <a:spcPct val="105000"/>
              </a:lnSpc>
              <a:spcBef>
                <a:spcPts val="0"/>
              </a:spcBef>
              <a:spcAft>
                <a:spcPts val="0"/>
              </a:spcAft>
              <a:buClr>
                <a:srgbClr val="5F6B7A"/>
              </a:buClr>
              <a:buSzPts val="975"/>
              <a:buFont typeface="Arial"/>
              <a:buNone/>
            </a:pPr>
            <a:r>
              <a:rPr lang="en-US" sz="975" b="0" i="0">
                <a:solidFill>
                  <a:srgbClr val="5F6B7A"/>
                </a:solidFill>
                <a:latin typeface="Arial"/>
                <a:ea typeface="Arial"/>
                <a:cs typeface="Arial"/>
                <a:sym typeface="Arial"/>
              </a:rPr>
              <a:t>02</a:t>
            </a:r>
            <a:endParaRPr/>
          </a:p>
        </p:txBody>
      </p:sp>
      <p:pic>
        <p:nvPicPr>
          <p:cNvPr id="60" name="Google Shape;60;p2"/>
          <p:cNvPicPr preferRelativeResize="0"/>
          <p:nvPr/>
        </p:nvPicPr>
        <p:blipFill>
          <a:blip r:embed="rId3">
            <a:alphaModFix amt="30000"/>
          </a:blip>
          <a:stretch>
            <a:fillRect/>
          </a:stretch>
        </p:blipFill>
        <p:spPr>
          <a:xfrm>
            <a:off x="69875" y="50250"/>
            <a:ext cx="1317358" cy="3238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5"/>
        <p:cNvGrpSpPr/>
        <p:nvPr/>
      </p:nvGrpSpPr>
      <p:grpSpPr>
        <a:xfrm>
          <a:off x="0" y="0"/>
          <a:ext cx="0" cy="0"/>
          <a:chOff x="0" y="0"/>
          <a:chExt cx="0" cy="0"/>
        </a:xfrm>
      </p:grpSpPr>
      <p:sp>
        <p:nvSpPr>
          <p:cNvPr id="66" name="Google Shape;66;p3"/>
          <p:cNvSpPr/>
          <p:nvPr/>
        </p:nvSpPr>
        <p:spPr>
          <a:xfrm>
            <a:off x="516450" y="1409650"/>
            <a:ext cx="11163300" cy="647700"/>
          </a:xfrm>
          <a:prstGeom prst="rect">
            <a:avLst/>
          </a:prstGeom>
          <a:solidFill>
            <a:srgbClr val="6DCBF4"/>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endParaRPr/>
          </a:p>
        </p:txBody>
      </p:sp>
      <p:sp>
        <p:nvSpPr>
          <p:cNvPr id="67" name="Google Shape;67;p3"/>
          <p:cNvSpPr/>
          <p:nvPr/>
        </p:nvSpPr>
        <p:spPr>
          <a:xfrm>
            <a:off x="514350" y="638175"/>
            <a:ext cx="10668000" cy="6477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0B1F33"/>
              </a:buClr>
              <a:buSzPts val="3600"/>
              <a:buFont typeface="Arial"/>
              <a:buNone/>
            </a:pPr>
            <a:r>
              <a:rPr lang="en-US" sz="3600" b="1">
                <a:solidFill>
                  <a:srgbClr val="0B1F33"/>
                </a:solidFill>
              </a:rPr>
              <a:t>Solución propuesta</a:t>
            </a:r>
            <a:endParaRPr/>
          </a:p>
        </p:txBody>
      </p:sp>
      <p:cxnSp>
        <p:nvCxnSpPr>
          <p:cNvPr id="68" name="Google Shape;68;p3"/>
          <p:cNvCxnSpPr/>
          <p:nvPr/>
        </p:nvCxnSpPr>
        <p:spPr>
          <a:xfrm>
            <a:off x="514350" y="1243255"/>
            <a:ext cx="11163300" cy="0"/>
          </a:xfrm>
          <a:prstGeom prst="straightConnector1">
            <a:avLst/>
          </a:prstGeom>
          <a:noFill/>
          <a:ln w="19050" cap="flat" cmpd="sng">
            <a:solidFill>
              <a:srgbClr val="E9EEF3"/>
            </a:solidFill>
            <a:prstDash val="solid"/>
            <a:round/>
            <a:headEnd type="none" w="sm" len="sm"/>
            <a:tailEnd type="none" w="sm" len="sm"/>
          </a:ln>
        </p:spPr>
      </p:cxnSp>
      <p:sp>
        <p:nvSpPr>
          <p:cNvPr id="69" name="Google Shape;69;p3"/>
          <p:cNvSpPr/>
          <p:nvPr/>
        </p:nvSpPr>
        <p:spPr>
          <a:xfrm>
            <a:off x="11334750" y="342900"/>
            <a:ext cx="342900" cy="209550"/>
          </a:xfrm>
          <a:prstGeom prst="rect">
            <a:avLst/>
          </a:prstGeom>
          <a:noFill/>
          <a:ln>
            <a:noFill/>
          </a:ln>
        </p:spPr>
        <p:txBody>
          <a:bodyPr spcFirstLastPara="1" wrap="square" lIns="0" tIns="0" rIns="0" bIns="0" anchor="t" anchorCtr="0">
            <a:noAutofit/>
          </a:bodyPr>
          <a:lstStyle/>
          <a:p>
            <a:pPr marL="0" marR="0" lvl="0" indent="0" algn="r" rtl="0">
              <a:lnSpc>
                <a:spcPct val="105000"/>
              </a:lnSpc>
              <a:spcBef>
                <a:spcPts val="0"/>
              </a:spcBef>
              <a:spcAft>
                <a:spcPts val="0"/>
              </a:spcAft>
              <a:buClr>
                <a:srgbClr val="5F6B7A"/>
              </a:buClr>
              <a:buSzPts val="1125"/>
              <a:buFont typeface="Arial"/>
              <a:buNone/>
            </a:pPr>
            <a:r>
              <a:rPr lang="en-US" sz="1125" b="0" i="0">
                <a:solidFill>
                  <a:srgbClr val="5F6B7A"/>
                </a:solidFill>
                <a:latin typeface="Arial"/>
                <a:ea typeface="Arial"/>
                <a:cs typeface="Arial"/>
                <a:sym typeface="Arial"/>
              </a:rPr>
              <a:t>03</a:t>
            </a:r>
            <a:endParaRPr/>
          </a:p>
        </p:txBody>
      </p:sp>
      <p:sp>
        <p:nvSpPr>
          <p:cNvPr id="70" name="Google Shape;70;p3"/>
          <p:cNvSpPr/>
          <p:nvPr/>
        </p:nvSpPr>
        <p:spPr>
          <a:xfrm>
            <a:off x="635568" y="1479408"/>
            <a:ext cx="10944300" cy="5145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5F6B7A"/>
              </a:buClr>
              <a:buSzPts val="1575"/>
              <a:buFont typeface="Arial"/>
              <a:buNone/>
            </a:pPr>
            <a:r>
              <a:rPr lang="en-US" sz="1575" b="1">
                <a:solidFill>
                  <a:schemeClr val="dk1"/>
                </a:solidFill>
              </a:rPr>
              <a:t>Un MVP que conecte 3 módulos analíticos: </a:t>
            </a:r>
            <a:r>
              <a:rPr lang="en-US" sz="1575" b="1" i="0">
                <a:solidFill>
                  <a:schemeClr val="dk1"/>
                </a:solidFill>
              </a:rPr>
              <a:t>Es el producto objetivo: hoy existe una base de datos y EDA; los modelos, la capa avanzada y la web siguen por construir.</a:t>
            </a:r>
            <a:endParaRPr b="1">
              <a:solidFill>
                <a:schemeClr val="dk1"/>
              </a:solidFill>
            </a:endParaRPr>
          </a:p>
        </p:txBody>
      </p:sp>
      <p:sp>
        <p:nvSpPr>
          <p:cNvPr id="71" name="Google Shape;71;p3"/>
          <p:cNvSpPr/>
          <p:nvPr/>
        </p:nvSpPr>
        <p:spPr>
          <a:xfrm>
            <a:off x="523875" y="2266950"/>
            <a:ext cx="762000" cy="66675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2F6BFF"/>
              </a:buClr>
              <a:buSzPts val="4050"/>
              <a:buFont typeface="Arial"/>
              <a:buNone/>
            </a:pPr>
            <a:r>
              <a:rPr lang="en-US" sz="4050" b="1" i="0">
                <a:solidFill>
                  <a:srgbClr val="2F6BFF"/>
                </a:solidFill>
                <a:latin typeface="Arial"/>
                <a:ea typeface="Arial"/>
                <a:cs typeface="Arial"/>
                <a:sym typeface="Arial"/>
              </a:rPr>
              <a:t>01</a:t>
            </a:r>
            <a:endParaRPr/>
          </a:p>
        </p:txBody>
      </p:sp>
      <p:sp>
        <p:nvSpPr>
          <p:cNvPr id="72" name="Google Shape;72;p3"/>
          <p:cNvSpPr/>
          <p:nvPr/>
        </p:nvSpPr>
        <p:spPr>
          <a:xfrm>
            <a:off x="523875" y="3038475"/>
            <a:ext cx="3286125" cy="523875"/>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0B1F33"/>
              </a:buClr>
              <a:buSzPts val="2250"/>
              <a:buFont typeface="Arial"/>
              <a:buNone/>
            </a:pPr>
            <a:r>
              <a:rPr lang="en-US" sz="2250" b="1" i="0">
                <a:solidFill>
                  <a:srgbClr val="0B1F33"/>
                </a:solidFill>
                <a:latin typeface="Arial"/>
                <a:ea typeface="Arial"/>
                <a:cs typeface="Arial"/>
                <a:sym typeface="Arial"/>
              </a:rPr>
              <a:t>Demanda futura</a:t>
            </a:r>
            <a:endParaRPr/>
          </a:p>
        </p:txBody>
      </p:sp>
      <p:sp>
        <p:nvSpPr>
          <p:cNvPr id="73" name="Google Shape;73;p3"/>
          <p:cNvSpPr/>
          <p:nvPr/>
        </p:nvSpPr>
        <p:spPr>
          <a:xfrm>
            <a:off x="523875" y="3695700"/>
            <a:ext cx="3257550" cy="123825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142033"/>
              </a:buClr>
              <a:buSzPts val="1575"/>
              <a:buFont typeface="Arial"/>
              <a:buNone/>
            </a:pPr>
            <a:r>
              <a:rPr lang="en-US" sz="1575" b="0" i="0">
                <a:solidFill>
                  <a:srgbClr val="142033"/>
                </a:solidFill>
                <a:latin typeface="Arial"/>
                <a:ea typeface="Arial"/>
                <a:cs typeface="Arial"/>
                <a:sym typeface="Arial"/>
              </a:rPr>
              <a:t>Proyección semanal a 4–8 semanas, con intervalos de predicción y backtesting frente a un baseline estacional ingenuo.</a:t>
            </a:r>
            <a:endParaRPr/>
          </a:p>
        </p:txBody>
      </p:sp>
      <p:cxnSp>
        <p:nvCxnSpPr>
          <p:cNvPr id="74" name="Google Shape;74;p3"/>
          <p:cNvCxnSpPr/>
          <p:nvPr/>
        </p:nvCxnSpPr>
        <p:spPr>
          <a:xfrm>
            <a:off x="523875" y="5105400"/>
            <a:ext cx="3143250" cy="0"/>
          </a:xfrm>
          <a:prstGeom prst="straightConnector1">
            <a:avLst/>
          </a:prstGeom>
          <a:noFill/>
          <a:ln w="38100" cap="flat" cmpd="sng">
            <a:solidFill>
              <a:srgbClr val="2F6BFF"/>
            </a:solidFill>
            <a:prstDash val="solid"/>
            <a:round/>
            <a:headEnd type="none" w="sm" len="sm"/>
            <a:tailEnd type="none" w="sm" len="sm"/>
          </a:ln>
        </p:spPr>
      </p:cxnSp>
      <p:sp>
        <p:nvSpPr>
          <p:cNvPr id="75" name="Google Shape;75;p3"/>
          <p:cNvSpPr/>
          <p:nvPr/>
        </p:nvSpPr>
        <p:spPr>
          <a:xfrm>
            <a:off x="523875" y="5257800"/>
            <a:ext cx="3238500" cy="51435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5F6B7A"/>
              </a:buClr>
              <a:buSzPts val="1350"/>
              <a:buFont typeface="Arial"/>
              <a:buNone/>
            </a:pPr>
            <a:r>
              <a:rPr lang="en-US" sz="1350" b="0" i="1">
                <a:solidFill>
                  <a:srgbClr val="5F6B7A"/>
                </a:solidFill>
                <a:latin typeface="Arial"/>
                <a:ea typeface="Arial"/>
                <a:cs typeface="Arial"/>
                <a:sym typeface="Arial"/>
              </a:rPr>
              <a:t>Pregunta: ¿dónde podría aumentar la presión?</a:t>
            </a:r>
            <a:endParaRPr/>
          </a:p>
        </p:txBody>
      </p:sp>
      <p:cxnSp>
        <p:nvCxnSpPr>
          <p:cNvPr id="76" name="Google Shape;76;p3"/>
          <p:cNvCxnSpPr/>
          <p:nvPr/>
        </p:nvCxnSpPr>
        <p:spPr>
          <a:xfrm>
            <a:off x="4124325" y="2343150"/>
            <a:ext cx="0" cy="3314700"/>
          </a:xfrm>
          <a:prstGeom prst="straightConnector1">
            <a:avLst/>
          </a:prstGeom>
          <a:noFill/>
          <a:ln w="19050" cap="flat" cmpd="sng">
            <a:solidFill>
              <a:srgbClr val="E9EEF3"/>
            </a:solidFill>
            <a:prstDash val="solid"/>
            <a:round/>
            <a:headEnd type="none" w="sm" len="sm"/>
            <a:tailEnd type="none" w="sm" len="sm"/>
          </a:ln>
        </p:spPr>
      </p:cxnSp>
      <p:sp>
        <p:nvSpPr>
          <p:cNvPr id="77" name="Google Shape;77;p3"/>
          <p:cNvSpPr/>
          <p:nvPr/>
        </p:nvSpPr>
        <p:spPr>
          <a:xfrm>
            <a:off x="4371975" y="2266950"/>
            <a:ext cx="762000" cy="66675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18A999"/>
              </a:buClr>
              <a:buSzPts val="4050"/>
              <a:buFont typeface="Arial"/>
              <a:buNone/>
            </a:pPr>
            <a:r>
              <a:rPr lang="en-US" sz="4050" b="1" i="0">
                <a:solidFill>
                  <a:srgbClr val="18A999"/>
                </a:solidFill>
                <a:latin typeface="Arial"/>
                <a:ea typeface="Arial"/>
                <a:cs typeface="Arial"/>
                <a:sym typeface="Arial"/>
              </a:rPr>
              <a:t>02</a:t>
            </a:r>
            <a:endParaRPr/>
          </a:p>
        </p:txBody>
      </p:sp>
      <p:sp>
        <p:nvSpPr>
          <p:cNvPr id="78" name="Google Shape;78;p3"/>
          <p:cNvSpPr/>
          <p:nvPr/>
        </p:nvSpPr>
        <p:spPr>
          <a:xfrm>
            <a:off x="4371975" y="3038475"/>
            <a:ext cx="3286125" cy="523875"/>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0B1F33"/>
              </a:buClr>
              <a:buSzPts val="2250"/>
              <a:buFont typeface="Arial"/>
              <a:buNone/>
            </a:pPr>
            <a:r>
              <a:rPr lang="en-US" sz="2250" b="1" i="0">
                <a:solidFill>
                  <a:srgbClr val="0B1F33"/>
                </a:solidFill>
                <a:latin typeface="Arial"/>
                <a:ea typeface="Arial"/>
                <a:cs typeface="Arial"/>
                <a:sym typeface="Arial"/>
              </a:rPr>
              <a:t>Accesibilidad territorial</a:t>
            </a:r>
            <a:endParaRPr/>
          </a:p>
        </p:txBody>
      </p:sp>
      <p:sp>
        <p:nvSpPr>
          <p:cNvPr id="79" name="Google Shape;79;p3"/>
          <p:cNvSpPr/>
          <p:nvPr/>
        </p:nvSpPr>
        <p:spPr>
          <a:xfrm>
            <a:off x="4371975" y="3695700"/>
            <a:ext cx="3257550" cy="123825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142033"/>
              </a:buClr>
              <a:buSzPts val="1575"/>
              <a:buFont typeface="Arial"/>
              <a:buNone/>
            </a:pPr>
            <a:r>
              <a:rPr lang="en-US" sz="1575" b="0" i="0">
                <a:solidFill>
                  <a:srgbClr val="142033"/>
                </a:solidFill>
                <a:latin typeface="Arial"/>
                <a:ea typeface="Arial"/>
                <a:cs typeface="Arial"/>
                <a:sym typeface="Arial"/>
              </a:rPr>
              <a:t>Cobertura e isócronas con OSM/GTFS, cruzadas con población, vulnerabilidad y demanda proyectada.</a:t>
            </a:r>
            <a:endParaRPr/>
          </a:p>
        </p:txBody>
      </p:sp>
      <p:cxnSp>
        <p:nvCxnSpPr>
          <p:cNvPr id="80" name="Google Shape;80;p3"/>
          <p:cNvCxnSpPr/>
          <p:nvPr/>
        </p:nvCxnSpPr>
        <p:spPr>
          <a:xfrm>
            <a:off x="4371975" y="5105400"/>
            <a:ext cx="3143250" cy="0"/>
          </a:xfrm>
          <a:prstGeom prst="straightConnector1">
            <a:avLst/>
          </a:prstGeom>
          <a:noFill/>
          <a:ln w="38100" cap="flat" cmpd="sng">
            <a:solidFill>
              <a:srgbClr val="18A999"/>
            </a:solidFill>
            <a:prstDash val="solid"/>
            <a:round/>
            <a:headEnd type="none" w="sm" len="sm"/>
            <a:tailEnd type="none" w="sm" len="sm"/>
          </a:ln>
        </p:spPr>
      </p:cxnSp>
      <p:sp>
        <p:nvSpPr>
          <p:cNvPr id="81" name="Google Shape;81;p3"/>
          <p:cNvSpPr/>
          <p:nvPr/>
        </p:nvSpPr>
        <p:spPr>
          <a:xfrm>
            <a:off x="4371975" y="5257800"/>
            <a:ext cx="3238500" cy="51435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5F6B7A"/>
              </a:buClr>
              <a:buSzPts val="1350"/>
              <a:buFont typeface="Arial"/>
              <a:buNone/>
            </a:pPr>
            <a:r>
              <a:rPr lang="en-US" sz="1350" b="0" i="1">
                <a:solidFill>
                  <a:srgbClr val="5F6B7A"/>
                </a:solidFill>
                <a:latin typeface="Arial"/>
                <a:ea typeface="Arial"/>
                <a:cs typeface="Arial"/>
                <a:sym typeface="Arial"/>
              </a:rPr>
              <a:t>Pregunta: ¿qué territorios enfrentan mayor brecha?</a:t>
            </a:r>
            <a:endParaRPr/>
          </a:p>
        </p:txBody>
      </p:sp>
      <p:cxnSp>
        <p:nvCxnSpPr>
          <p:cNvPr id="82" name="Google Shape;82;p3"/>
          <p:cNvCxnSpPr/>
          <p:nvPr/>
        </p:nvCxnSpPr>
        <p:spPr>
          <a:xfrm>
            <a:off x="7972425" y="2343150"/>
            <a:ext cx="0" cy="3314700"/>
          </a:xfrm>
          <a:prstGeom prst="straightConnector1">
            <a:avLst/>
          </a:prstGeom>
          <a:noFill/>
          <a:ln w="19050" cap="flat" cmpd="sng">
            <a:solidFill>
              <a:srgbClr val="E9EEF3"/>
            </a:solidFill>
            <a:prstDash val="solid"/>
            <a:round/>
            <a:headEnd type="none" w="sm" len="sm"/>
            <a:tailEnd type="none" w="sm" len="sm"/>
          </a:ln>
        </p:spPr>
      </p:cxnSp>
      <p:sp>
        <p:nvSpPr>
          <p:cNvPr id="83" name="Google Shape;83;p3"/>
          <p:cNvSpPr/>
          <p:nvPr/>
        </p:nvSpPr>
        <p:spPr>
          <a:xfrm>
            <a:off x="8220075" y="2266950"/>
            <a:ext cx="762000" cy="66675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FF7F6E"/>
              </a:buClr>
              <a:buSzPts val="4050"/>
              <a:buFont typeface="Arial"/>
              <a:buNone/>
            </a:pPr>
            <a:r>
              <a:rPr lang="en-US" sz="4050" b="1" i="0">
                <a:solidFill>
                  <a:srgbClr val="FF7F6E"/>
                </a:solidFill>
                <a:latin typeface="Arial"/>
                <a:ea typeface="Arial"/>
                <a:cs typeface="Arial"/>
                <a:sym typeface="Arial"/>
              </a:rPr>
              <a:t>03</a:t>
            </a:r>
            <a:endParaRPr/>
          </a:p>
        </p:txBody>
      </p:sp>
      <p:sp>
        <p:nvSpPr>
          <p:cNvPr id="84" name="Google Shape;84;p3"/>
          <p:cNvSpPr/>
          <p:nvPr/>
        </p:nvSpPr>
        <p:spPr>
          <a:xfrm>
            <a:off x="8220075" y="3038475"/>
            <a:ext cx="3286125" cy="523875"/>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0B1F33"/>
              </a:buClr>
              <a:buSzPts val="2250"/>
              <a:buFont typeface="Arial"/>
              <a:buNone/>
            </a:pPr>
            <a:r>
              <a:rPr lang="en-US" sz="2250" b="1" i="0">
                <a:solidFill>
                  <a:srgbClr val="0B1F33"/>
                </a:solidFill>
                <a:latin typeface="Arial"/>
                <a:ea typeface="Arial"/>
                <a:cs typeface="Arial"/>
                <a:sym typeface="Arial"/>
              </a:rPr>
              <a:t>Hospitalización psiquiátrica</a:t>
            </a:r>
            <a:endParaRPr/>
          </a:p>
        </p:txBody>
      </p:sp>
      <p:sp>
        <p:nvSpPr>
          <p:cNvPr id="85" name="Google Shape;85;p3"/>
          <p:cNvSpPr/>
          <p:nvPr/>
        </p:nvSpPr>
        <p:spPr>
          <a:xfrm>
            <a:off x="8220075" y="3746784"/>
            <a:ext cx="3257700" cy="123840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Clr>
                <a:srgbClr val="142033"/>
              </a:buClr>
              <a:buSzPts val="1575"/>
              <a:buFont typeface="Arial"/>
              <a:buNone/>
            </a:pPr>
            <a:r>
              <a:rPr lang="en-US" sz="1575" b="0" i="0">
                <a:solidFill>
                  <a:srgbClr val="142033"/>
                </a:solidFill>
                <a:latin typeface="Arial"/>
                <a:ea typeface="Arial"/>
                <a:cs typeface="Arial"/>
                <a:sym typeface="Arial"/>
              </a:rPr>
              <a:t>Caracterización de egresos F00–F99 y duración de estadía, sin identificar personas ni enlazar registros individuales.</a:t>
            </a:r>
            <a:endParaRPr/>
          </a:p>
        </p:txBody>
      </p:sp>
      <p:cxnSp>
        <p:nvCxnSpPr>
          <p:cNvPr id="86" name="Google Shape;86;p3"/>
          <p:cNvCxnSpPr/>
          <p:nvPr/>
        </p:nvCxnSpPr>
        <p:spPr>
          <a:xfrm>
            <a:off x="8220075" y="5105400"/>
            <a:ext cx="3143250" cy="0"/>
          </a:xfrm>
          <a:prstGeom prst="straightConnector1">
            <a:avLst/>
          </a:prstGeom>
          <a:noFill/>
          <a:ln w="38100" cap="flat" cmpd="sng">
            <a:solidFill>
              <a:srgbClr val="FF7F6E"/>
            </a:solidFill>
            <a:prstDash val="solid"/>
            <a:round/>
            <a:headEnd type="none" w="sm" len="sm"/>
            <a:tailEnd type="none" w="sm" len="sm"/>
          </a:ln>
        </p:spPr>
      </p:cxnSp>
      <p:sp>
        <p:nvSpPr>
          <p:cNvPr id="87" name="Google Shape;87;p3"/>
          <p:cNvSpPr/>
          <p:nvPr/>
        </p:nvSpPr>
        <p:spPr>
          <a:xfrm>
            <a:off x="8220075" y="5257800"/>
            <a:ext cx="3238500" cy="51435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5F6B7A"/>
              </a:buClr>
              <a:buSzPts val="1350"/>
              <a:buFont typeface="Arial"/>
              <a:buNone/>
            </a:pPr>
            <a:r>
              <a:rPr lang="en-US" sz="1350" b="0" i="1">
                <a:solidFill>
                  <a:srgbClr val="5F6B7A"/>
                </a:solidFill>
                <a:latin typeface="Arial"/>
                <a:ea typeface="Arial"/>
                <a:cs typeface="Arial"/>
                <a:sym typeface="Arial"/>
              </a:rPr>
              <a:t>Pregunta: ¿cómo se comporta la atención posterior?</a:t>
            </a:r>
            <a:endParaRPr/>
          </a:p>
        </p:txBody>
      </p:sp>
      <p:sp>
        <p:nvSpPr>
          <p:cNvPr id="88" name="Google Shape;88;p3"/>
          <p:cNvSpPr/>
          <p:nvPr/>
        </p:nvSpPr>
        <p:spPr>
          <a:xfrm>
            <a:off x="514350" y="6515100"/>
            <a:ext cx="2476500" cy="17145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5F6B7A"/>
              </a:buClr>
              <a:buSzPts val="975"/>
              <a:buFont typeface="Arial"/>
              <a:buNone/>
            </a:pPr>
            <a:r>
              <a:rPr lang="en-US" sz="975" b="1" i="0">
                <a:solidFill>
                  <a:srgbClr val="5F6B7A"/>
                </a:solidFill>
                <a:latin typeface="Arial"/>
                <a:ea typeface="Arial"/>
                <a:cs typeface="Arial"/>
                <a:sym typeface="Arial"/>
              </a:rPr>
              <a:t>PROYECTO APT · FASE 1</a:t>
            </a:r>
            <a:endParaRPr/>
          </a:p>
        </p:txBody>
      </p:sp>
      <p:sp>
        <p:nvSpPr>
          <p:cNvPr id="89" name="Google Shape;89;p3"/>
          <p:cNvSpPr/>
          <p:nvPr/>
        </p:nvSpPr>
        <p:spPr>
          <a:xfrm>
            <a:off x="11334750" y="6515100"/>
            <a:ext cx="342900" cy="171450"/>
          </a:xfrm>
          <a:prstGeom prst="rect">
            <a:avLst/>
          </a:prstGeom>
          <a:noFill/>
          <a:ln>
            <a:noFill/>
          </a:ln>
        </p:spPr>
        <p:txBody>
          <a:bodyPr spcFirstLastPara="1" wrap="square" lIns="0" tIns="0" rIns="0" bIns="0" anchor="t" anchorCtr="0">
            <a:noAutofit/>
          </a:bodyPr>
          <a:lstStyle/>
          <a:p>
            <a:pPr marL="0" marR="0" lvl="0" indent="0" algn="r" rtl="0">
              <a:lnSpc>
                <a:spcPct val="105000"/>
              </a:lnSpc>
              <a:spcBef>
                <a:spcPts val="0"/>
              </a:spcBef>
              <a:spcAft>
                <a:spcPts val="0"/>
              </a:spcAft>
              <a:buClr>
                <a:srgbClr val="5F6B7A"/>
              </a:buClr>
              <a:buSzPts val="975"/>
              <a:buFont typeface="Arial"/>
              <a:buNone/>
            </a:pPr>
            <a:r>
              <a:rPr lang="en-US" sz="975" b="0" i="0">
                <a:solidFill>
                  <a:srgbClr val="5F6B7A"/>
                </a:solidFill>
                <a:latin typeface="Arial"/>
                <a:ea typeface="Arial"/>
                <a:cs typeface="Arial"/>
                <a:sym typeface="Arial"/>
              </a:rPr>
              <a:t>03</a:t>
            </a:r>
            <a:endParaRPr/>
          </a:p>
        </p:txBody>
      </p:sp>
      <p:pic>
        <p:nvPicPr>
          <p:cNvPr id="90" name="Google Shape;90;p3"/>
          <p:cNvPicPr preferRelativeResize="0"/>
          <p:nvPr/>
        </p:nvPicPr>
        <p:blipFill>
          <a:blip r:embed="rId3">
            <a:alphaModFix amt="30000"/>
          </a:blip>
          <a:stretch>
            <a:fillRect/>
          </a:stretch>
        </p:blipFill>
        <p:spPr>
          <a:xfrm>
            <a:off x="69875" y="50250"/>
            <a:ext cx="1317358" cy="3238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5"/>
        <p:cNvGrpSpPr/>
        <p:nvPr/>
      </p:nvGrpSpPr>
      <p:grpSpPr>
        <a:xfrm>
          <a:off x="0" y="0"/>
          <a:ext cx="0" cy="0"/>
          <a:chOff x="0" y="0"/>
          <a:chExt cx="0" cy="0"/>
        </a:xfrm>
      </p:grpSpPr>
      <p:sp>
        <p:nvSpPr>
          <p:cNvPr id="96" name="Google Shape;96;p4"/>
          <p:cNvSpPr/>
          <p:nvPr/>
        </p:nvSpPr>
        <p:spPr>
          <a:xfrm>
            <a:off x="514350" y="638175"/>
            <a:ext cx="10668000" cy="6477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0B1F33"/>
              </a:buClr>
              <a:buSzPts val="3600"/>
              <a:buFont typeface="Arial"/>
              <a:buNone/>
            </a:pPr>
            <a:r>
              <a:rPr lang="en-US" sz="3600" b="1">
                <a:solidFill>
                  <a:srgbClr val="0B1F33"/>
                </a:solidFill>
              </a:rPr>
              <a:t>Objetivos</a:t>
            </a:r>
            <a:endParaRPr/>
          </a:p>
        </p:txBody>
      </p:sp>
      <p:cxnSp>
        <p:nvCxnSpPr>
          <p:cNvPr id="97" name="Google Shape;97;p4"/>
          <p:cNvCxnSpPr/>
          <p:nvPr/>
        </p:nvCxnSpPr>
        <p:spPr>
          <a:xfrm>
            <a:off x="514350" y="1323975"/>
            <a:ext cx="11163300" cy="0"/>
          </a:xfrm>
          <a:prstGeom prst="straightConnector1">
            <a:avLst/>
          </a:prstGeom>
          <a:noFill/>
          <a:ln w="19050" cap="flat" cmpd="sng">
            <a:solidFill>
              <a:srgbClr val="E9EEF3"/>
            </a:solidFill>
            <a:prstDash val="solid"/>
            <a:round/>
            <a:headEnd type="none" w="sm" len="sm"/>
            <a:tailEnd type="none" w="sm" len="sm"/>
          </a:ln>
        </p:spPr>
      </p:cxnSp>
      <p:sp>
        <p:nvSpPr>
          <p:cNvPr id="98" name="Google Shape;98;p4"/>
          <p:cNvSpPr/>
          <p:nvPr/>
        </p:nvSpPr>
        <p:spPr>
          <a:xfrm>
            <a:off x="11334750" y="342900"/>
            <a:ext cx="342900" cy="209550"/>
          </a:xfrm>
          <a:prstGeom prst="rect">
            <a:avLst/>
          </a:prstGeom>
          <a:noFill/>
          <a:ln>
            <a:noFill/>
          </a:ln>
        </p:spPr>
        <p:txBody>
          <a:bodyPr spcFirstLastPara="1" wrap="square" lIns="0" tIns="0" rIns="0" bIns="0" anchor="t" anchorCtr="0">
            <a:noAutofit/>
          </a:bodyPr>
          <a:lstStyle/>
          <a:p>
            <a:pPr marL="0" marR="0" lvl="0" indent="0" algn="r" rtl="0">
              <a:lnSpc>
                <a:spcPct val="105000"/>
              </a:lnSpc>
              <a:spcBef>
                <a:spcPts val="0"/>
              </a:spcBef>
              <a:spcAft>
                <a:spcPts val="0"/>
              </a:spcAft>
              <a:buClr>
                <a:srgbClr val="5F6B7A"/>
              </a:buClr>
              <a:buSzPts val="1125"/>
              <a:buFont typeface="Arial"/>
              <a:buNone/>
            </a:pPr>
            <a:r>
              <a:rPr lang="en-US" sz="1125" b="0" i="0">
                <a:solidFill>
                  <a:srgbClr val="5F6B7A"/>
                </a:solidFill>
                <a:latin typeface="Arial"/>
                <a:ea typeface="Arial"/>
                <a:cs typeface="Arial"/>
                <a:sym typeface="Arial"/>
              </a:rPr>
              <a:t>04</a:t>
            </a:r>
            <a:endParaRPr/>
          </a:p>
        </p:txBody>
      </p:sp>
      <p:sp>
        <p:nvSpPr>
          <p:cNvPr id="99" name="Google Shape;99;p4"/>
          <p:cNvSpPr/>
          <p:nvPr/>
        </p:nvSpPr>
        <p:spPr>
          <a:xfrm>
            <a:off x="514350" y="1562100"/>
            <a:ext cx="11163300" cy="1390650"/>
          </a:xfrm>
          <a:prstGeom prst="rect">
            <a:avLst/>
          </a:prstGeom>
          <a:solidFill>
            <a:srgbClr val="0B1F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4"/>
          <p:cNvSpPr/>
          <p:nvPr/>
        </p:nvSpPr>
        <p:spPr>
          <a:xfrm>
            <a:off x="742950" y="1723812"/>
            <a:ext cx="2286000" cy="2286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6DCBF4"/>
              </a:buClr>
              <a:buSzPts val="1125"/>
              <a:buFont typeface="Arial"/>
              <a:buNone/>
            </a:pPr>
            <a:r>
              <a:rPr lang="en-US" sz="1525" b="1" i="0">
                <a:solidFill>
                  <a:srgbClr val="6DCBF4"/>
                </a:solidFill>
                <a:latin typeface="Arial"/>
                <a:ea typeface="Arial"/>
                <a:cs typeface="Arial"/>
                <a:sym typeface="Arial"/>
              </a:rPr>
              <a:t>OBJETIVO GENERAL</a:t>
            </a:r>
            <a:endParaRPr sz="1800"/>
          </a:p>
        </p:txBody>
      </p:sp>
      <p:sp>
        <p:nvSpPr>
          <p:cNvPr id="101" name="Google Shape;101;p4"/>
          <p:cNvSpPr/>
          <p:nvPr/>
        </p:nvSpPr>
        <p:spPr>
          <a:xfrm>
            <a:off x="742950" y="2057400"/>
            <a:ext cx="10382250" cy="78105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FFFFFF"/>
              </a:buClr>
              <a:buSzPts val="1725"/>
              <a:buFont typeface="Arial"/>
              <a:buNone/>
            </a:pPr>
            <a:r>
              <a:rPr lang="en-US" sz="1725" b="1" i="0">
                <a:solidFill>
                  <a:srgbClr val="FFFFFF"/>
                </a:solidFill>
                <a:latin typeface="Arial"/>
                <a:ea typeface="Arial"/>
                <a:cs typeface="Arial"/>
                <a:sym typeface="Arial"/>
              </a:rPr>
              <a:t>Desarrollar y validar una plataforma web analítica para integrar datos oficiales, anticipar demanda, identificar brechas de accesibilidad y caracterizar hospitalizaciones psiquiátricas en la RM.</a:t>
            </a:r>
            <a:endParaRPr/>
          </a:p>
        </p:txBody>
      </p:sp>
      <p:sp>
        <p:nvSpPr>
          <p:cNvPr id="102" name="Google Shape;102;p4"/>
          <p:cNvSpPr/>
          <p:nvPr/>
        </p:nvSpPr>
        <p:spPr>
          <a:xfrm>
            <a:off x="533400" y="3550856"/>
            <a:ext cx="552600" cy="4383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2F6BFF"/>
              </a:buClr>
              <a:buSzPts val="2550"/>
              <a:buFont typeface="Arial"/>
              <a:buNone/>
            </a:pPr>
            <a:r>
              <a:rPr lang="en-US" sz="2550" b="1" i="0">
                <a:solidFill>
                  <a:srgbClr val="2F6BFF"/>
                </a:solidFill>
                <a:latin typeface="Arial"/>
                <a:ea typeface="Arial"/>
                <a:cs typeface="Arial"/>
                <a:sym typeface="Arial"/>
              </a:rPr>
              <a:t>01</a:t>
            </a:r>
            <a:endParaRPr/>
          </a:p>
        </p:txBody>
      </p:sp>
      <p:sp>
        <p:nvSpPr>
          <p:cNvPr id="103" name="Google Shape;103;p4"/>
          <p:cNvSpPr/>
          <p:nvPr/>
        </p:nvSpPr>
        <p:spPr>
          <a:xfrm>
            <a:off x="1219200" y="3550856"/>
            <a:ext cx="2381400" cy="3240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0B1F33"/>
              </a:buClr>
              <a:buSzPts val="1950"/>
              <a:buFont typeface="Arial"/>
              <a:buNone/>
            </a:pPr>
            <a:r>
              <a:rPr lang="en-US" sz="1950" b="1" i="0">
                <a:solidFill>
                  <a:srgbClr val="0B1F33"/>
                </a:solidFill>
                <a:latin typeface="Arial"/>
                <a:ea typeface="Arial"/>
                <a:cs typeface="Arial"/>
                <a:sym typeface="Arial"/>
              </a:rPr>
              <a:t>Validar</a:t>
            </a:r>
            <a:endParaRPr/>
          </a:p>
        </p:txBody>
      </p:sp>
      <p:sp>
        <p:nvSpPr>
          <p:cNvPr id="104" name="Google Shape;104;p4"/>
          <p:cNvSpPr/>
          <p:nvPr/>
        </p:nvSpPr>
        <p:spPr>
          <a:xfrm>
            <a:off x="1219200" y="3950906"/>
            <a:ext cx="4381500" cy="6858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5F6B7A"/>
              </a:buClr>
              <a:buSzPts val="1500"/>
              <a:buFont typeface="Arial"/>
              <a:buNone/>
            </a:pPr>
            <a:r>
              <a:rPr lang="en-US" sz="1500" b="0" i="0">
                <a:solidFill>
                  <a:srgbClr val="5F6B7A"/>
                </a:solidFill>
                <a:latin typeface="Arial"/>
                <a:ea typeface="Arial"/>
                <a:cs typeface="Arial"/>
                <a:sym typeface="Arial"/>
              </a:rPr>
              <a:t>Confirmar usuario, requerimientos, criterios de éxito y restricciones.</a:t>
            </a:r>
            <a:endParaRPr/>
          </a:p>
        </p:txBody>
      </p:sp>
      <p:cxnSp>
        <p:nvCxnSpPr>
          <p:cNvPr id="105" name="Google Shape;105;p4"/>
          <p:cNvCxnSpPr/>
          <p:nvPr/>
        </p:nvCxnSpPr>
        <p:spPr>
          <a:xfrm>
            <a:off x="1219200" y="4731956"/>
            <a:ext cx="4381500" cy="0"/>
          </a:xfrm>
          <a:prstGeom prst="straightConnector1">
            <a:avLst/>
          </a:prstGeom>
          <a:noFill/>
          <a:ln w="9525" cap="flat" cmpd="sng">
            <a:solidFill>
              <a:srgbClr val="E9EEF3"/>
            </a:solidFill>
            <a:prstDash val="solid"/>
            <a:round/>
            <a:headEnd type="none" w="sm" len="sm"/>
            <a:tailEnd type="none" w="sm" len="sm"/>
          </a:ln>
        </p:spPr>
      </p:cxnSp>
      <p:sp>
        <p:nvSpPr>
          <p:cNvPr id="106" name="Google Shape;106;p4"/>
          <p:cNvSpPr/>
          <p:nvPr/>
        </p:nvSpPr>
        <p:spPr>
          <a:xfrm>
            <a:off x="6191250" y="3550856"/>
            <a:ext cx="552600" cy="4383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2F6BFF"/>
              </a:buClr>
              <a:buSzPts val="2550"/>
              <a:buFont typeface="Arial"/>
              <a:buNone/>
            </a:pPr>
            <a:r>
              <a:rPr lang="en-US" sz="2550" b="1" i="0">
                <a:solidFill>
                  <a:srgbClr val="2F6BFF"/>
                </a:solidFill>
                <a:latin typeface="Arial"/>
                <a:ea typeface="Arial"/>
                <a:cs typeface="Arial"/>
                <a:sym typeface="Arial"/>
              </a:rPr>
              <a:t>02</a:t>
            </a:r>
            <a:endParaRPr/>
          </a:p>
        </p:txBody>
      </p:sp>
      <p:sp>
        <p:nvSpPr>
          <p:cNvPr id="107" name="Google Shape;107;p4"/>
          <p:cNvSpPr/>
          <p:nvPr/>
        </p:nvSpPr>
        <p:spPr>
          <a:xfrm>
            <a:off x="6877050" y="3550856"/>
            <a:ext cx="2381400" cy="3240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0B1F33"/>
              </a:buClr>
              <a:buSzPts val="1950"/>
              <a:buFont typeface="Arial"/>
              <a:buNone/>
            </a:pPr>
            <a:r>
              <a:rPr lang="en-US" sz="1950" b="1" i="0">
                <a:solidFill>
                  <a:srgbClr val="0B1F33"/>
                </a:solidFill>
                <a:latin typeface="Arial"/>
                <a:ea typeface="Arial"/>
                <a:cs typeface="Arial"/>
                <a:sym typeface="Arial"/>
              </a:rPr>
              <a:t>Integrar</a:t>
            </a:r>
            <a:endParaRPr/>
          </a:p>
        </p:txBody>
      </p:sp>
      <p:sp>
        <p:nvSpPr>
          <p:cNvPr id="108" name="Google Shape;108;p4"/>
          <p:cNvSpPr/>
          <p:nvPr/>
        </p:nvSpPr>
        <p:spPr>
          <a:xfrm>
            <a:off x="6877050" y="3950906"/>
            <a:ext cx="4381500" cy="6858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5F6B7A"/>
              </a:buClr>
              <a:buSzPts val="1500"/>
              <a:buFont typeface="Arial"/>
              <a:buNone/>
            </a:pPr>
            <a:r>
              <a:rPr lang="en-US" sz="1500" b="0" i="0">
                <a:solidFill>
                  <a:srgbClr val="5F6B7A"/>
                </a:solidFill>
                <a:latin typeface="Arial"/>
                <a:ea typeface="Arial"/>
                <a:cs typeface="Arial"/>
                <a:sym typeface="Arial"/>
              </a:rPr>
              <a:t>Auditar, limpiar y documentar fuentes en un pipeline reproducible.</a:t>
            </a:r>
            <a:endParaRPr/>
          </a:p>
        </p:txBody>
      </p:sp>
      <p:cxnSp>
        <p:nvCxnSpPr>
          <p:cNvPr id="109" name="Google Shape;109;p4"/>
          <p:cNvCxnSpPr/>
          <p:nvPr/>
        </p:nvCxnSpPr>
        <p:spPr>
          <a:xfrm>
            <a:off x="6877050" y="4731956"/>
            <a:ext cx="4381500" cy="0"/>
          </a:xfrm>
          <a:prstGeom prst="straightConnector1">
            <a:avLst/>
          </a:prstGeom>
          <a:noFill/>
          <a:ln w="9525" cap="flat" cmpd="sng">
            <a:solidFill>
              <a:srgbClr val="E9EEF3"/>
            </a:solidFill>
            <a:prstDash val="solid"/>
            <a:round/>
            <a:headEnd type="none" w="sm" len="sm"/>
            <a:tailEnd type="none" w="sm" len="sm"/>
          </a:ln>
        </p:spPr>
      </p:cxnSp>
      <p:sp>
        <p:nvSpPr>
          <p:cNvPr id="110" name="Google Shape;110;p4"/>
          <p:cNvSpPr/>
          <p:nvPr/>
        </p:nvSpPr>
        <p:spPr>
          <a:xfrm>
            <a:off x="533400" y="5017706"/>
            <a:ext cx="552600" cy="4383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18A999"/>
              </a:buClr>
              <a:buSzPts val="2550"/>
              <a:buFont typeface="Arial"/>
              <a:buNone/>
            </a:pPr>
            <a:r>
              <a:rPr lang="en-US" sz="2550" b="1" i="0">
                <a:solidFill>
                  <a:srgbClr val="18A999"/>
                </a:solidFill>
                <a:latin typeface="Arial"/>
                <a:ea typeface="Arial"/>
                <a:cs typeface="Arial"/>
                <a:sym typeface="Arial"/>
              </a:rPr>
              <a:t>03</a:t>
            </a:r>
            <a:endParaRPr/>
          </a:p>
        </p:txBody>
      </p:sp>
      <p:sp>
        <p:nvSpPr>
          <p:cNvPr id="111" name="Google Shape;111;p4"/>
          <p:cNvSpPr/>
          <p:nvPr/>
        </p:nvSpPr>
        <p:spPr>
          <a:xfrm>
            <a:off x="1219200" y="5017706"/>
            <a:ext cx="2381400" cy="3240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0B1F33"/>
              </a:buClr>
              <a:buSzPts val="1950"/>
              <a:buFont typeface="Arial"/>
              <a:buNone/>
            </a:pPr>
            <a:r>
              <a:rPr lang="en-US" sz="1950" b="1" i="0">
                <a:solidFill>
                  <a:srgbClr val="0B1F33"/>
                </a:solidFill>
                <a:latin typeface="Arial"/>
                <a:ea typeface="Arial"/>
                <a:cs typeface="Arial"/>
                <a:sym typeface="Arial"/>
              </a:rPr>
              <a:t>Analizar</a:t>
            </a:r>
            <a:endParaRPr/>
          </a:p>
        </p:txBody>
      </p:sp>
      <p:sp>
        <p:nvSpPr>
          <p:cNvPr id="112" name="Google Shape;112;p4"/>
          <p:cNvSpPr/>
          <p:nvPr/>
        </p:nvSpPr>
        <p:spPr>
          <a:xfrm>
            <a:off x="1219200" y="5417756"/>
            <a:ext cx="4381500" cy="6858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5F6B7A"/>
              </a:buClr>
              <a:buSzPts val="1500"/>
              <a:buFont typeface="Arial"/>
              <a:buNone/>
            </a:pPr>
            <a:r>
              <a:rPr lang="en-US" sz="1500" b="0" i="0">
                <a:solidFill>
                  <a:srgbClr val="5F6B7A"/>
                </a:solidFill>
                <a:latin typeface="Arial"/>
                <a:ea typeface="Arial"/>
                <a:cs typeface="Arial"/>
                <a:sym typeface="Arial"/>
              </a:rPr>
              <a:t>Evaluar demanda, accesibilidad y hospitalización con métodos trazables.</a:t>
            </a:r>
            <a:endParaRPr/>
          </a:p>
        </p:txBody>
      </p:sp>
      <p:cxnSp>
        <p:nvCxnSpPr>
          <p:cNvPr id="113" name="Google Shape;113;p4"/>
          <p:cNvCxnSpPr/>
          <p:nvPr/>
        </p:nvCxnSpPr>
        <p:spPr>
          <a:xfrm>
            <a:off x="1219200" y="6198806"/>
            <a:ext cx="4381500" cy="0"/>
          </a:xfrm>
          <a:prstGeom prst="straightConnector1">
            <a:avLst/>
          </a:prstGeom>
          <a:noFill/>
          <a:ln w="9525" cap="flat" cmpd="sng">
            <a:solidFill>
              <a:srgbClr val="E9EEF3"/>
            </a:solidFill>
            <a:prstDash val="solid"/>
            <a:round/>
            <a:headEnd type="none" w="sm" len="sm"/>
            <a:tailEnd type="none" w="sm" len="sm"/>
          </a:ln>
        </p:spPr>
      </p:cxnSp>
      <p:sp>
        <p:nvSpPr>
          <p:cNvPr id="114" name="Google Shape;114;p4"/>
          <p:cNvSpPr/>
          <p:nvPr/>
        </p:nvSpPr>
        <p:spPr>
          <a:xfrm>
            <a:off x="6191250" y="5017706"/>
            <a:ext cx="552600" cy="4383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2F6BFF"/>
              </a:buClr>
              <a:buSzPts val="2550"/>
              <a:buFont typeface="Arial"/>
              <a:buNone/>
            </a:pPr>
            <a:r>
              <a:rPr lang="en-US" sz="2550" b="1" i="0">
                <a:solidFill>
                  <a:srgbClr val="2F6BFF"/>
                </a:solidFill>
                <a:latin typeface="Arial"/>
                <a:ea typeface="Arial"/>
                <a:cs typeface="Arial"/>
                <a:sym typeface="Arial"/>
              </a:rPr>
              <a:t>04</a:t>
            </a:r>
            <a:endParaRPr/>
          </a:p>
        </p:txBody>
      </p:sp>
      <p:sp>
        <p:nvSpPr>
          <p:cNvPr id="115" name="Google Shape;115;p4"/>
          <p:cNvSpPr/>
          <p:nvPr/>
        </p:nvSpPr>
        <p:spPr>
          <a:xfrm>
            <a:off x="6877050" y="5017706"/>
            <a:ext cx="2381400" cy="3240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0B1F33"/>
              </a:buClr>
              <a:buSzPts val="1950"/>
              <a:buFont typeface="Arial"/>
              <a:buNone/>
            </a:pPr>
            <a:r>
              <a:rPr lang="en-US" sz="1950" b="1" i="0">
                <a:solidFill>
                  <a:srgbClr val="0B1F33"/>
                </a:solidFill>
                <a:latin typeface="Arial"/>
                <a:ea typeface="Arial"/>
                <a:cs typeface="Arial"/>
                <a:sym typeface="Arial"/>
              </a:rPr>
              <a:t>Implementar</a:t>
            </a:r>
            <a:endParaRPr/>
          </a:p>
        </p:txBody>
      </p:sp>
      <p:sp>
        <p:nvSpPr>
          <p:cNvPr id="116" name="Google Shape;116;p4"/>
          <p:cNvSpPr/>
          <p:nvPr/>
        </p:nvSpPr>
        <p:spPr>
          <a:xfrm>
            <a:off x="6877050" y="5417756"/>
            <a:ext cx="4381500" cy="6858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5F6B7A"/>
              </a:buClr>
              <a:buSzPts val="1500"/>
              <a:buFont typeface="Arial"/>
              <a:buNone/>
            </a:pPr>
            <a:r>
              <a:rPr lang="en-US" sz="1500" b="0" i="0">
                <a:solidFill>
                  <a:srgbClr val="5F6B7A"/>
                </a:solidFill>
                <a:latin typeface="Arial"/>
                <a:ea typeface="Arial"/>
                <a:cs typeface="Arial"/>
                <a:sym typeface="Arial"/>
              </a:rPr>
              <a:t>Integrar resultados en una web, probarla y validarla con usuarios.</a:t>
            </a:r>
            <a:endParaRPr/>
          </a:p>
        </p:txBody>
      </p:sp>
      <p:cxnSp>
        <p:nvCxnSpPr>
          <p:cNvPr id="117" name="Google Shape;117;p4"/>
          <p:cNvCxnSpPr/>
          <p:nvPr/>
        </p:nvCxnSpPr>
        <p:spPr>
          <a:xfrm>
            <a:off x="6877050" y="6198806"/>
            <a:ext cx="4381500" cy="0"/>
          </a:xfrm>
          <a:prstGeom prst="straightConnector1">
            <a:avLst/>
          </a:prstGeom>
          <a:noFill/>
          <a:ln w="9525" cap="flat" cmpd="sng">
            <a:solidFill>
              <a:srgbClr val="E9EEF3"/>
            </a:solidFill>
            <a:prstDash val="solid"/>
            <a:round/>
            <a:headEnd type="none" w="sm" len="sm"/>
            <a:tailEnd type="none" w="sm" len="sm"/>
          </a:ln>
        </p:spPr>
      </p:cxnSp>
      <p:sp>
        <p:nvSpPr>
          <p:cNvPr id="118" name="Google Shape;118;p4"/>
          <p:cNvSpPr/>
          <p:nvPr/>
        </p:nvSpPr>
        <p:spPr>
          <a:xfrm>
            <a:off x="514350" y="6515100"/>
            <a:ext cx="2476500" cy="17145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5F6B7A"/>
              </a:buClr>
              <a:buSzPts val="975"/>
              <a:buFont typeface="Arial"/>
              <a:buNone/>
            </a:pPr>
            <a:r>
              <a:rPr lang="en-US" sz="975" b="1" i="0">
                <a:solidFill>
                  <a:srgbClr val="5F6B7A"/>
                </a:solidFill>
                <a:latin typeface="Arial"/>
                <a:ea typeface="Arial"/>
                <a:cs typeface="Arial"/>
                <a:sym typeface="Arial"/>
              </a:rPr>
              <a:t>PROYECTO APT · FASE 1</a:t>
            </a:r>
            <a:endParaRPr/>
          </a:p>
        </p:txBody>
      </p:sp>
      <p:sp>
        <p:nvSpPr>
          <p:cNvPr id="119" name="Google Shape;119;p4"/>
          <p:cNvSpPr/>
          <p:nvPr/>
        </p:nvSpPr>
        <p:spPr>
          <a:xfrm>
            <a:off x="11334750" y="6515100"/>
            <a:ext cx="342900" cy="171450"/>
          </a:xfrm>
          <a:prstGeom prst="rect">
            <a:avLst/>
          </a:prstGeom>
          <a:noFill/>
          <a:ln>
            <a:noFill/>
          </a:ln>
        </p:spPr>
        <p:txBody>
          <a:bodyPr spcFirstLastPara="1" wrap="square" lIns="0" tIns="0" rIns="0" bIns="0" anchor="t" anchorCtr="0">
            <a:noAutofit/>
          </a:bodyPr>
          <a:lstStyle/>
          <a:p>
            <a:pPr marL="0" marR="0" lvl="0" indent="0" algn="r" rtl="0">
              <a:lnSpc>
                <a:spcPct val="105000"/>
              </a:lnSpc>
              <a:spcBef>
                <a:spcPts val="0"/>
              </a:spcBef>
              <a:spcAft>
                <a:spcPts val="0"/>
              </a:spcAft>
              <a:buClr>
                <a:srgbClr val="5F6B7A"/>
              </a:buClr>
              <a:buSzPts val="975"/>
              <a:buFont typeface="Arial"/>
              <a:buNone/>
            </a:pPr>
            <a:r>
              <a:rPr lang="en-US" sz="975" b="0" i="0">
                <a:solidFill>
                  <a:srgbClr val="5F6B7A"/>
                </a:solidFill>
                <a:latin typeface="Arial"/>
                <a:ea typeface="Arial"/>
                <a:cs typeface="Arial"/>
                <a:sym typeface="Arial"/>
              </a:rPr>
              <a:t>04</a:t>
            </a:r>
            <a:endParaRPr/>
          </a:p>
        </p:txBody>
      </p:sp>
      <p:sp>
        <p:nvSpPr>
          <p:cNvPr id="120" name="Google Shape;120;p4"/>
          <p:cNvSpPr/>
          <p:nvPr/>
        </p:nvSpPr>
        <p:spPr>
          <a:xfrm>
            <a:off x="729328" y="3153295"/>
            <a:ext cx="4228500" cy="2286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6DCBF4"/>
              </a:buClr>
              <a:buSzPts val="1125"/>
              <a:buFont typeface="Arial"/>
              <a:buNone/>
            </a:pPr>
            <a:r>
              <a:rPr lang="en-US" sz="1525" b="1">
                <a:solidFill>
                  <a:srgbClr val="FF7F6E"/>
                </a:solidFill>
              </a:rPr>
              <a:t>OBJETIVOS ESPECÍFICOS</a:t>
            </a:r>
            <a:endParaRPr sz="1800">
              <a:solidFill>
                <a:srgbClr val="FF7F6E"/>
              </a:solidFill>
            </a:endParaRPr>
          </a:p>
        </p:txBody>
      </p:sp>
      <p:pic>
        <p:nvPicPr>
          <p:cNvPr id="121" name="Google Shape;121;p4"/>
          <p:cNvPicPr preferRelativeResize="0"/>
          <p:nvPr/>
        </p:nvPicPr>
        <p:blipFill>
          <a:blip r:embed="rId3">
            <a:alphaModFix amt="30000"/>
          </a:blip>
          <a:stretch>
            <a:fillRect/>
          </a:stretch>
        </p:blipFill>
        <p:spPr>
          <a:xfrm>
            <a:off x="69875" y="50250"/>
            <a:ext cx="1317358" cy="3238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6"/>
        <p:cNvGrpSpPr/>
        <p:nvPr/>
      </p:nvGrpSpPr>
      <p:grpSpPr>
        <a:xfrm>
          <a:off x="0" y="0"/>
          <a:ext cx="0" cy="0"/>
          <a:chOff x="0" y="0"/>
          <a:chExt cx="0" cy="0"/>
        </a:xfrm>
      </p:grpSpPr>
      <p:sp>
        <p:nvSpPr>
          <p:cNvPr id="127" name="Google Shape;127;p5"/>
          <p:cNvSpPr/>
          <p:nvPr/>
        </p:nvSpPr>
        <p:spPr>
          <a:xfrm>
            <a:off x="514350" y="638175"/>
            <a:ext cx="10668000" cy="6477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0B1F33"/>
              </a:buClr>
              <a:buSzPts val="3600"/>
              <a:buFont typeface="Arial"/>
              <a:buNone/>
            </a:pPr>
            <a:r>
              <a:rPr lang="en-US" sz="3600" b="1">
                <a:solidFill>
                  <a:srgbClr val="0B1F33"/>
                </a:solidFill>
              </a:rPr>
              <a:t>Estado actual del proyecto</a:t>
            </a:r>
            <a:endParaRPr/>
          </a:p>
        </p:txBody>
      </p:sp>
      <p:cxnSp>
        <p:nvCxnSpPr>
          <p:cNvPr id="128" name="Google Shape;128;p5"/>
          <p:cNvCxnSpPr/>
          <p:nvPr/>
        </p:nvCxnSpPr>
        <p:spPr>
          <a:xfrm>
            <a:off x="514350" y="1323975"/>
            <a:ext cx="11163300" cy="0"/>
          </a:xfrm>
          <a:prstGeom prst="straightConnector1">
            <a:avLst/>
          </a:prstGeom>
          <a:noFill/>
          <a:ln w="19050" cap="flat" cmpd="sng">
            <a:solidFill>
              <a:srgbClr val="E9EEF3"/>
            </a:solidFill>
            <a:prstDash val="solid"/>
            <a:round/>
            <a:headEnd type="none" w="sm" len="sm"/>
            <a:tailEnd type="none" w="sm" len="sm"/>
          </a:ln>
        </p:spPr>
      </p:cxnSp>
      <p:sp>
        <p:nvSpPr>
          <p:cNvPr id="129" name="Google Shape;129;p5"/>
          <p:cNvSpPr/>
          <p:nvPr/>
        </p:nvSpPr>
        <p:spPr>
          <a:xfrm>
            <a:off x="11334750" y="342900"/>
            <a:ext cx="342900" cy="209550"/>
          </a:xfrm>
          <a:prstGeom prst="rect">
            <a:avLst/>
          </a:prstGeom>
          <a:noFill/>
          <a:ln>
            <a:noFill/>
          </a:ln>
        </p:spPr>
        <p:txBody>
          <a:bodyPr spcFirstLastPara="1" wrap="square" lIns="0" tIns="0" rIns="0" bIns="0" anchor="t" anchorCtr="0">
            <a:noAutofit/>
          </a:bodyPr>
          <a:lstStyle/>
          <a:p>
            <a:pPr marL="0" marR="0" lvl="0" indent="0" algn="r" rtl="0">
              <a:lnSpc>
                <a:spcPct val="105000"/>
              </a:lnSpc>
              <a:spcBef>
                <a:spcPts val="0"/>
              </a:spcBef>
              <a:spcAft>
                <a:spcPts val="0"/>
              </a:spcAft>
              <a:buClr>
                <a:srgbClr val="5F6B7A"/>
              </a:buClr>
              <a:buSzPts val="1125"/>
              <a:buFont typeface="Arial"/>
              <a:buNone/>
            </a:pPr>
            <a:r>
              <a:rPr lang="en-US" sz="1125" b="0" i="0">
                <a:solidFill>
                  <a:srgbClr val="5F6B7A"/>
                </a:solidFill>
                <a:latin typeface="Arial"/>
                <a:ea typeface="Arial"/>
                <a:cs typeface="Arial"/>
                <a:sym typeface="Arial"/>
              </a:rPr>
              <a:t>05</a:t>
            </a:r>
            <a:endParaRPr/>
          </a:p>
        </p:txBody>
      </p:sp>
      <p:sp>
        <p:nvSpPr>
          <p:cNvPr id="130" name="Google Shape;130;p5"/>
          <p:cNvSpPr/>
          <p:nvPr/>
        </p:nvSpPr>
        <p:spPr>
          <a:xfrm>
            <a:off x="523875" y="1438275"/>
            <a:ext cx="8382000" cy="32385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5F6B7A"/>
              </a:buClr>
              <a:buSzPts val="1500"/>
              <a:buFont typeface="Arial"/>
              <a:buNone/>
            </a:pPr>
            <a:r>
              <a:rPr lang="en-US" sz="1500">
                <a:solidFill>
                  <a:srgbClr val="5F6B7A"/>
                </a:solidFill>
              </a:rPr>
              <a:t>Al día</a:t>
            </a:r>
            <a:r>
              <a:rPr lang="en-US" sz="1500" b="0" i="0">
                <a:solidFill>
                  <a:srgbClr val="5F6B7A"/>
                </a:solidFill>
                <a:latin typeface="Arial"/>
                <a:ea typeface="Arial"/>
                <a:cs typeface="Arial"/>
                <a:sym typeface="Arial"/>
              </a:rPr>
              <a:t> 31/08/2026</a:t>
            </a:r>
            <a:r>
              <a:rPr lang="en-US" sz="1500">
                <a:solidFill>
                  <a:srgbClr val="5F6B7A"/>
                </a:solidFill>
              </a:rPr>
              <a:t> existen avances en la organización del proyecto, la definición del cliente, la definición de herramientas y la selección y tratamiento de los datos</a:t>
            </a:r>
            <a:endParaRPr/>
          </a:p>
        </p:txBody>
      </p:sp>
      <p:cxnSp>
        <p:nvCxnSpPr>
          <p:cNvPr id="131" name="Google Shape;131;p5"/>
          <p:cNvCxnSpPr/>
          <p:nvPr/>
        </p:nvCxnSpPr>
        <p:spPr>
          <a:xfrm>
            <a:off x="2190750" y="2724150"/>
            <a:ext cx="666750" cy="0"/>
          </a:xfrm>
          <a:prstGeom prst="straightConnector1">
            <a:avLst/>
          </a:prstGeom>
          <a:noFill/>
          <a:ln w="28575" cap="flat" cmpd="sng">
            <a:solidFill>
              <a:srgbClr val="B8C2CC"/>
            </a:solidFill>
            <a:prstDash val="solid"/>
            <a:round/>
            <a:headEnd type="none" w="sm" len="sm"/>
            <a:tailEnd type="none" w="sm" len="sm"/>
          </a:ln>
        </p:spPr>
      </p:cxnSp>
      <p:cxnSp>
        <p:nvCxnSpPr>
          <p:cNvPr id="132" name="Google Shape;132;p5"/>
          <p:cNvCxnSpPr/>
          <p:nvPr/>
        </p:nvCxnSpPr>
        <p:spPr>
          <a:xfrm>
            <a:off x="4457700" y="2724150"/>
            <a:ext cx="666750" cy="0"/>
          </a:xfrm>
          <a:prstGeom prst="straightConnector1">
            <a:avLst/>
          </a:prstGeom>
          <a:noFill/>
          <a:ln w="28575" cap="flat" cmpd="sng">
            <a:solidFill>
              <a:srgbClr val="B8C2CC"/>
            </a:solidFill>
            <a:prstDash val="solid"/>
            <a:round/>
            <a:headEnd type="none" w="sm" len="sm"/>
            <a:tailEnd type="none" w="sm" len="sm"/>
          </a:ln>
        </p:spPr>
      </p:cxnSp>
      <p:cxnSp>
        <p:nvCxnSpPr>
          <p:cNvPr id="133" name="Google Shape;133;p5"/>
          <p:cNvCxnSpPr/>
          <p:nvPr/>
        </p:nvCxnSpPr>
        <p:spPr>
          <a:xfrm>
            <a:off x="6715125" y="2724150"/>
            <a:ext cx="666750" cy="0"/>
          </a:xfrm>
          <a:prstGeom prst="straightConnector1">
            <a:avLst/>
          </a:prstGeom>
          <a:noFill/>
          <a:ln w="28575" cap="flat" cmpd="sng">
            <a:solidFill>
              <a:srgbClr val="B8C2CC"/>
            </a:solidFill>
            <a:prstDash val="solid"/>
            <a:round/>
            <a:headEnd type="none" w="sm" len="sm"/>
            <a:tailEnd type="none" w="sm" len="sm"/>
          </a:ln>
        </p:spPr>
      </p:cxnSp>
      <p:sp>
        <p:nvSpPr>
          <p:cNvPr id="134" name="Google Shape;134;p5"/>
          <p:cNvSpPr/>
          <p:nvPr/>
        </p:nvSpPr>
        <p:spPr>
          <a:xfrm>
            <a:off x="2590800" y="2647950"/>
            <a:ext cx="171450" cy="171450"/>
          </a:xfrm>
          <a:prstGeom prst="chevron">
            <a:avLst>
              <a:gd name="adj" fmla="val 50000"/>
            </a:avLst>
          </a:prstGeom>
          <a:solidFill>
            <a:srgbClr val="2F6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5"/>
          <p:cNvSpPr/>
          <p:nvPr/>
        </p:nvSpPr>
        <p:spPr>
          <a:xfrm>
            <a:off x="4857750" y="2647950"/>
            <a:ext cx="171450" cy="171450"/>
          </a:xfrm>
          <a:prstGeom prst="chevron">
            <a:avLst>
              <a:gd name="adj" fmla="val 50000"/>
            </a:avLst>
          </a:prstGeom>
          <a:solidFill>
            <a:srgbClr val="2F6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5"/>
          <p:cNvSpPr/>
          <p:nvPr/>
        </p:nvSpPr>
        <p:spPr>
          <a:xfrm>
            <a:off x="7115175" y="2647950"/>
            <a:ext cx="171450" cy="171450"/>
          </a:xfrm>
          <a:prstGeom prst="chevron">
            <a:avLst>
              <a:gd name="adj" fmla="val 50000"/>
            </a:avLst>
          </a:prstGeom>
          <a:solidFill>
            <a:srgbClr val="2F6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5"/>
          <p:cNvSpPr/>
          <p:nvPr/>
        </p:nvSpPr>
        <p:spPr>
          <a:xfrm>
            <a:off x="523875" y="2190750"/>
            <a:ext cx="1666875" cy="1066800"/>
          </a:xfrm>
          <a:prstGeom prst="rect">
            <a:avLst/>
          </a:prstGeom>
          <a:solidFill>
            <a:srgbClr val="E6F4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5"/>
          <p:cNvSpPr/>
          <p:nvPr/>
        </p:nvSpPr>
        <p:spPr>
          <a:xfrm>
            <a:off x="695325" y="2343150"/>
            <a:ext cx="1333500" cy="2667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2F6BFF"/>
              </a:buClr>
              <a:buSzPts val="1800"/>
              <a:buFont typeface="Arial"/>
              <a:buNone/>
            </a:pPr>
            <a:r>
              <a:rPr lang="en-US" sz="1800" b="1" i="0">
                <a:solidFill>
                  <a:srgbClr val="2F6BFF"/>
                </a:solidFill>
                <a:latin typeface="Arial"/>
                <a:ea typeface="Arial"/>
                <a:cs typeface="Arial"/>
                <a:sym typeface="Arial"/>
              </a:rPr>
              <a:t>Fuentes</a:t>
            </a:r>
            <a:endParaRPr/>
          </a:p>
        </p:txBody>
      </p:sp>
      <p:sp>
        <p:nvSpPr>
          <p:cNvPr id="139" name="Google Shape;139;p5"/>
          <p:cNvSpPr/>
          <p:nvPr/>
        </p:nvSpPr>
        <p:spPr>
          <a:xfrm>
            <a:off x="695325" y="2686050"/>
            <a:ext cx="1381125" cy="47625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142033"/>
              </a:buClr>
              <a:buSzPts val="1275"/>
              <a:buFont typeface="Arial"/>
              <a:buNone/>
            </a:pPr>
            <a:r>
              <a:rPr lang="en-US" sz="1200"/>
              <a:t>DEIS + Censo 2024 + SEG (INE + Minsal)</a:t>
            </a:r>
            <a:endParaRPr sz="1200"/>
          </a:p>
        </p:txBody>
      </p:sp>
      <p:sp>
        <p:nvSpPr>
          <p:cNvPr id="140" name="Google Shape;140;p5"/>
          <p:cNvSpPr/>
          <p:nvPr/>
        </p:nvSpPr>
        <p:spPr>
          <a:xfrm>
            <a:off x="2857500" y="2190750"/>
            <a:ext cx="1666875" cy="1066800"/>
          </a:xfrm>
          <a:prstGeom prst="rect">
            <a:avLst/>
          </a:prstGeom>
          <a:solidFill>
            <a:srgbClr val="F0F5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5"/>
          <p:cNvSpPr/>
          <p:nvPr/>
        </p:nvSpPr>
        <p:spPr>
          <a:xfrm>
            <a:off x="3028950" y="2343150"/>
            <a:ext cx="1333500" cy="2667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0B1F33"/>
              </a:buClr>
              <a:buSzPts val="1800"/>
              <a:buFont typeface="Arial"/>
              <a:buNone/>
            </a:pPr>
            <a:r>
              <a:rPr lang="en-US" sz="1800" b="1" i="0">
                <a:solidFill>
                  <a:srgbClr val="0B1F33"/>
                </a:solidFill>
                <a:latin typeface="Arial"/>
                <a:ea typeface="Arial"/>
                <a:cs typeface="Arial"/>
                <a:sym typeface="Arial"/>
              </a:rPr>
              <a:t>Datos</a:t>
            </a:r>
            <a:endParaRPr/>
          </a:p>
        </p:txBody>
      </p:sp>
      <p:sp>
        <p:nvSpPr>
          <p:cNvPr id="142" name="Google Shape;142;p5"/>
          <p:cNvSpPr/>
          <p:nvPr/>
        </p:nvSpPr>
        <p:spPr>
          <a:xfrm>
            <a:off x="3028950" y="2686050"/>
            <a:ext cx="1381125" cy="47625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142033"/>
              </a:buClr>
              <a:buSzPts val="1275"/>
              <a:buFont typeface="Arial"/>
              <a:buNone/>
            </a:pPr>
            <a:r>
              <a:rPr lang="en-US" sz="1200" b="0" i="0">
                <a:solidFill>
                  <a:srgbClr val="142033"/>
                </a:solidFill>
                <a:latin typeface="Arial"/>
                <a:ea typeface="Arial"/>
                <a:cs typeface="Arial"/>
                <a:sym typeface="Arial"/>
              </a:rPr>
              <a:t>Pipeline + EDA</a:t>
            </a:r>
            <a:endParaRPr sz="1200"/>
          </a:p>
          <a:p>
            <a:pPr marL="0" marR="0" lvl="0" indent="0" algn="l" rtl="0">
              <a:lnSpc>
                <a:spcPct val="105000"/>
              </a:lnSpc>
              <a:spcBef>
                <a:spcPts val="0"/>
              </a:spcBef>
              <a:spcAft>
                <a:spcPts val="0"/>
              </a:spcAft>
              <a:buClr>
                <a:srgbClr val="142033"/>
              </a:buClr>
              <a:buSzPts val="1275"/>
              <a:buFont typeface="Arial"/>
              <a:buNone/>
            </a:pPr>
            <a:r>
              <a:rPr lang="en-US" sz="1200" b="0" i="0">
                <a:solidFill>
                  <a:srgbClr val="142033"/>
                </a:solidFill>
                <a:latin typeface="Arial"/>
                <a:ea typeface="Arial"/>
                <a:cs typeface="Arial"/>
                <a:sym typeface="Arial"/>
              </a:rPr>
              <a:t>comprobados</a:t>
            </a:r>
            <a:endParaRPr sz="1200"/>
          </a:p>
        </p:txBody>
      </p:sp>
      <p:sp>
        <p:nvSpPr>
          <p:cNvPr id="143" name="Google Shape;143;p5"/>
          <p:cNvSpPr/>
          <p:nvPr/>
        </p:nvSpPr>
        <p:spPr>
          <a:xfrm>
            <a:off x="5124450" y="2190750"/>
            <a:ext cx="1666875" cy="1066800"/>
          </a:xfrm>
          <a:prstGeom prst="rect">
            <a:avLst/>
          </a:prstGeom>
          <a:solidFill>
            <a:srgbClr val="E5F7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5"/>
          <p:cNvSpPr/>
          <p:nvPr/>
        </p:nvSpPr>
        <p:spPr>
          <a:xfrm>
            <a:off x="5295900" y="2343150"/>
            <a:ext cx="1333500" cy="2667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18A999"/>
              </a:buClr>
              <a:buSzPts val="1800"/>
              <a:buFont typeface="Arial"/>
              <a:buNone/>
            </a:pPr>
            <a:r>
              <a:rPr lang="en-US" sz="1800" b="1" i="0">
                <a:solidFill>
                  <a:srgbClr val="18A999"/>
                </a:solidFill>
                <a:latin typeface="Arial"/>
                <a:ea typeface="Arial"/>
                <a:cs typeface="Arial"/>
                <a:sym typeface="Arial"/>
              </a:rPr>
              <a:t>Analítica</a:t>
            </a:r>
            <a:endParaRPr/>
          </a:p>
        </p:txBody>
      </p:sp>
      <p:sp>
        <p:nvSpPr>
          <p:cNvPr id="145" name="Google Shape;145;p5"/>
          <p:cNvSpPr/>
          <p:nvPr/>
        </p:nvSpPr>
        <p:spPr>
          <a:xfrm>
            <a:off x="5295900" y="2686050"/>
            <a:ext cx="1419300" cy="4764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142033"/>
              </a:buClr>
              <a:buSzPts val="1275"/>
              <a:buFont typeface="Arial"/>
              <a:buNone/>
            </a:pPr>
            <a:r>
              <a:rPr lang="en-US" sz="1200" b="0" i="0">
                <a:solidFill>
                  <a:srgbClr val="142033"/>
                </a:solidFill>
                <a:latin typeface="Arial"/>
                <a:ea typeface="Arial"/>
                <a:cs typeface="Arial"/>
                <a:sym typeface="Arial"/>
              </a:rPr>
              <a:t>Modelos e isócronas</a:t>
            </a:r>
            <a:endParaRPr sz="1200"/>
          </a:p>
          <a:p>
            <a:pPr marL="0" marR="0" lvl="0" indent="0" algn="l" rtl="0">
              <a:lnSpc>
                <a:spcPct val="105000"/>
              </a:lnSpc>
              <a:spcBef>
                <a:spcPts val="0"/>
              </a:spcBef>
              <a:spcAft>
                <a:spcPts val="0"/>
              </a:spcAft>
              <a:buClr>
                <a:srgbClr val="142033"/>
              </a:buClr>
              <a:buSzPts val="1275"/>
              <a:buFont typeface="Arial"/>
              <a:buNone/>
            </a:pPr>
            <a:r>
              <a:rPr lang="en-US" sz="1200" b="0" i="0">
                <a:solidFill>
                  <a:srgbClr val="142033"/>
                </a:solidFill>
                <a:latin typeface="Arial"/>
                <a:ea typeface="Arial"/>
                <a:cs typeface="Arial"/>
                <a:sym typeface="Arial"/>
              </a:rPr>
              <a:t>por hacer</a:t>
            </a:r>
            <a:endParaRPr sz="1200"/>
          </a:p>
        </p:txBody>
      </p:sp>
      <p:sp>
        <p:nvSpPr>
          <p:cNvPr id="146" name="Google Shape;146;p5"/>
          <p:cNvSpPr/>
          <p:nvPr/>
        </p:nvSpPr>
        <p:spPr>
          <a:xfrm>
            <a:off x="7381875" y="2190750"/>
            <a:ext cx="1666875" cy="1066800"/>
          </a:xfrm>
          <a:prstGeom prst="rect">
            <a:avLst/>
          </a:prstGeom>
          <a:solidFill>
            <a:srgbClr val="FFF0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5"/>
          <p:cNvSpPr/>
          <p:nvPr/>
        </p:nvSpPr>
        <p:spPr>
          <a:xfrm>
            <a:off x="7553325" y="2343150"/>
            <a:ext cx="1333500" cy="2667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FF7F6E"/>
              </a:buClr>
              <a:buSzPts val="1800"/>
              <a:buFont typeface="Arial"/>
              <a:buNone/>
            </a:pPr>
            <a:r>
              <a:rPr lang="en-US" sz="1800" b="1" i="0">
                <a:solidFill>
                  <a:srgbClr val="FF7F6E"/>
                </a:solidFill>
                <a:latin typeface="Arial"/>
                <a:ea typeface="Arial"/>
                <a:cs typeface="Arial"/>
                <a:sym typeface="Arial"/>
              </a:rPr>
              <a:t>Producto</a:t>
            </a:r>
            <a:endParaRPr/>
          </a:p>
        </p:txBody>
      </p:sp>
      <p:sp>
        <p:nvSpPr>
          <p:cNvPr id="148" name="Google Shape;148;p5"/>
          <p:cNvSpPr/>
          <p:nvPr/>
        </p:nvSpPr>
        <p:spPr>
          <a:xfrm>
            <a:off x="7581863" y="2676450"/>
            <a:ext cx="1381200" cy="4764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142033"/>
              </a:buClr>
              <a:buSzPts val="1275"/>
              <a:buFont typeface="Arial"/>
              <a:buNone/>
            </a:pPr>
            <a:r>
              <a:rPr lang="en-US" sz="1200" b="0" i="0">
                <a:solidFill>
                  <a:srgbClr val="142033"/>
                </a:solidFill>
                <a:latin typeface="Arial"/>
                <a:ea typeface="Arial"/>
                <a:cs typeface="Arial"/>
                <a:sym typeface="Arial"/>
              </a:rPr>
              <a:t>API + web + BD</a:t>
            </a:r>
            <a:endParaRPr sz="1200"/>
          </a:p>
          <a:p>
            <a:pPr marL="0" marR="0" lvl="0" indent="0" algn="l" rtl="0">
              <a:lnSpc>
                <a:spcPct val="105000"/>
              </a:lnSpc>
              <a:spcBef>
                <a:spcPts val="0"/>
              </a:spcBef>
              <a:spcAft>
                <a:spcPts val="0"/>
              </a:spcAft>
              <a:buClr>
                <a:srgbClr val="142033"/>
              </a:buClr>
              <a:buSzPts val="1275"/>
              <a:buFont typeface="Arial"/>
              <a:buNone/>
            </a:pPr>
            <a:r>
              <a:rPr lang="en-US" sz="1200" b="0" i="0">
                <a:solidFill>
                  <a:srgbClr val="142033"/>
                </a:solidFill>
                <a:latin typeface="Arial"/>
                <a:ea typeface="Arial"/>
                <a:cs typeface="Arial"/>
                <a:sym typeface="Arial"/>
              </a:rPr>
              <a:t>por hacer</a:t>
            </a:r>
            <a:endParaRPr sz="1200"/>
          </a:p>
        </p:txBody>
      </p:sp>
      <p:sp>
        <p:nvSpPr>
          <p:cNvPr id="149" name="Google Shape;149;p5"/>
          <p:cNvSpPr/>
          <p:nvPr/>
        </p:nvSpPr>
        <p:spPr>
          <a:xfrm>
            <a:off x="523875" y="3667125"/>
            <a:ext cx="2667000" cy="20955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5F6B7A"/>
              </a:buClr>
              <a:buSzPts val="1125"/>
              <a:buFont typeface="Arial"/>
              <a:buNone/>
            </a:pPr>
            <a:r>
              <a:rPr lang="en-US" sz="1125" b="1" i="0">
                <a:solidFill>
                  <a:srgbClr val="5F6B7A"/>
                </a:solidFill>
                <a:latin typeface="Arial"/>
                <a:ea typeface="Arial"/>
                <a:cs typeface="Arial"/>
                <a:sym typeface="Arial"/>
              </a:rPr>
              <a:t>HERRAMIENTAS POR ETAPA</a:t>
            </a:r>
            <a:endParaRPr/>
          </a:p>
        </p:txBody>
      </p:sp>
      <p:sp>
        <p:nvSpPr>
          <p:cNvPr id="150" name="Google Shape;150;p5"/>
          <p:cNvSpPr/>
          <p:nvPr/>
        </p:nvSpPr>
        <p:spPr>
          <a:xfrm>
            <a:off x="523875" y="4048125"/>
            <a:ext cx="95250" cy="438150"/>
          </a:xfrm>
          <a:prstGeom prst="rect">
            <a:avLst/>
          </a:prstGeom>
          <a:solidFill>
            <a:srgbClr val="2F6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5"/>
          <p:cNvSpPr/>
          <p:nvPr/>
        </p:nvSpPr>
        <p:spPr>
          <a:xfrm>
            <a:off x="800100" y="4048125"/>
            <a:ext cx="1619250" cy="2667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0B1F33"/>
              </a:buClr>
              <a:buSzPts val="1575"/>
              <a:buFont typeface="Arial"/>
              <a:buNone/>
            </a:pPr>
            <a:r>
              <a:rPr lang="en-US" sz="1575" b="1" i="0">
                <a:solidFill>
                  <a:srgbClr val="0B1F33"/>
                </a:solidFill>
                <a:latin typeface="Arial"/>
                <a:ea typeface="Arial"/>
                <a:cs typeface="Arial"/>
                <a:sym typeface="Arial"/>
              </a:rPr>
              <a:t>Actual</a:t>
            </a:r>
            <a:endParaRPr/>
          </a:p>
        </p:txBody>
      </p:sp>
      <p:sp>
        <p:nvSpPr>
          <p:cNvPr id="152" name="Google Shape;152;p5"/>
          <p:cNvSpPr/>
          <p:nvPr/>
        </p:nvSpPr>
        <p:spPr>
          <a:xfrm>
            <a:off x="2457450" y="4067175"/>
            <a:ext cx="6000750" cy="36195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5F6B7A"/>
              </a:buClr>
              <a:buSzPts val="1425"/>
              <a:buFont typeface="Arial"/>
              <a:buNone/>
            </a:pPr>
            <a:r>
              <a:rPr lang="en-US" sz="1425" b="0" i="0">
                <a:solidFill>
                  <a:srgbClr val="5F6B7A"/>
                </a:solidFill>
                <a:latin typeface="Arial"/>
                <a:ea typeface="Arial"/>
                <a:cs typeface="Arial"/>
                <a:sym typeface="Arial"/>
              </a:rPr>
              <a:t>Python · pandas · GeoPandas · scripts y pruebas pytest</a:t>
            </a:r>
            <a:endParaRPr/>
          </a:p>
        </p:txBody>
      </p:sp>
      <p:sp>
        <p:nvSpPr>
          <p:cNvPr id="153" name="Google Shape;153;p5"/>
          <p:cNvSpPr/>
          <p:nvPr/>
        </p:nvSpPr>
        <p:spPr>
          <a:xfrm>
            <a:off x="523875" y="4686300"/>
            <a:ext cx="95250" cy="438150"/>
          </a:xfrm>
          <a:prstGeom prst="rect">
            <a:avLst/>
          </a:prstGeom>
          <a:solidFill>
            <a:srgbClr val="18A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5"/>
          <p:cNvSpPr/>
          <p:nvPr/>
        </p:nvSpPr>
        <p:spPr>
          <a:xfrm>
            <a:off x="800100" y="4686300"/>
            <a:ext cx="1619250" cy="2667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0B1F33"/>
              </a:buClr>
              <a:buSzPts val="1575"/>
              <a:buFont typeface="Arial"/>
              <a:buNone/>
            </a:pPr>
            <a:r>
              <a:rPr lang="en-US" sz="1575" b="1" i="0">
                <a:solidFill>
                  <a:srgbClr val="0B1F33"/>
                </a:solidFill>
                <a:latin typeface="Arial"/>
                <a:ea typeface="Arial"/>
                <a:cs typeface="Arial"/>
                <a:sym typeface="Arial"/>
              </a:rPr>
              <a:t>Analítica</a:t>
            </a:r>
            <a:endParaRPr/>
          </a:p>
        </p:txBody>
      </p:sp>
      <p:sp>
        <p:nvSpPr>
          <p:cNvPr id="155" name="Google Shape;155;p5"/>
          <p:cNvSpPr/>
          <p:nvPr/>
        </p:nvSpPr>
        <p:spPr>
          <a:xfrm>
            <a:off x="2457450" y="4705350"/>
            <a:ext cx="6000750" cy="36195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5F6B7A"/>
              </a:buClr>
              <a:buSzPts val="1425"/>
              <a:buFont typeface="Arial"/>
              <a:buNone/>
            </a:pPr>
            <a:r>
              <a:rPr lang="en-US" sz="1425" b="0" i="0">
                <a:solidFill>
                  <a:srgbClr val="5F6B7A"/>
                </a:solidFill>
                <a:latin typeface="Arial"/>
                <a:ea typeface="Arial"/>
                <a:cs typeface="Arial"/>
                <a:sym typeface="Arial"/>
              </a:rPr>
              <a:t>statsmodels / scikit-learn · OSM · GTFS</a:t>
            </a:r>
            <a:endParaRPr/>
          </a:p>
        </p:txBody>
      </p:sp>
      <p:sp>
        <p:nvSpPr>
          <p:cNvPr id="156" name="Google Shape;156;p5"/>
          <p:cNvSpPr/>
          <p:nvPr/>
        </p:nvSpPr>
        <p:spPr>
          <a:xfrm>
            <a:off x="523875" y="5324475"/>
            <a:ext cx="95250" cy="438150"/>
          </a:xfrm>
          <a:prstGeom prst="rect">
            <a:avLst/>
          </a:prstGeom>
          <a:solidFill>
            <a:srgbClr val="FF7F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5"/>
          <p:cNvSpPr/>
          <p:nvPr/>
        </p:nvSpPr>
        <p:spPr>
          <a:xfrm>
            <a:off x="800100" y="5324475"/>
            <a:ext cx="1619250" cy="2667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0B1F33"/>
              </a:buClr>
              <a:buSzPts val="1575"/>
              <a:buFont typeface="Arial"/>
              <a:buNone/>
            </a:pPr>
            <a:r>
              <a:rPr lang="en-US" sz="1575" b="1" i="0">
                <a:solidFill>
                  <a:srgbClr val="0B1F33"/>
                </a:solidFill>
                <a:latin typeface="Arial"/>
                <a:ea typeface="Arial"/>
                <a:cs typeface="Arial"/>
                <a:sym typeface="Arial"/>
              </a:rPr>
              <a:t>Producto</a:t>
            </a:r>
            <a:endParaRPr/>
          </a:p>
        </p:txBody>
      </p:sp>
      <p:sp>
        <p:nvSpPr>
          <p:cNvPr id="158" name="Google Shape;158;p5"/>
          <p:cNvSpPr/>
          <p:nvPr/>
        </p:nvSpPr>
        <p:spPr>
          <a:xfrm>
            <a:off x="2457450" y="5343525"/>
            <a:ext cx="6000750" cy="36195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5F6B7A"/>
              </a:buClr>
              <a:buSzPts val="1425"/>
              <a:buFont typeface="Arial"/>
              <a:buNone/>
            </a:pPr>
            <a:r>
              <a:rPr lang="en-US" sz="1425" b="0" i="0">
                <a:solidFill>
                  <a:srgbClr val="5F6B7A"/>
                </a:solidFill>
                <a:latin typeface="Arial"/>
                <a:ea typeface="Arial"/>
                <a:cs typeface="Arial"/>
                <a:sym typeface="Arial"/>
              </a:rPr>
              <a:t>FastAPI · </a:t>
            </a:r>
            <a:r>
              <a:rPr lang="en-US" sz="1425">
                <a:solidFill>
                  <a:srgbClr val="5F6B7A"/>
                </a:solidFill>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React </a:t>
            </a:r>
            <a:r>
              <a:rPr lang="en-US" sz="1425" b="0" i="0">
                <a:solidFill>
                  <a:srgbClr val="5F6B7A"/>
                </a:solidFill>
                <a:latin typeface="Arial"/>
                <a:ea typeface="Arial"/>
                <a:cs typeface="Arial"/>
                <a:sym typeface="Arial"/>
              </a:rPr>
              <a:t>· PostgreSQL/PostGIS · Docker</a:t>
            </a:r>
            <a:endParaRPr/>
          </a:p>
        </p:txBody>
      </p:sp>
      <p:sp>
        <p:nvSpPr>
          <p:cNvPr id="159" name="Google Shape;159;p5"/>
          <p:cNvSpPr/>
          <p:nvPr/>
        </p:nvSpPr>
        <p:spPr>
          <a:xfrm>
            <a:off x="9258300" y="1905000"/>
            <a:ext cx="2419350" cy="3857625"/>
          </a:xfrm>
          <a:prstGeom prst="rect">
            <a:avLst/>
          </a:prstGeom>
          <a:solidFill>
            <a:srgbClr val="0B1F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5"/>
          <p:cNvSpPr/>
          <p:nvPr/>
        </p:nvSpPr>
        <p:spPr>
          <a:xfrm>
            <a:off x="9486900" y="2133600"/>
            <a:ext cx="1952625" cy="2286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6DCBF4"/>
              </a:buClr>
              <a:buSzPts val="1125"/>
              <a:buFont typeface="Arial"/>
              <a:buNone/>
            </a:pPr>
            <a:r>
              <a:rPr lang="en-US" sz="1125" b="1" i="0">
                <a:solidFill>
                  <a:srgbClr val="6DCBF4"/>
                </a:solidFill>
                <a:latin typeface="Arial"/>
                <a:ea typeface="Arial"/>
                <a:cs typeface="Arial"/>
                <a:sym typeface="Arial"/>
              </a:rPr>
              <a:t>BRECHAS PRIORITARIAS</a:t>
            </a:r>
            <a:endParaRPr/>
          </a:p>
        </p:txBody>
      </p:sp>
      <p:sp>
        <p:nvSpPr>
          <p:cNvPr id="161" name="Google Shape;161;p5"/>
          <p:cNvSpPr/>
          <p:nvPr/>
        </p:nvSpPr>
        <p:spPr>
          <a:xfrm>
            <a:off x="9486900" y="2609850"/>
            <a:ext cx="876300" cy="17145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6DCBF4"/>
              </a:buClr>
              <a:buSzPts val="975"/>
              <a:buFont typeface="Arial"/>
              <a:buNone/>
            </a:pPr>
            <a:r>
              <a:rPr lang="en-US" sz="975" b="1" i="0">
                <a:solidFill>
                  <a:srgbClr val="6DCBF4"/>
                </a:solidFill>
                <a:latin typeface="Arial"/>
                <a:ea typeface="Arial"/>
                <a:cs typeface="Arial"/>
                <a:sym typeface="Arial"/>
              </a:rPr>
              <a:t>CALIDAD</a:t>
            </a:r>
            <a:endParaRPr/>
          </a:p>
        </p:txBody>
      </p:sp>
      <p:sp>
        <p:nvSpPr>
          <p:cNvPr id="162" name="Google Shape;162;p5"/>
          <p:cNvSpPr/>
          <p:nvPr/>
        </p:nvSpPr>
        <p:spPr>
          <a:xfrm>
            <a:off x="9486900" y="2790825"/>
            <a:ext cx="1952625" cy="2286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FFFFFF"/>
              </a:buClr>
              <a:buSzPts val="1275"/>
              <a:buFont typeface="Arial"/>
              <a:buNone/>
            </a:pPr>
            <a:r>
              <a:rPr lang="en-US" sz="1275" b="0" i="0">
                <a:solidFill>
                  <a:srgbClr val="FFFFFF"/>
                </a:solidFill>
                <a:latin typeface="Arial"/>
                <a:ea typeface="Arial"/>
                <a:cs typeface="Arial"/>
                <a:sym typeface="Arial"/>
              </a:rPr>
              <a:t>Ejecutar tests</a:t>
            </a:r>
            <a:endParaRPr/>
          </a:p>
        </p:txBody>
      </p:sp>
      <p:sp>
        <p:nvSpPr>
          <p:cNvPr id="163" name="Google Shape;163;p5"/>
          <p:cNvSpPr/>
          <p:nvPr/>
        </p:nvSpPr>
        <p:spPr>
          <a:xfrm>
            <a:off x="9486900" y="3095625"/>
            <a:ext cx="876300" cy="17145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6DCBF4"/>
              </a:buClr>
              <a:buSzPts val="975"/>
              <a:buFont typeface="Arial"/>
              <a:buNone/>
            </a:pPr>
            <a:r>
              <a:rPr lang="en-US" sz="975" b="1" i="0">
                <a:solidFill>
                  <a:srgbClr val="6DCBF4"/>
                </a:solidFill>
                <a:latin typeface="Arial"/>
                <a:ea typeface="Arial"/>
                <a:cs typeface="Arial"/>
                <a:sym typeface="Arial"/>
              </a:rPr>
              <a:t>DATOS</a:t>
            </a:r>
            <a:endParaRPr/>
          </a:p>
        </p:txBody>
      </p:sp>
      <p:sp>
        <p:nvSpPr>
          <p:cNvPr id="164" name="Google Shape;164;p5"/>
          <p:cNvSpPr/>
          <p:nvPr/>
        </p:nvSpPr>
        <p:spPr>
          <a:xfrm>
            <a:off x="9486900" y="3276600"/>
            <a:ext cx="1952625" cy="2286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FFFFFF"/>
              </a:buClr>
              <a:buSzPts val="1275"/>
              <a:buFont typeface="Arial"/>
              <a:buNone/>
            </a:pPr>
            <a:r>
              <a:rPr lang="en-US" sz="1275" b="0" i="0">
                <a:solidFill>
                  <a:srgbClr val="FFFFFF"/>
                </a:solidFill>
                <a:latin typeface="Arial"/>
                <a:ea typeface="Arial"/>
                <a:cs typeface="Arial"/>
                <a:sym typeface="Arial"/>
              </a:rPr>
              <a:t>Alinear pipeline</a:t>
            </a:r>
            <a:endParaRPr/>
          </a:p>
        </p:txBody>
      </p:sp>
      <p:sp>
        <p:nvSpPr>
          <p:cNvPr id="165" name="Google Shape;165;p5"/>
          <p:cNvSpPr/>
          <p:nvPr/>
        </p:nvSpPr>
        <p:spPr>
          <a:xfrm>
            <a:off x="9486900" y="3581400"/>
            <a:ext cx="876300" cy="17145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6DCBF4"/>
              </a:buClr>
              <a:buSzPts val="975"/>
              <a:buFont typeface="Arial"/>
              <a:buNone/>
            </a:pPr>
            <a:r>
              <a:rPr lang="en-US" sz="975" b="1" i="0">
                <a:solidFill>
                  <a:srgbClr val="6DCBF4"/>
                </a:solidFill>
                <a:latin typeface="Arial"/>
                <a:ea typeface="Arial"/>
                <a:cs typeface="Arial"/>
                <a:sym typeface="Arial"/>
              </a:rPr>
              <a:t>MODELO</a:t>
            </a:r>
            <a:endParaRPr/>
          </a:p>
        </p:txBody>
      </p:sp>
      <p:sp>
        <p:nvSpPr>
          <p:cNvPr id="166" name="Google Shape;166;p5"/>
          <p:cNvSpPr/>
          <p:nvPr/>
        </p:nvSpPr>
        <p:spPr>
          <a:xfrm>
            <a:off x="9486900" y="3762375"/>
            <a:ext cx="1952625" cy="2286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FFFFFF"/>
              </a:buClr>
              <a:buSzPts val="1275"/>
              <a:buFont typeface="Arial"/>
              <a:buNone/>
            </a:pPr>
            <a:r>
              <a:rPr lang="en-US" sz="1275" b="0" i="0">
                <a:solidFill>
                  <a:srgbClr val="FFFFFF"/>
                </a:solidFill>
                <a:latin typeface="Arial"/>
                <a:ea typeface="Arial"/>
                <a:cs typeface="Arial"/>
                <a:sym typeface="Arial"/>
              </a:rPr>
              <a:t>Dataset + baseline</a:t>
            </a:r>
            <a:endParaRPr/>
          </a:p>
        </p:txBody>
      </p:sp>
      <p:sp>
        <p:nvSpPr>
          <p:cNvPr id="167" name="Google Shape;167;p5"/>
          <p:cNvSpPr/>
          <p:nvPr/>
        </p:nvSpPr>
        <p:spPr>
          <a:xfrm>
            <a:off x="9486900" y="4067175"/>
            <a:ext cx="876300" cy="17145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6DCBF4"/>
              </a:buClr>
              <a:buSzPts val="975"/>
              <a:buFont typeface="Arial"/>
              <a:buNone/>
            </a:pPr>
            <a:r>
              <a:rPr lang="en-US" sz="975" b="1" i="0">
                <a:solidFill>
                  <a:srgbClr val="6DCBF4"/>
                </a:solidFill>
                <a:latin typeface="Arial"/>
                <a:ea typeface="Arial"/>
                <a:cs typeface="Arial"/>
                <a:sym typeface="Arial"/>
              </a:rPr>
              <a:t>TERRITORIO</a:t>
            </a:r>
            <a:endParaRPr/>
          </a:p>
        </p:txBody>
      </p:sp>
      <p:sp>
        <p:nvSpPr>
          <p:cNvPr id="168" name="Google Shape;168;p5"/>
          <p:cNvSpPr/>
          <p:nvPr/>
        </p:nvSpPr>
        <p:spPr>
          <a:xfrm>
            <a:off x="9486900" y="4248150"/>
            <a:ext cx="1952625" cy="2286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FFFFFF"/>
              </a:buClr>
              <a:buSzPts val="1275"/>
              <a:buFont typeface="Arial"/>
              <a:buNone/>
            </a:pPr>
            <a:r>
              <a:rPr lang="en-US" sz="1275" b="0" i="0">
                <a:solidFill>
                  <a:srgbClr val="FFFFFF"/>
                </a:solidFill>
                <a:latin typeface="Arial"/>
                <a:ea typeface="Arial"/>
                <a:cs typeface="Arial"/>
                <a:sym typeface="Arial"/>
              </a:rPr>
              <a:t>Cobertura MVP</a:t>
            </a:r>
            <a:endParaRPr/>
          </a:p>
        </p:txBody>
      </p:sp>
      <p:sp>
        <p:nvSpPr>
          <p:cNvPr id="169" name="Google Shape;169;p5"/>
          <p:cNvSpPr/>
          <p:nvPr/>
        </p:nvSpPr>
        <p:spPr>
          <a:xfrm>
            <a:off x="9486900" y="4552950"/>
            <a:ext cx="876300" cy="17145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6DCBF4"/>
              </a:buClr>
              <a:buSzPts val="975"/>
              <a:buFont typeface="Arial"/>
              <a:buNone/>
            </a:pPr>
            <a:r>
              <a:rPr lang="en-US" sz="975" b="1" i="0">
                <a:solidFill>
                  <a:srgbClr val="6DCBF4"/>
                </a:solidFill>
                <a:latin typeface="Arial"/>
                <a:ea typeface="Arial"/>
                <a:cs typeface="Arial"/>
                <a:sym typeface="Arial"/>
              </a:rPr>
              <a:t>USUARIO</a:t>
            </a:r>
            <a:endParaRPr/>
          </a:p>
        </p:txBody>
      </p:sp>
      <p:sp>
        <p:nvSpPr>
          <p:cNvPr id="170" name="Google Shape;170;p5"/>
          <p:cNvSpPr/>
          <p:nvPr/>
        </p:nvSpPr>
        <p:spPr>
          <a:xfrm>
            <a:off x="9486900" y="4733925"/>
            <a:ext cx="1952625" cy="2286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FFFFFF"/>
              </a:buClr>
              <a:buSzPts val="1275"/>
              <a:buFont typeface="Arial"/>
              <a:buNone/>
            </a:pPr>
            <a:r>
              <a:rPr lang="en-US" sz="1275" b="0" i="0">
                <a:solidFill>
                  <a:srgbClr val="FFFFFF"/>
                </a:solidFill>
                <a:latin typeface="Arial"/>
                <a:ea typeface="Arial"/>
                <a:cs typeface="Arial"/>
                <a:sym typeface="Arial"/>
              </a:rPr>
              <a:t>Confirmar piloto</a:t>
            </a:r>
            <a:endParaRPr/>
          </a:p>
        </p:txBody>
      </p:sp>
      <p:sp>
        <p:nvSpPr>
          <p:cNvPr id="171" name="Google Shape;171;p5"/>
          <p:cNvSpPr/>
          <p:nvPr/>
        </p:nvSpPr>
        <p:spPr>
          <a:xfrm>
            <a:off x="9486900" y="5038725"/>
            <a:ext cx="876300" cy="17145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6DCBF4"/>
              </a:buClr>
              <a:buSzPts val="975"/>
              <a:buFont typeface="Arial"/>
              <a:buNone/>
            </a:pPr>
            <a:r>
              <a:rPr lang="en-US" sz="975" b="1" i="0">
                <a:solidFill>
                  <a:srgbClr val="6DCBF4"/>
                </a:solidFill>
                <a:latin typeface="Arial"/>
                <a:ea typeface="Arial"/>
                <a:cs typeface="Arial"/>
                <a:sym typeface="Arial"/>
              </a:rPr>
              <a:t>PRODUCTO</a:t>
            </a:r>
            <a:endParaRPr/>
          </a:p>
        </p:txBody>
      </p:sp>
      <p:sp>
        <p:nvSpPr>
          <p:cNvPr id="172" name="Google Shape;172;p5"/>
          <p:cNvSpPr/>
          <p:nvPr/>
        </p:nvSpPr>
        <p:spPr>
          <a:xfrm>
            <a:off x="9486900" y="5219700"/>
            <a:ext cx="1952625" cy="2286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FFFFFF"/>
              </a:buClr>
              <a:buSzPts val="1275"/>
              <a:buFont typeface="Arial"/>
              <a:buNone/>
            </a:pPr>
            <a:r>
              <a:rPr lang="en-US" sz="1275" b="0" i="0">
                <a:solidFill>
                  <a:srgbClr val="FFFFFF"/>
                </a:solidFill>
                <a:latin typeface="Arial"/>
                <a:ea typeface="Arial"/>
                <a:cs typeface="Arial"/>
                <a:sym typeface="Arial"/>
              </a:rPr>
              <a:t>Integrar outputs</a:t>
            </a:r>
            <a:endParaRPr/>
          </a:p>
        </p:txBody>
      </p:sp>
      <p:sp>
        <p:nvSpPr>
          <p:cNvPr id="173" name="Google Shape;173;p5"/>
          <p:cNvSpPr/>
          <p:nvPr/>
        </p:nvSpPr>
        <p:spPr>
          <a:xfrm>
            <a:off x="514350" y="6515100"/>
            <a:ext cx="2476500" cy="17145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5F6B7A"/>
              </a:buClr>
              <a:buSzPts val="975"/>
              <a:buFont typeface="Arial"/>
              <a:buNone/>
            </a:pPr>
            <a:r>
              <a:rPr lang="en-US" sz="975" b="1" i="0">
                <a:solidFill>
                  <a:srgbClr val="5F6B7A"/>
                </a:solidFill>
                <a:latin typeface="Arial"/>
                <a:ea typeface="Arial"/>
                <a:cs typeface="Arial"/>
                <a:sym typeface="Arial"/>
              </a:rPr>
              <a:t>PROYECTO APT · FASE 1</a:t>
            </a:r>
            <a:endParaRPr/>
          </a:p>
        </p:txBody>
      </p:sp>
      <p:sp>
        <p:nvSpPr>
          <p:cNvPr id="174" name="Google Shape;174;p5"/>
          <p:cNvSpPr/>
          <p:nvPr/>
        </p:nvSpPr>
        <p:spPr>
          <a:xfrm>
            <a:off x="11334750" y="6515100"/>
            <a:ext cx="342900" cy="171450"/>
          </a:xfrm>
          <a:prstGeom prst="rect">
            <a:avLst/>
          </a:prstGeom>
          <a:noFill/>
          <a:ln>
            <a:noFill/>
          </a:ln>
        </p:spPr>
        <p:txBody>
          <a:bodyPr spcFirstLastPara="1" wrap="square" lIns="0" tIns="0" rIns="0" bIns="0" anchor="t" anchorCtr="0">
            <a:noAutofit/>
          </a:bodyPr>
          <a:lstStyle/>
          <a:p>
            <a:pPr marL="0" marR="0" lvl="0" indent="0" algn="r" rtl="0">
              <a:lnSpc>
                <a:spcPct val="105000"/>
              </a:lnSpc>
              <a:spcBef>
                <a:spcPts val="0"/>
              </a:spcBef>
              <a:spcAft>
                <a:spcPts val="0"/>
              </a:spcAft>
              <a:buClr>
                <a:srgbClr val="5F6B7A"/>
              </a:buClr>
              <a:buSzPts val="975"/>
              <a:buFont typeface="Arial"/>
              <a:buNone/>
            </a:pPr>
            <a:r>
              <a:rPr lang="en-US" sz="975" b="0" i="0">
                <a:solidFill>
                  <a:srgbClr val="5F6B7A"/>
                </a:solidFill>
                <a:latin typeface="Arial"/>
                <a:ea typeface="Arial"/>
                <a:cs typeface="Arial"/>
                <a:sym typeface="Arial"/>
              </a:rPr>
              <a:t>05</a:t>
            </a:r>
            <a:endParaRPr/>
          </a:p>
        </p:txBody>
      </p:sp>
      <p:pic>
        <p:nvPicPr>
          <p:cNvPr id="175" name="Google Shape;175;p5"/>
          <p:cNvPicPr preferRelativeResize="0"/>
          <p:nvPr/>
        </p:nvPicPr>
        <p:blipFill>
          <a:blip r:embed="rId3">
            <a:alphaModFix amt="30000"/>
          </a:blip>
          <a:stretch>
            <a:fillRect/>
          </a:stretch>
        </p:blipFill>
        <p:spPr>
          <a:xfrm>
            <a:off x="69875" y="50250"/>
            <a:ext cx="1317358" cy="3238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pic>
        <p:nvPicPr>
          <p:cNvPr id="181" name="Google Shape;181;g3f9f27743ce_5_63"/>
          <p:cNvPicPr preferRelativeResize="0"/>
          <p:nvPr/>
        </p:nvPicPr>
        <p:blipFill>
          <a:blip r:embed="rId3">
            <a:alphaModFix amt="30000"/>
          </a:blip>
          <a:stretch>
            <a:fillRect/>
          </a:stretch>
        </p:blipFill>
        <p:spPr>
          <a:xfrm>
            <a:off x="69875" y="50250"/>
            <a:ext cx="1317358" cy="323850"/>
          </a:xfrm>
          <a:prstGeom prst="rect">
            <a:avLst/>
          </a:prstGeom>
          <a:noFill/>
          <a:ln>
            <a:noFill/>
          </a:ln>
        </p:spPr>
      </p:pic>
      <p:pic>
        <p:nvPicPr>
          <p:cNvPr id="182" name="Google Shape;182;g3f9f27743ce_5_63" title="Arquitectura_AWS_Salud_Mental_RM_entrega1.drawio(1).png"/>
          <p:cNvPicPr preferRelativeResize="0"/>
          <p:nvPr/>
        </p:nvPicPr>
        <p:blipFill>
          <a:blip r:embed="rId4">
            <a:alphaModFix/>
          </a:blip>
          <a:stretch>
            <a:fillRect/>
          </a:stretch>
        </p:blipFill>
        <p:spPr>
          <a:xfrm>
            <a:off x="197825" y="500900"/>
            <a:ext cx="11887199" cy="55993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7"/>
        <p:cNvGrpSpPr/>
        <p:nvPr/>
      </p:nvGrpSpPr>
      <p:grpSpPr>
        <a:xfrm>
          <a:off x="0" y="0"/>
          <a:ext cx="0" cy="0"/>
          <a:chOff x="0" y="0"/>
          <a:chExt cx="0" cy="0"/>
        </a:xfrm>
      </p:grpSpPr>
      <p:sp>
        <p:nvSpPr>
          <p:cNvPr id="188" name="Google Shape;188;p6"/>
          <p:cNvSpPr/>
          <p:nvPr/>
        </p:nvSpPr>
        <p:spPr>
          <a:xfrm>
            <a:off x="514350" y="638175"/>
            <a:ext cx="10668000" cy="6477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0B1F33"/>
              </a:buClr>
              <a:buSzPts val="3600"/>
              <a:buFont typeface="Arial"/>
              <a:buNone/>
            </a:pPr>
            <a:r>
              <a:rPr lang="en-US" sz="3600" b="1">
                <a:solidFill>
                  <a:srgbClr val="0B1F33"/>
                </a:solidFill>
              </a:rPr>
              <a:t>Metodología utilizada</a:t>
            </a:r>
            <a:endParaRPr/>
          </a:p>
        </p:txBody>
      </p:sp>
      <p:cxnSp>
        <p:nvCxnSpPr>
          <p:cNvPr id="189" name="Google Shape;189;p6"/>
          <p:cNvCxnSpPr/>
          <p:nvPr/>
        </p:nvCxnSpPr>
        <p:spPr>
          <a:xfrm>
            <a:off x="514350" y="1323975"/>
            <a:ext cx="11163300" cy="0"/>
          </a:xfrm>
          <a:prstGeom prst="straightConnector1">
            <a:avLst/>
          </a:prstGeom>
          <a:noFill/>
          <a:ln w="19050" cap="flat" cmpd="sng">
            <a:solidFill>
              <a:srgbClr val="E9EEF3"/>
            </a:solidFill>
            <a:prstDash val="solid"/>
            <a:round/>
            <a:headEnd type="none" w="sm" len="sm"/>
            <a:tailEnd type="none" w="sm" len="sm"/>
          </a:ln>
        </p:spPr>
      </p:cxnSp>
      <p:sp>
        <p:nvSpPr>
          <p:cNvPr id="190" name="Google Shape;190;p6"/>
          <p:cNvSpPr/>
          <p:nvPr/>
        </p:nvSpPr>
        <p:spPr>
          <a:xfrm>
            <a:off x="11334750" y="342900"/>
            <a:ext cx="342900" cy="209550"/>
          </a:xfrm>
          <a:prstGeom prst="rect">
            <a:avLst/>
          </a:prstGeom>
          <a:noFill/>
          <a:ln>
            <a:noFill/>
          </a:ln>
        </p:spPr>
        <p:txBody>
          <a:bodyPr spcFirstLastPara="1" wrap="square" lIns="0" tIns="0" rIns="0" bIns="0" anchor="t" anchorCtr="0">
            <a:noAutofit/>
          </a:bodyPr>
          <a:lstStyle/>
          <a:p>
            <a:pPr marL="0" marR="0" lvl="0" indent="0" algn="r" rtl="0">
              <a:lnSpc>
                <a:spcPct val="105000"/>
              </a:lnSpc>
              <a:spcBef>
                <a:spcPts val="0"/>
              </a:spcBef>
              <a:spcAft>
                <a:spcPts val="0"/>
              </a:spcAft>
              <a:buClr>
                <a:srgbClr val="5F6B7A"/>
              </a:buClr>
              <a:buSzPts val="1125"/>
              <a:buFont typeface="Arial"/>
              <a:buNone/>
            </a:pPr>
            <a:r>
              <a:rPr lang="en-US" sz="1125" b="0" i="0">
                <a:solidFill>
                  <a:srgbClr val="5F6B7A"/>
                </a:solidFill>
                <a:latin typeface="Arial"/>
                <a:ea typeface="Arial"/>
                <a:cs typeface="Arial"/>
                <a:sym typeface="Arial"/>
              </a:rPr>
              <a:t>06</a:t>
            </a:r>
            <a:endParaRPr/>
          </a:p>
        </p:txBody>
      </p:sp>
      <p:sp>
        <p:nvSpPr>
          <p:cNvPr id="191" name="Google Shape;191;p6"/>
          <p:cNvSpPr/>
          <p:nvPr/>
        </p:nvSpPr>
        <p:spPr>
          <a:xfrm>
            <a:off x="523875" y="1821404"/>
            <a:ext cx="8858400" cy="3240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5F6B7A"/>
              </a:buClr>
              <a:buSzPts val="1500"/>
              <a:buFont typeface="Arial"/>
              <a:buNone/>
            </a:pPr>
            <a:r>
              <a:rPr lang="en-US" sz="1500">
                <a:solidFill>
                  <a:srgbClr val="5F6B7A"/>
                </a:solidFill>
              </a:rPr>
              <a:t>Se optó por utilizar un tablero Kanban integrado en la herramienta Github Projects asociada al repositorio del proyecto</a:t>
            </a:r>
            <a:endParaRPr/>
          </a:p>
        </p:txBody>
      </p:sp>
      <p:cxnSp>
        <p:nvCxnSpPr>
          <p:cNvPr id="192" name="Google Shape;192;p6"/>
          <p:cNvCxnSpPr/>
          <p:nvPr/>
        </p:nvCxnSpPr>
        <p:spPr>
          <a:xfrm>
            <a:off x="800100" y="2800350"/>
            <a:ext cx="8191500" cy="0"/>
          </a:xfrm>
          <a:prstGeom prst="straightConnector1">
            <a:avLst/>
          </a:prstGeom>
          <a:noFill/>
          <a:ln w="28575" cap="flat" cmpd="sng">
            <a:solidFill>
              <a:srgbClr val="B8C2CC"/>
            </a:solidFill>
            <a:prstDash val="solid"/>
            <a:round/>
            <a:headEnd type="none" w="sm" len="sm"/>
            <a:tailEnd type="none" w="sm" len="sm"/>
          </a:ln>
        </p:spPr>
      </p:cxnSp>
      <p:sp>
        <p:nvSpPr>
          <p:cNvPr id="193" name="Google Shape;193;p6"/>
          <p:cNvSpPr/>
          <p:nvPr/>
        </p:nvSpPr>
        <p:spPr>
          <a:xfrm>
            <a:off x="552450" y="2524125"/>
            <a:ext cx="552450" cy="552450"/>
          </a:xfrm>
          <a:prstGeom prst="ellipse">
            <a:avLst/>
          </a:prstGeom>
          <a:solidFill>
            <a:srgbClr val="2F6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6"/>
          <p:cNvSpPr/>
          <p:nvPr/>
        </p:nvSpPr>
        <p:spPr>
          <a:xfrm>
            <a:off x="552450" y="2676525"/>
            <a:ext cx="552450" cy="190500"/>
          </a:xfrm>
          <a:prstGeom prst="rect">
            <a:avLst/>
          </a:prstGeom>
          <a:noFill/>
          <a:ln>
            <a:noFill/>
          </a:ln>
        </p:spPr>
        <p:txBody>
          <a:bodyPr spcFirstLastPara="1" wrap="square" lIns="0" tIns="0" rIns="0" bIns="0" anchor="t" anchorCtr="0">
            <a:noAutofit/>
          </a:bodyPr>
          <a:lstStyle/>
          <a:p>
            <a:pPr marL="0" marR="0" lvl="0" indent="0" algn="ctr" rtl="0">
              <a:lnSpc>
                <a:spcPct val="105000"/>
              </a:lnSpc>
              <a:spcBef>
                <a:spcPts val="0"/>
              </a:spcBef>
              <a:spcAft>
                <a:spcPts val="0"/>
              </a:spcAft>
              <a:buClr>
                <a:srgbClr val="FFFFFF"/>
              </a:buClr>
              <a:buSzPts val="1275"/>
              <a:buFont typeface="Arial"/>
              <a:buNone/>
            </a:pPr>
            <a:r>
              <a:rPr lang="en-US" sz="1275" b="1" i="0">
                <a:solidFill>
                  <a:srgbClr val="FFFFFF"/>
                </a:solidFill>
                <a:latin typeface="Arial"/>
                <a:ea typeface="Arial"/>
                <a:cs typeface="Arial"/>
                <a:sym typeface="Arial"/>
              </a:rPr>
              <a:t>01</a:t>
            </a:r>
            <a:endParaRPr/>
          </a:p>
        </p:txBody>
      </p:sp>
      <p:sp>
        <p:nvSpPr>
          <p:cNvPr id="195" name="Google Shape;195;p6"/>
          <p:cNvSpPr/>
          <p:nvPr/>
        </p:nvSpPr>
        <p:spPr>
          <a:xfrm>
            <a:off x="514350" y="3238500"/>
            <a:ext cx="1571625" cy="28575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0B1F33"/>
              </a:buClr>
              <a:buSzPts val="1650"/>
              <a:buFont typeface="Arial"/>
              <a:buNone/>
            </a:pPr>
            <a:r>
              <a:rPr lang="en-US" sz="1650" b="1">
                <a:solidFill>
                  <a:srgbClr val="0B1F33"/>
                </a:solidFill>
              </a:rPr>
              <a:t>Definir problema y solución</a:t>
            </a:r>
            <a:endParaRPr/>
          </a:p>
        </p:txBody>
      </p:sp>
      <p:sp>
        <p:nvSpPr>
          <p:cNvPr id="196" name="Google Shape;196;p6"/>
          <p:cNvSpPr/>
          <p:nvPr/>
        </p:nvSpPr>
        <p:spPr>
          <a:xfrm>
            <a:off x="571500" y="3543300"/>
            <a:ext cx="1323975" cy="3810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97" name="Google Shape;197;p6"/>
          <p:cNvSpPr/>
          <p:nvPr/>
        </p:nvSpPr>
        <p:spPr>
          <a:xfrm>
            <a:off x="2295525" y="2524125"/>
            <a:ext cx="552450" cy="552450"/>
          </a:xfrm>
          <a:prstGeom prst="ellipse">
            <a:avLst/>
          </a:prstGeom>
          <a:solidFill>
            <a:srgbClr val="2F6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6"/>
          <p:cNvSpPr/>
          <p:nvPr/>
        </p:nvSpPr>
        <p:spPr>
          <a:xfrm>
            <a:off x="2295525" y="2676525"/>
            <a:ext cx="552450" cy="190500"/>
          </a:xfrm>
          <a:prstGeom prst="rect">
            <a:avLst/>
          </a:prstGeom>
          <a:noFill/>
          <a:ln>
            <a:noFill/>
          </a:ln>
        </p:spPr>
        <p:txBody>
          <a:bodyPr spcFirstLastPara="1" wrap="square" lIns="0" tIns="0" rIns="0" bIns="0" anchor="t" anchorCtr="0">
            <a:noAutofit/>
          </a:bodyPr>
          <a:lstStyle/>
          <a:p>
            <a:pPr marL="0" marR="0" lvl="0" indent="0" algn="ctr" rtl="0">
              <a:lnSpc>
                <a:spcPct val="105000"/>
              </a:lnSpc>
              <a:spcBef>
                <a:spcPts val="0"/>
              </a:spcBef>
              <a:spcAft>
                <a:spcPts val="0"/>
              </a:spcAft>
              <a:buClr>
                <a:srgbClr val="FFFFFF"/>
              </a:buClr>
              <a:buSzPts val="1275"/>
              <a:buFont typeface="Arial"/>
              <a:buNone/>
            </a:pPr>
            <a:r>
              <a:rPr lang="en-US" sz="1275" b="1" i="0">
                <a:solidFill>
                  <a:srgbClr val="FFFFFF"/>
                </a:solidFill>
                <a:latin typeface="Arial"/>
                <a:ea typeface="Arial"/>
                <a:cs typeface="Arial"/>
                <a:sym typeface="Arial"/>
              </a:rPr>
              <a:t>02</a:t>
            </a:r>
            <a:endParaRPr/>
          </a:p>
        </p:txBody>
      </p:sp>
      <p:sp>
        <p:nvSpPr>
          <p:cNvPr id="199" name="Google Shape;199;p6"/>
          <p:cNvSpPr/>
          <p:nvPr/>
        </p:nvSpPr>
        <p:spPr>
          <a:xfrm>
            <a:off x="2257425" y="3238500"/>
            <a:ext cx="1571625" cy="28575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0B1F33"/>
              </a:buClr>
              <a:buSzPts val="1650"/>
              <a:buFont typeface="Arial"/>
              <a:buNone/>
            </a:pPr>
            <a:r>
              <a:rPr lang="en-US" sz="1650" b="1">
                <a:solidFill>
                  <a:srgbClr val="0B1F33"/>
                </a:solidFill>
              </a:rPr>
              <a:t>Definir etapas del proyecto</a:t>
            </a:r>
            <a:endParaRPr/>
          </a:p>
        </p:txBody>
      </p:sp>
      <p:sp>
        <p:nvSpPr>
          <p:cNvPr id="200" name="Google Shape;200;p6"/>
          <p:cNvSpPr/>
          <p:nvPr/>
        </p:nvSpPr>
        <p:spPr>
          <a:xfrm>
            <a:off x="4038600" y="2524125"/>
            <a:ext cx="552450" cy="552450"/>
          </a:xfrm>
          <a:prstGeom prst="ellipse">
            <a:avLst/>
          </a:prstGeom>
          <a:solidFill>
            <a:srgbClr val="18A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6"/>
          <p:cNvSpPr/>
          <p:nvPr/>
        </p:nvSpPr>
        <p:spPr>
          <a:xfrm>
            <a:off x="4038600" y="2676525"/>
            <a:ext cx="552450" cy="190500"/>
          </a:xfrm>
          <a:prstGeom prst="rect">
            <a:avLst/>
          </a:prstGeom>
          <a:noFill/>
          <a:ln>
            <a:noFill/>
          </a:ln>
        </p:spPr>
        <p:txBody>
          <a:bodyPr spcFirstLastPara="1" wrap="square" lIns="0" tIns="0" rIns="0" bIns="0" anchor="t" anchorCtr="0">
            <a:noAutofit/>
          </a:bodyPr>
          <a:lstStyle/>
          <a:p>
            <a:pPr marL="0" marR="0" lvl="0" indent="0" algn="ctr" rtl="0">
              <a:lnSpc>
                <a:spcPct val="105000"/>
              </a:lnSpc>
              <a:spcBef>
                <a:spcPts val="0"/>
              </a:spcBef>
              <a:spcAft>
                <a:spcPts val="0"/>
              </a:spcAft>
              <a:buClr>
                <a:srgbClr val="FFFFFF"/>
              </a:buClr>
              <a:buSzPts val="1275"/>
              <a:buFont typeface="Arial"/>
              <a:buNone/>
            </a:pPr>
            <a:r>
              <a:rPr lang="en-US" sz="1275" b="1" i="0">
                <a:solidFill>
                  <a:srgbClr val="FFFFFF"/>
                </a:solidFill>
                <a:latin typeface="Arial"/>
                <a:ea typeface="Arial"/>
                <a:cs typeface="Arial"/>
                <a:sym typeface="Arial"/>
              </a:rPr>
              <a:t>03</a:t>
            </a:r>
            <a:endParaRPr/>
          </a:p>
        </p:txBody>
      </p:sp>
      <p:sp>
        <p:nvSpPr>
          <p:cNvPr id="202" name="Google Shape;202;p6"/>
          <p:cNvSpPr/>
          <p:nvPr/>
        </p:nvSpPr>
        <p:spPr>
          <a:xfrm>
            <a:off x="4000500" y="3238500"/>
            <a:ext cx="1571625" cy="28575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0B1F33"/>
              </a:buClr>
              <a:buSzPts val="1650"/>
              <a:buFont typeface="Arial"/>
              <a:buNone/>
            </a:pPr>
            <a:r>
              <a:rPr lang="en-US" sz="1650" b="1">
                <a:solidFill>
                  <a:srgbClr val="0B1F33"/>
                </a:solidFill>
              </a:rPr>
              <a:t>Definir tareas</a:t>
            </a:r>
            <a:endParaRPr/>
          </a:p>
        </p:txBody>
      </p:sp>
      <p:sp>
        <p:nvSpPr>
          <p:cNvPr id="203" name="Google Shape;203;p6"/>
          <p:cNvSpPr/>
          <p:nvPr/>
        </p:nvSpPr>
        <p:spPr>
          <a:xfrm>
            <a:off x="5781675" y="2524125"/>
            <a:ext cx="552450" cy="552450"/>
          </a:xfrm>
          <a:prstGeom prst="ellipse">
            <a:avLst/>
          </a:prstGeom>
          <a:solidFill>
            <a:srgbClr val="18A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6"/>
          <p:cNvSpPr/>
          <p:nvPr/>
        </p:nvSpPr>
        <p:spPr>
          <a:xfrm>
            <a:off x="5781675" y="2676525"/>
            <a:ext cx="552450" cy="190500"/>
          </a:xfrm>
          <a:prstGeom prst="rect">
            <a:avLst/>
          </a:prstGeom>
          <a:noFill/>
          <a:ln>
            <a:noFill/>
          </a:ln>
        </p:spPr>
        <p:txBody>
          <a:bodyPr spcFirstLastPara="1" wrap="square" lIns="0" tIns="0" rIns="0" bIns="0" anchor="t" anchorCtr="0">
            <a:noAutofit/>
          </a:bodyPr>
          <a:lstStyle/>
          <a:p>
            <a:pPr marL="0" marR="0" lvl="0" indent="0" algn="ctr" rtl="0">
              <a:lnSpc>
                <a:spcPct val="105000"/>
              </a:lnSpc>
              <a:spcBef>
                <a:spcPts val="0"/>
              </a:spcBef>
              <a:spcAft>
                <a:spcPts val="0"/>
              </a:spcAft>
              <a:buClr>
                <a:srgbClr val="FFFFFF"/>
              </a:buClr>
              <a:buSzPts val="1275"/>
              <a:buFont typeface="Arial"/>
              <a:buNone/>
            </a:pPr>
            <a:r>
              <a:rPr lang="en-US" sz="1275" b="1" i="0">
                <a:solidFill>
                  <a:srgbClr val="FFFFFF"/>
                </a:solidFill>
                <a:latin typeface="Arial"/>
                <a:ea typeface="Arial"/>
                <a:cs typeface="Arial"/>
                <a:sym typeface="Arial"/>
              </a:rPr>
              <a:t>04</a:t>
            </a:r>
            <a:endParaRPr/>
          </a:p>
        </p:txBody>
      </p:sp>
      <p:sp>
        <p:nvSpPr>
          <p:cNvPr id="205" name="Google Shape;205;p6"/>
          <p:cNvSpPr/>
          <p:nvPr/>
        </p:nvSpPr>
        <p:spPr>
          <a:xfrm>
            <a:off x="5743575" y="3238500"/>
            <a:ext cx="1571625" cy="28575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0B1F33"/>
              </a:buClr>
              <a:buSzPts val="1650"/>
              <a:buFont typeface="Arial"/>
              <a:buNone/>
            </a:pPr>
            <a:r>
              <a:rPr lang="en-US" sz="1650" b="1">
                <a:solidFill>
                  <a:srgbClr val="0B1F33"/>
                </a:solidFill>
              </a:rPr>
              <a:t>Agregar tareas a tablero Kanban</a:t>
            </a:r>
            <a:endParaRPr/>
          </a:p>
        </p:txBody>
      </p:sp>
      <p:sp>
        <p:nvSpPr>
          <p:cNvPr id="206" name="Google Shape;206;p6"/>
          <p:cNvSpPr/>
          <p:nvPr/>
        </p:nvSpPr>
        <p:spPr>
          <a:xfrm>
            <a:off x="7524750" y="2524125"/>
            <a:ext cx="552450" cy="552450"/>
          </a:xfrm>
          <a:prstGeom prst="ellipse">
            <a:avLst/>
          </a:prstGeom>
          <a:solidFill>
            <a:srgbClr val="FF7F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6"/>
          <p:cNvSpPr/>
          <p:nvPr/>
        </p:nvSpPr>
        <p:spPr>
          <a:xfrm>
            <a:off x="7524750" y="2676525"/>
            <a:ext cx="552450" cy="190500"/>
          </a:xfrm>
          <a:prstGeom prst="rect">
            <a:avLst/>
          </a:prstGeom>
          <a:noFill/>
          <a:ln>
            <a:noFill/>
          </a:ln>
        </p:spPr>
        <p:txBody>
          <a:bodyPr spcFirstLastPara="1" wrap="square" lIns="0" tIns="0" rIns="0" bIns="0" anchor="t" anchorCtr="0">
            <a:noAutofit/>
          </a:bodyPr>
          <a:lstStyle/>
          <a:p>
            <a:pPr marL="0" marR="0" lvl="0" indent="0" algn="ctr" rtl="0">
              <a:lnSpc>
                <a:spcPct val="105000"/>
              </a:lnSpc>
              <a:spcBef>
                <a:spcPts val="0"/>
              </a:spcBef>
              <a:spcAft>
                <a:spcPts val="0"/>
              </a:spcAft>
              <a:buClr>
                <a:srgbClr val="FFFFFF"/>
              </a:buClr>
              <a:buSzPts val="1275"/>
              <a:buFont typeface="Arial"/>
              <a:buNone/>
            </a:pPr>
            <a:r>
              <a:rPr lang="en-US" sz="1275" b="1" i="0">
                <a:solidFill>
                  <a:srgbClr val="FFFFFF"/>
                </a:solidFill>
                <a:latin typeface="Arial"/>
                <a:ea typeface="Arial"/>
                <a:cs typeface="Arial"/>
                <a:sym typeface="Arial"/>
              </a:rPr>
              <a:t>05</a:t>
            </a:r>
            <a:endParaRPr/>
          </a:p>
        </p:txBody>
      </p:sp>
      <p:sp>
        <p:nvSpPr>
          <p:cNvPr id="208" name="Google Shape;208;p6"/>
          <p:cNvSpPr/>
          <p:nvPr/>
        </p:nvSpPr>
        <p:spPr>
          <a:xfrm>
            <a:off x="7486650" y="3238500"/>
            <a:ext cx="1571625" cy="28575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0B1F33"/>
              </a:buClr>
              <a:buSzPts val="1650"/>
              <a:buFont typeface="Arial"/>
              <a:buNone/>
            </a:pPr>
            <a:r>
              <a:rPr lang="en-US" sz="1450" b="1">
                <a:solidFill>
                  <a:srgbClr val="0B1F33"/>
                </a:solidFill>
              </a:rPr>
              <a:t>Asignar rango de tiempo para realizar la tarea en vista de Roadmap</a:t>
            </a:r>
            <a:endParaRPr sz="1200"/>
          </a:p>
        </p:txBody>
      </p:sp>
      <p:sp>
        <p:nvSpPr>
          <p:cNvPr id="209" name="Google Shape;209;p6"/>
          <p:cNvSpPr/>
          <p:nvPr/>
        </p:nvSpPr>
        <p:spPr>
          <a:xfrm>
            <a:off x="9429750" y="1962150"/>
            <a:ext cx="2247900" cy="2171700"/>
          </a:xfrm>
          <a:prstGeom prst="rect">
            <a:avLst/>
          </a:prstGeom>
          <a:solidFill>
            <a:srgbClr val="F7F9FB"/>
          </a:solidFill>
          <a:ln w="9525" cap="flat" cmpd="sng">
            <a:solidFill>
              <a:srgbClr val="E9EE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6"/>
          <p:cNvSpPr/>
          <p:nvPr/>
        </p:nvSpPr>
        <p:spPr>
          <a:xfrm>
            <a:off x="9648825" y="2171700"/>
            <a:ext cx="1809600" cy="2097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2F6BFF"/>
              </a:buClr>
              <a:buSzPts val="1125"/>
              <a:buFont typeface="Arial"/>
              <a:buNone/>
            </a:pPr>
            <a:r>
              <a:rPr lang="en-US" sz="1125" b="1">
                <a:solidFill>
                  <a:srgbClr val="2F6BFF"/>
                </a:solidFill>
              </a:rPr>
              <a:t>Ventajas de Kanban para el proyecto</a:t>
            </a:r>
            <a:endParaRPr/>
          </a:p>
        </p:txBody>
      </p:sp>
      <p:sp>
        <p:nvSpPr>
          <p:cNvPr id="211" name="Google Shape;211;p6"/>
          <p:cNvSpPr/>
          <p:nvPr/>
        </p:nvSpPr>
        <p:spPr>
          <a:xfrm>
            <a:off x="9544050" y="2586038"/>
            <a:ext cx="1790700" cy="1333500"/>
          </a:xfrm>
          <a:prstGeom prst="rect">
            <a:avLst/>
          </a:prstGeom>
          <a:noFill/>
          <a:ln>
            <a:noFill/>
          </a:ln>
        </p:spPr>
        <p:txBody>
          <a:bodyPr spcFirstLastPara="1" wrap="square" lIns="0" tIns="0" rIns="0" bIns="0" anchor="t" anchorCtr="0">
            <a:noAutofit/>
          </a:bodyPr>
          <a:lstStyle/>
          <a:p>
            <a:pPr marL="457200" marR="0" lvl="0" indent="-298450" algn="l" rtl="0">
              <a:lnSpc>
                <a:spcPct val="102000"/>
              </a:lnSpc>
              <a:spcBef>
                <a:spcPts val="0"/>
              </a:spcBef>
              <a:spcAft>
                <a:spcPts val="0"/>
              </a:spcAft>
              <a:buClr>
                <a:srgbClr val="142033"/>
              </a:buClr>
              <a:buSzPts val="1100"/>
              <a:buFont typeface="Arial"/>
              <a:buChar char="●"/>
            </a:pPr>
            <a:r>
              <a:rPr lang="en-US" sz="1100">
                <a:solidFill>
                  <a:srgbClr val="142033"/>
                </a:solidFill>
                <a:latin typeface="Arial"/>
                <a:ea typeface="Arial"/>
                <a:cs typeface="Arial"/>
                <a:sym typeface="Arial"/>
              </a:rPr>
              <a:t>Equipo pequeño y semestre con fechas fijas.</a:t>
            </a:r>
            <a:endParaRPr sz="1100"/>
          </a:p>
          <a:p>
            <a:pPr marL="457200" marR="0" lvl="0" indent="-298450" algn="l" rtl="0">
              <a:lnSpc>
                <a:spcPct val="102000"/>
              </a:lnSpc>
              <a:spcBef>
                <a:spcPts val="0"/>
              </a:spcBef>
              <a:spcAft>
                <a:spcPts val="0"/>
              </a:spcAft>
              <a:buClr>
                <a:srgbClr val="142033"/>
              </a:buClr>
              <a:buSzPts val="1100"/>
              <a:buFont typeface="Arial"/>
              <a:buChar char="●"/>
            </a:pPr>
            <a:r>
              <a:rPr lang="en-US" sz="1100">
                <a:solidFill>
                  <a:srgbClr val="142033"/>
                </a:solidFill>
                <a:latin typeface="Arial"/>
                <a:ea typeface="Arial"/>
                <a:cs typeface="Arial"/>
                <a:sym typeface="Arial"/>
              </a:rPr>
              <a:t>Permite limitar trabajo en curso.</a:t>
            </a:r>
            <a:endParaRPr sz="1100"/>
          </a:p>
          <a:p>
            <a:pPr marL="457200" marR="0" lvl="0" indent="-298450" algn="l" rtl="0">
              <a:lnSpc>
                <a:spcPct val="102000"/>
              </a:lnSpc>
              <a:spcBef>
                <a:spcPts val="0"/>
              </a:spcBef>
              <a:spcAft>
                <a:spcPts val="0"/>
              </a:spcAft>
              <a:buClr>
                <a:srgbClr val="142033"/>
              </a:buClr>
              <a:buSzPts val="1100"/>
              <a:buFont typeface="Arial"/>
              <a:buChar char="●"/>
            </a:pPr>
            <a:r>
              <a:rPr lang="en-US" sz="1100">
                <a:solidFill>
                  <a:srgbClr val="142033"/>
                </a:solidFill>
                <a:latin typeface="Arial"/>
                <a:ea typeface="Arial"/>
                <a:cs typeface="Arial"/>
                <a:sym typeface="Arial"/>
              </a:rPr>
              <a:t>Hace visibles bloqueos y responsabilidades.</a:t>
            </a:r>
            <a:endParaRPr sz="1100"/>
          </a:p>
        </p:txBody>
      </p:sp>
      <p:cxnSp>
        <p:nvCxnSpPr>
          <p:cNvPr id="212" name="Google Shape;212;p6"/>
          <p:cNvCxnSpPr/>
          <p:nvPr/>
        </p:nvCxnSpPr>
        <p:spPr>
          <a:xfrm>
            <a:off x="523875" y="4676775"/>
            <a:ext cx="3286125" cy="0"/>
          </a:xfrm>
          <a:prstGeom prst="straightConnector1">
            <a:avLst/>
          </a:prstGeom>
          <a:noFill/>
          <a:ln w="38100" cap="flat" cmpd="sng">
            <a:solidFill>
              <a:srgbClr val="2F6BFF"/>
            </a:solidFill>
            <a:prstDash val="solid"/>
            <a:round/>
            <a:headEnd type="none" w="sm" len="sm"/>
            <a:tailEnd type="none" w="sm" len="sm"/>
          </a:ln>
        </p:spPr>
      </p:cxnSp>
      <p:sp>
        <p:nvSpPr>
          <p:cNvPr id="213" name="Google Shape;213;p6"/>
          <p:cNvSpPr/>
          <p:nvPr/>
        </p:nvSpPr>
        <p:spPr>
          <a:xfrm>
            <a:off x="523875" y="4848225"/>
            <a:ext cx="1714500" cy="28575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0B1F33"/>
              </a:buClr>
              <a:buSzPts val="1800"/>
              <a:buFont typeface="Arial"/>
              <a:buNone/>
            </a:pPr>
            <a:r>
              <a:rPr lang="en-US" sz="1800" b="1" i="0">
                <a:solidFill>
                  <a:srgbClr val="0B1F33"/>
                </a:solidFill>
                <a:latin typeface="Arial"/>
                <a:ea typeface="Arial"/>
                <a:cs typeface="Arial"/>
                <a:sym typeface="Arial"/>
              </a:rPr>
              <a:t>Flujo</a:t>
            </a:r>
            <a:endParaRPr/>
          </a:p>
        </p:txBody>
      </p:sp>
      <p:sp>
        <p:nvSpPr>
          <p:cNvPr id="214" name="Google Shape;214;p6"/>
          <p:cNvSpPr/>
          <p:nvPr/>
        </p:nvSpPr>
        <p:spPr>
          <a:xfrm>
            <a:off x="523875" y="5219700"/>
            <a:ext cx="3238500" cy="5334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5F6B7A"/>
              </a:buClr>
              <a:buSzPts val="1425"/>
              <a:buFont typeface="Arial"/>
              <a:buNone/>
            </a:pPr>
            <a:r>
              <a:rPr lang="en-US" sz="1425" b="0" i="0">
                <a:solidFill>
                  <a:srgbClr val="5F6B7A"/>
                </a:solidFill>
                <a:latin typeface="Arial"/>
                <a:ea typeface="Arial"/>
                <a:cs typeface="Arial"/>
                <a:sym typeface="Arial"/>
              </a:rPr>
              <a:t>Backlog → En curso → Revisión → Terminado</a:t>
            </a:r>
            <a:endParaRPr/>
          </a:p>
        </p:txBody>
      </p:sp>
      <p:cxnSp>
        <p:nvCxnSpPr>
          <p:cNvPr id="215" name="Google Shape;215;p6"/>
          <p:cNvCxnSpPr/>
          <p:nvPr/>
        </p:nvCxnSpPr>
        <p:spPr>
          <a:xfrm>
            <a:off x="4238625" y="4676775"/>
            <a:ext cx="3286125" cy="0"/>
          </a:xfrm>
          <a:prstGeom prst="straightConnector1">
            <a:avLst/>
          </a:prstGeom>
          <a:noFill/>
          <a:ln w="38100" cap="flat" cmpd="sng">
            <a:solidFill>
              <a:srgbClr val="18A999"/>
            </a:solidFill>
            <a:prstDash val="solid"/>
            <a:round/>
            <a:headEnd type="none" w="sm" len="sm"/>
            <a:tailEnd type="none" w="sm" len="sm"/>
          </a:ln>
        </p:spPr>
      </p:cxnSp>
      <p:sp>
        <p:nvSpPr>
          <p:cNvPr id="216" name="Google Shape;216;p6"/>
          <p:cNvSpPr/>
          <p:nvPr/>
        </p:nvSpPr>
        <p:spPr>
          <a:xfrm>
            <a:off x="4238625" y="4848225"/>
            <a:ext cx="1714500" cy="28575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0B1F33"/>
              </a:buClr>
              <a:buSzPts val="1800"/>
              <a:buFont typeface="Arial"/>
              <a:buNone/>
            </a:pPr>
            <a:r>
              <a:rPr lang="en-US" sz="1800" b="1" i="0">
                <a:solidFill>
                  <a:srgbClr val="0B1F33"/>
                </a:solidFill>
                <a:latin typeface="Arial"/>
                <a:ea typeface="Arial"/>
                <a:cs typeface="Arial"/>
                <a:sym typeface="Arial"/>
              </a:rPr>
              <a:t>Ritmo</a:t>
            </a:r>
            <a:endParaRPr/>
          </a:p>
        </p:txBody>
      </p:sp>
      <p:sp>
        <p:nvSpPr>
          <p:cNvPr id="217" name="Google Shape;217;p6"/>
          <p:cNvSpPr/>
          <p:nvPr/>
        </p:nvSpPr>
        <p:spPr>
          <a:xfrm>
            <a:off x="4238625" y="5219700"/>
            <a:ext cx="3238500" cy="5334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5F6B7A"/>
              </a:buClr>
              <a:buSzPts val="1425"/>
              <a:buFont typeface="Arial"/>
              <a:buNone/>
            </a:pPr>
            <a:r>
              <a:rPr lang="en-US" sz="1425" b="0" i="0">
                <a:solidFill>
                  <a:srgbClr val="5F6B7A"/>
                </a:solidFill>
                <a:latin typeface="Arial"/>
                <a:ea typeface="Arial"/>
                <a:cs typeface="Arial"/>
                <a:sym typeface="Arial"/>
              </a:rPr>
              <a:t>Planificación semanal + demo quincenal</a:t>
            </a:r>
            <a:endParaRPr/>
          </a:p>
        </p:txBody>
      </p:sp>
      <p:cxnSp>
        <p:nvCxnSpPr>
          <p:cNvPr id="218" name="Google Shape;218;p6"/>
          <p:cNvCxnSpPr/>
          <p:nvPr/>
        </p:nvCxnSpPr>
        <p:spPr>
          <a:xfrm>
            <a:off x="7953375" y="4676775"/>
            <a:ext cx="3286125" cy="0"/>
          </a:xfrm>
          <a:prstGeom prst="straightConnector1">
            <a:avLst/>
          </a:prstGeom>
          <a:noFill/>
          <a:ln w="38100" cap="flat" cmpd="sng">
            <a:solidFill>
              <a:srgbClr val="FF7F6E"/>
            </a:solidFill>
            <a:prstDash val="solid"/>
            <a:round/>
            <a:headEnd type="none" w="sm" len="sm"/>
            <a:tailEnd type="none" w="sm" len="sm"/>
          </a:ln>
        </p:spPr>
      </p:cxnSp>
      <p:sp>
        <p:nvSpPr>
          <p:cNvPr id="219" name="Google Shape;219;p6"/>
          <p:cNvSpPr/>
          <p:nvPr/>
        </p:nvSpPr>
        <p:spPr>
          <a:xfrm>
            <a:off x="7953375" y="4848225"/>
            <a:ext cx="1714500" cy="28575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0B1F33"/>
              </a:buClr>
              <a:buSzPts val="1800"/>
              <a:buFont typeface="Arial"/>
              <a:buNone/>
            </a:pPr>
            <a:r>
              <a:rPr lang="en-US" sz="1800" b="1" i="0">
                <a:solidFill>
                  <a:srgbClr val="0B1F33"/>
                </a:solidFill>
                <a:latin typeface="Arial"/>
                <a:ea typeface="Arial"/>
                <a:cs typeface="Arial"/>
                <a:sym typeface="Arial"/>
              </a:rPr>
              <a:t>Control</a:t>
            </a:r>
            <a:endParaRPr/>
          </a:p>
        </p:txBody>
      </p:sp>
      <p:sp>
        <p:nvSpPr>
          <p:cNvPr id="220" name="Google Shape;220;p6"/>
          <p:cNvSpPr/>
          <p:nvPr/>
        </p:nvSpPr>
        <p:spPr>
          <a:xfrm>
            <a:off x="7953375" y="5219700"/>
            <a:ext cx="3238500" cy="5334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5F6B7A"/>
              </a:buClr>
              <a:buSzPts val="1425"/>
              <a:buFont typeface="Arial"/>
              <a:buNone/>
            </a:pPr>
            <a:r>
              <a:rPr lang="en-US" sz="1425" b="0" i="0">
                <a:solidFill>
                  <a:srgbClr val="5F6B7A"/>
                </a:solidFill>
                <a:latin typeface="Arial"/>
                <a:ea typeface="Arial"/>
                <a:cs typeface="Arial"/>
                <a:sym typeface="Arial"/>
              </a:rPr>
              <a:t>Issue, responsable, criterio de aceptación y evidencia</a:t>
            </a:r>
            <a:endParaRPr/>
          </a:p>
        </p:txBody>
      </p:sp>
      <p:sp>
        <p:nvSpPr>
          <p:cNvPr id="221" name="Google Shape;221;p6"/>
          <p:cNvSpPr/>
          <p:nvPr/>
        </p:nvSpPr>
        <p:spPr>
          <a:xfrm>
            <a:off x="514350" y="6515100"/>
            <a:ext cx="2476500" cy="17145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5F6B7A"/>
              </a:buClr>
              <a:buSzPts val="975"/>
              <a:buFont typeface="Arial"/>
              <a:buNone/>
            </a:pPr>
            <a:r>
              <a:rPr lang="en-US" sz="975" b="1" i="0">
                <a:solidFill>
                  <a:srgbClr val="5F6B7A"/>
                </a:solidFill>
                <a:latin typeface="Arial"/>
                <a:ea typeface="Arial"/>
                <a:cs typeface="Arial"/>
                <a:sym typeface="Arial"/>
              </a:rPr>
              <a:t>PROYECTO APT · FASE 1</a:t>
            </a:r>
            <a:endParaRPr/>
          </a:p>
        </p:txBody>
      </p:sp>
      <p:sp>
        <p:nvSpPr>
          <p:cNvPr id="222" name="Google Shape;222;p6"/>
          <p:cNvSpPr/>
          <p:nvPr/>
        </p:nvSpPr>
        <p:spPr>
          <a:xfrm>
            <a:off x="11334750" y="6515100"/>
            <a:ext cx="342900" cy="171450"/>
          </a:xfrm>
          <a:prstGeom prst="rect">
            <a:avLst/>
          </a:prstGeom>
          <a:noFill/>
          <a:ln>
            <a:noFill/>
          </a:ln>
        </p:spPr>
        <p:txBody>
          <a:bodyPr spcFirstLastPara="1" wrap="square" lIns="0" tIns="0" rIns="0" bIns="0" anchor="t" anchorCtr="0">
            <a:noAutofit/>
          </a:bodyPr>
          <a:lstStyle/>
          <a:p>
            <a:pPr marL="0" marR="0" lvl="0" indent="0" algn="r" rtl="0">
              <a:lnSpc>
                <a:spcPct val="105000"/>
              </a:lnSpc>
              <a:spcBef>
                <a:spcPts val="0"/>
              </a:spcBef>
              <a:spcAft>
                <a:spcPts val="0"/>
              </a:spcAft>
              <a:buClr>
                <a:srgbClr val="5F6B7A"/>
              </a:buClr>
              <a:buSzPts val="975"/>
              <a:buFont typeface="Arial"/>
              <a:buNone/>
            </a:pPr>
            <a:r>
              <a:rPr lang="en-US" sz="975" b="0" i="0">
                <a:solidFill>
                  <a:srgbClr val="5F6B7A"/>
                </a:solidFill>
                <a:latin typeface="Arial"/>
                <a:ea typeface="Arial"/>
                <a:cs typeface="Arial"/>
                <a:sym typeface="Arial"/>
              </a:rPr>
              <a:t>06</a:t>
            </a:r>
            <a:endParaRPr/>
          </a:p>
        </p:txBody>
      </p:sp>
      <p:sp>
        <p:nvSpPr>
          <p:cNvPr id="223" name="Google Shape;223;p6"/>
          <p:cNvSpPr/>
          <p:nvPr/>
        </p:nvSpPr>
        <p:spPr>
          <a:xfrm>
            <a:off x="514350" y="1439338"/>
            <a:ext cx="3543300" cy="2667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2F6BFF"/>
              </a:buClr>
              <a:buSzPts val="1800"/>
              <a:buFont typeface="Arial"/>
              <a:buNone/>
            </a:pPr>
            <a:r>
              <a:rPr lang="en-US" sz="1800" b="1">
                <a:solidFill>
                  <a:srgbClr val="2F6BFF"/>
                </a:solidFill>
              </a:rPr>
              <a:t>Metodología ágil: Kanban</a:t>
            </a:r>
            <a:endParaRPr/>
          </a:p>
        </p:txBody>
      </p:sp>
      <p:pic>
        <p:nvPicPr>
          <p:cNvPr id="224" name="Google Shape;224;p6"/>
          <p:cNvPicPr preferRelativeResize="0"/>
          <p:nvPr/>
        </p:nvPicPr>
        <p:blipFill>
          <a:blip r:embed="rId3">
            <a:alphaModFix amt="30000"/>
          </a:blip>
          <a:stretch>
            <a:fillRect/>
          </a:stretch>
        </p:blipFill>
        <p:spPr>
          <a:xfrm>
            <a:off x="69875" y="50250"/>
            <a:ext cx="1317358" cy="3238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pic>
        <p:nvPicPr>
          <p:cNvPr id="230" name="Google Shape;230;g3f9f27743ce_5_0" title="Screenshot 2026-09-02 at 5.35.02 PM.png"/>
          <p:cNvPicPr preferRelativeResize="0"/>
          <p:nvPr/>
        </p:nvPicPr>
        <p:blipFill>
          <a:blip r:embed="rId3">
            <a:alphaModFix/>
          </a:blip>
          <a:stretch>
            <a:fillRect/>
          </a:stretch>
        </p:blipFill>
        <p:spPr>
          <a:xfrm>
            <a:off x="152400" y="867550"/>
            <a:ext cx="11887199" cy="5577553"/>
          </a:xfrm>
          <a:prstGeom prst="rect">
            <a:avLst/>
          </a:prstGeom>
          <a:noFill/>
          <a:ln>
            <a:noFill/>
          </a:ln>
        </p:spPr>
      </p:pic>
      <p:sp>
        <p:nvSpPr>
          <p:cNvPr id="231" name="Google Shape;231;g3f9f27743ce_5_0"/>
          <p:cNvSpPr/>
          <p:nvPr/>
        </p:nvSpPr>
        <p:spPr>
          <a:xfrm>
            <a:off x="241797" y="477105"/>
            <a:ext cx="4396500" cy="2286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2F6BFF"/>
              </a:buClr>
              <a:buSzPts val="1125"/>
              <a:buFont typeface="Arial"/>
              <a:buNone/>
            </a:pPr>
            <a:r>
              <a:rPr lang="en-US" sz="1425" b="1">
                <a:solidFill>
                  <a:schemeClr val="accent4"/>
                </a:solidFill>
              </a:rPr>
              <a:t>TABLERO KANBAN EN GITHUB PROJECTS</a:t>
            </a:r>
            <a:endParaRPr sz="1425" b="1">
              <a:solidFill>
                <a:schemeClr val="accent4"/>
              </a:solidFill>
            </a:endParaRPr>
          </a:p>
        </p:txBody>
      </p:sp>
      <p:pic>
        <p:nvPicPr>
          <p:cNvPr id="232" name="Google Shape;232;g3f9f27743ce_5_0"/>
          <p:cNvPicPr preferRelativeResize="0"/>
          <p:nvPr/>
        </p:nvPicPr>
        <p:blipFill>
          <a:blip r:embed="rId4">
            <a:alphaModFix amt="30000"/>
          </a:blip>
          <a:stretch>
            <a:fillRect/>
          </a:stretch>
        </p:blipFill>
        <p:spPr>
          <a:xfrm>
            <a:off x="69875" y="50250"/>
            <a:ext cx="1317358" cy="3238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7"/>
        <p:cNvGrpSpPr/>
        <p:nvPr/>
      </p:nvGrpSpPr>
      <p:grpSpPr>
        <a:xfrm>
          <a:off x="0" y="0"/>
          <a:ext cx="0" cy="0"/>
          <a:chOff x="0" y="0"/>
          <a:chExt cx="0" cy="0"/>
        </a:xfrm>
      </p:grpSpPr>
      <p:sp>
        <p:nvSpPr>
          <p:cNvPr id="238" name="Google Shape;238;g3f9f27743ce_5_5"/>
          <p:cNvSpPr/>
          <p:nvPr/>
        </p:nvSpPr>
        <p:spPr>
          <a:xfrm>
            <a:off x="514350" y="323850"/>
            <a:ext cx="6014100" cy="2286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2F6BFF"/>
              </a:buClr>
              <a:buSzPts val="1125"/>
              <a:buFont typeface="Arial"/>
              <a:buNone/>
            </a:pPr>
            <a:r>
              <a:rPr lang="en-US" sz="1425" b="1">
                <a:solidFill>
                  <a:schemeClr val="accent4"/>
                </a:solidFill>
              </a:rPr>
              <a:t>VISTA DE ROADMAP EN GITHUB PROJECTS</a:t>
            </a:r>
            <a:endParaRPr/>
          </a:p>
        </p:txBody>
      </p:sp>
      <p:sp>
        <p:nvSpPr>
          <p:cNvPr id="239" name="Google Shape;239;g3f9f27743ce_5_5"/>
          <p:cNvSpPr/>
          <p:nvPr/>
        </p:nvSpPr>
        <p:spPr>
          <a:xfrm>
            <a:off x="11334750" y="342900"/>
            <a:ext cx="342900" cy="209700"/>
          </a:xfrm>
          <a:prstGeom prst="rect">
            <a:avLst/>
          </a:prstGeom>
          <a:noFill/>
          <a:ln>
            <a:noFill/>
          </a:ln>
        </p:spPr>
        <p:txBody>
          <a:bodyPr spcFirstLastPara="1" wrap="square" lIns="0" tIns="0" rIns="0" bIns="0" anchor="t" anchorCtr="0">
            <a:noAutofit/>
          </a:bodyPr>
          <a:lstStyle/>
          <a:p>
            <a:pPr marL="0" marR="0" lvl="0" indent="0" algn="r" rtl="0">
              <a:lnSpc>
                <a:spcPct val="105000"/>
              </a:lnSpc>
              <a:spcBef>
                <a:spcPts val="0"/>
              </a:spcBef>
              <a:spcAft>
                <a:spcPts val="0"/>
              </a:spcAft>
              <a:buClr>
                <a:srgbClr val="5F6B7A"/>
              </a:buClr>
              <a:buSzPts val="1125"/>
              <a:buFont typeface="Arial"/>
              <a:buNone/>
            </a:pPr>
            <a:r>
              <a:rPr lang="en-US" sz="1125" b="0" i="0">
                <a:solidFill>
                  <a:srgbClr val="5F6B7A"/>
                </a:solidFill>
                <a:latin typeface="Arial"/>
                <a:ea typeface="Arial"/>
                <a:cs typeface="Arial"/>
                <a:sym typeface="Arial"/>
              </a:rPr>
              <a:t>07</a:t>
            </a:r>
            <a:endParaRPr/>
          </a:p>
        </p:txBody>
      </p:sp>
      <p:sp>
        <p:nvSpPr>
          <p:cNvPr id="240" name="Google Shape;240;g3f9f27743ce_5_5"/>
          <p:cNvSpPr/>
          <p:nvPr/>
        </p:nvSpPr>
        <p:spPr>
          <a:xfrm>
            <a:off x="514350" y="6515100"/>
            <a:ext cx="2476500" cy="1716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5F6B7A"/>
              </a:buClr>
              <a:buSzPts val="975"/>
              <a:buFont typeface="Arial"/>
              <a:buNone/>
            </a:pPr>
            <a:r>
              <a:rPr lang="en-US" sz="975" b="1" i="0">
                <a:solidFill>
                  <a:srgbClr val="5F6B7A"/>
                </a:solidFill>
                <a:latin typeface="Arial"/>
                <a:ea typeface="Arial"/>
                <a:cs typeface="Arial"/>
                <a:sym typeface="Arial"/>
              </a:rPr>
              <a:t>PROYECTO APT · FASE 1</a:t>
            </a:r>
            <a:endParaRPr/>
          </a:p>
        </p:txBody>
      </p:sp>
      <p:sp>
        <p:nvSpPr>
          <p:cNvPr id="241" name="Google Shape;241;g3f9f27743ce_5_5"/>
          <p:cNvSpPr/>
          <p:nvPr/>
        </p:nvSpPr>
        <p:spPr>
          <a:xfrm>
            <a:off x="11334750" y="6515100"/>
            <a:ext cx="342900" cy="171600"/>
          </a:xfrm>
          <a:prstGeom prst="rect">
            <a:avLst/>
          </a:prstGeom>
          <a:noFill/>
          <a:ln>
            <a:noFill/>
          </a:ln>
        </p:spPr>
        <p:txBody>
          <a:bodyPr spcFirstLastPara="1" wrap="square" lIns="0" tIns="0" rIns="0" bIns="0" anchor="t" anchorCtr="0">
            <a:noAutofit/>
          </a:bodyPr>
          <a:lstStyle/>
          <a:p>
            <a:pPr marL="0" marR="0" lvl="0" indent="0" algn="r" rtl="0">
              <a:lnSpc>
                <a:spcPct val="105000"/>
              </a:lnSpc>
              <a:spcBef>
                <a:spcPts val="0"/>
              </a:spcBef>
              <a:spcAft>
                <a:spcPts val="0"/>
              </a:spcAft>
              <a:buClr>
                <a:srgbClr val="5F6B7A"/>
              </a:buClr>
              <a:buSzPts val="975"/>
              <a:buFont typeface="Arial"/>
              <a:buNone/>
            </a:pPr>
            <a:r>
              <a:rPr lang="en-US" sz="975" b="0" i="0">
                <a:solidFill>
                  <a:srgbClr val="5F6B7A"/>
                </a:solidFill>
                <a:latin typeface="Arial"/>
                <a:ea typeface="Arial"/>
                <a:cs typeface="Arial"/>
                <a:sym typeface="Arial"/>
              </a:rPr>
              <a:t>07</a:t>
            </a:r>
            <a:endParaRPr/>
          </a:p>
        </p:txBody>
      </p:sp>
      <p:pic>
        <p:nvPicPr>
          <p:cNvPr id="242" name="Google Shape;242;g3f9f27743ce_5_5" title="Screenshot 2026-09-02 at 5.51.14 PM.png"/>
          <p:cNvPicPr preferRelativeResize="0"/>
          <p:nvPr/>
        </p:nvPicPr>
        <p:blipFill rotWithShape="1">
          <a:blip r:embed="rId3">
            <a:alphaModFix/>
          </a:blip>
          <a:srcRect r="25412"/>
          <a:stretch/>
        </p:blipFill>
        <p:spPr>
          <a:xfrm>
            <a:off x="1748750" y="692250"/>
            <a:ext cx="8866448" cy="5577551"/>
          </a:xfrm>
          <a:prstGeom prst="rect">
            <a:avLst/>
          </a:prstGeom>
          <a:noFill/>
          <a:ln>
            <a:noFill/>
          </a:ln>
        </p:spPr>
      </p:pic>
      <p:pic>
        <p:nvPicPr>
          <p:cNvPr id="243" name="Google Shape;243;g3f9f27743ce_5_5"/>
          <p:cNvPicPr preferRelativeResize="0"/>
          <p:nvPr/>
        </p:nvPicPr>
        <p:blipFill>
          <a:blip r:embed="rId4">
            <a:alphaModFix amt="30000"/>
          </a:blip>
          <a:stretch>
            <a:fillRect/>
          </a:stretch>
        </p:blipFill>
        <p:spPr>
          <a:xfrm>
            <a:off x="69875" y="50250"/>
            <a:ext cx="1317358" cy="3238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8"/>
        <p:cNvGrpSpPr/>
        <p:nvPr/>
      </p:nvGrpSpPr>
      <p:grpSpPr>
        <a:xfrm>
          <a:off x="0" y="0"/>
          <a:ext cx="0" cy="0"/>
          <a:chOff x="0" y="0"/>
          <a:chExt cx="0" cy="0"/>
        </a:xfrm>
      </p:grpSpPr>
      <p:sp>
        <p:nvSpPr>
          <p:cNvPr id="249" name="Google Shape;249;g3f9f27743ce_5_73"/>
          <p:cNvSpPr/>
          <p:nvPr/>
        </p:nvSpPr>
        <p:spPr>
          <a:xfrm>
            <a:off x="514350" y="592050"/>
            <a:ext cx="5490600" cy="2286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2F6BFF"/>
              </a:buClr>
              <a:buSzPts val="1125"/>
              <a:buFont typeface="Arial"/>
              <a:buNone/>
            </a:pPr>
            <a:r>
              <a:rPr lang="en-US" sz="1425" b="1">
                <a:solidFill>
                  <a:schemeClr val="accent4"/>
                </a:solidFill>
              </a:rPr>
              <a:t>VISTA DETALLADA DE TAREAS EN GITHUB PROJECTS</a:t>
            </a:r>
            <a:endParaRPr sz="1700">
              <a:solidFill>
                <a:schemeClr val="accent4"/>
              </a:solidFill>
            </a:endParaRPr>
          </a:p>
        </p:txBody>
      </p:sp>
      <p:sp>
        <p:nvSpPr>
          <p:cNvPr id="250" name="Google Shape;250;g3f9f27743ce_5_73"/>
          <p:cNvSpPr/>
          <p:nvPr/>
        </p:nvSpPr>
        <p:spPr>
          <a:xfrm>
            <a:off x="11334750" y="342900"/>
            <a:ext cx="342900" cy="209700"/>
          </a:xfrm>
          <a:prstGeom prst="rect">
            <a:avLst/>
          </a:prstGeom>
          <a:noFill/>
          <a:ln>
            <a:noFill/>
          </a:ln>
        </p:spPr>
        <p:txBody>
          <a:bodyPr spcFirstLastPara="1" wrap="square" lIns="0" tIns="0" rIns="0" bIns="0" anchor="t" anchorCtr="0">
            <a:noAutofit/>
          </a:bodyPr>
          <a:lstStyle/>
          <a:p>
            <a:pPr marL="0" marR="0" lvl="0" indent="0" algn="r" rtl="0">
              <a:lnSpc>
                <a:spcPct val="105000"/>
              </a:lnSpc>
              <a:spcBef>
                <a:spcPts val="0"/>
              </a:spcBef>
              <a:spcAft>
                <a:spcPts val="0"/>
              </a:spcAft>
              <a:buClr>
                <a:srgbClr val="5F6B7A"/>
              </a:buClr>
              <a:buSzPts val="1125"/>
              <a:buFont typeface="Arial"/>
              <a:buNone/>
            </a:pPr>
            <a:r>
              <a:rPr lang="en-US" sz="1125" b="0" i="0">
                <a:solidFill>
                  <a:srgbClr val="5F6B7A"/>
                </a:solidFill>
                <a:latin typeface="Arial"/>
                <a:ea typeface="Arial"/>
                <a:cs typeface="Arial"/>
                <a:sym typeface="Arial"/>
              </a:rPr>
              <a:t>07</a:t>
            </a:r>
            <a:endParaRPr/>
          </a:p>
        </p:txBody>
      </p:sp>
      <p:sp>
        <p:nvSpPr>
          <p:cNvPr id="251" name="Google Shape;251;g3f9f27743ce_5_73"/>
          <p:cNvSpPr/>
          <p:nvPr/>
        </p:nvSpPr>
        <p:spPr>
          <a:xfrm>
            <a:off x="514350" y="6515100"/>
            <a:ext cx="2476500" cy="1716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5F6B7A"/>
              </a:buClr>
              <a:buSzPts val="975"/>
              <a:buFont typeface="Arial"/>
              <a:buNone/>
            </a:pPr>
            <a:r>
              <a:rPr lang="en-US" sz="975" b="1" i="0">
                <a:solidFill>
                  <a:srgbClr val="5F6B7A"/>
                </a:solidFill>
                <a:latin typeface="Arial"/>
                <a:ea typeface="Arial"/>
                <a:cs typeface="Arial"/>
                <a:sym typeface="Arial"/>
              </a:rPr>
              <a:t>PROYECTO APT · FASE 1</a:t>
            </a:r>
            <a:endParaRPr/>
          </a:p>
        </p:txBody>
      </p:sp>
      <p:sp>
        <p:nvSpPr>
          <p:cNvPr id="252" name="Google Shape;252;g3f9f27743ce_5_73"/>
          <p:cNvSpPr/>
          <p:nvPr/>
        </p:nvSpPr>
        <p:spPr>
          <a:xfrm>
            <a:off x="11334750" y="6515100"/>
            <a:ext cx="342900" cy="171600"/>
          </a:xfrm>
          <a:prstGeom prst="rect">
            <a:avLst/>
          </a:prstGeom>
          <a:noFill/>
          <a:ln>
            <a:noFill/>
          </a:ln>
        </p:spPr>
        <p:txBody>
          <a:bodyPr spcFirstLastPara="1" wrap="square" lIns="0" tIns="0" rIns="0" bIns="0" anchor="t" anchorCtr="0">
            <a:noAutofit/>
          </a:bodyPr>
          <a:lstStyle/>
          <a:p>
            <a:pPr marL="0" marR="0" lvl="0" indent="0" algn="r" rtl="0">
              <a:lnSpc>
                <a:spcPct val="105000"/>
              </a:lnSpc>
              <a:spcBef>
                <a:spcPts val="0"/>
              </a:spcBef>
              <a:spcAft>
                <a:spcPts val="0"/>
              </a:spcAft>
              <a:buClr>
                <a:srgbClr val="5F6B7A"/>
              </a:buClr>
              <a:buSzPts val="975"/>
              <a:buFont typeface="Arial"/>
              <a:buNone/>
            </a:pPr>
            <a:r>
              <a:rPr lang="en-US" sz="975" b="0" i="0">
                <a:solidFill>
                  <a:srgbClr val="5F6B7A"/>
                </a:solidFill>
                <a:latin typeface="Arial"/>
                <a:ea typeface="Arial"/>
                <a:cs typeface="Arial"/>
                <a:sym typeface="Arial"/>
              </a:rPr>
              <a:t>07</a:t>
            </a:r>
            <a:endParaRPr/>
          </a:p>
        </p:txBody>
      </p:sp>
      <p:pic>
        <p:nvPicPr>
          <p:cNvPr id="253" name="Google Shape;253;g3f9f27743ce_5_73" title="Screenshot 2026-09-02 at 5.51.47 PM.png"/>
          <p:cNvPicPr preferRelativeResize="0"/>
          <p:nvPr/>
        </p:nvPicPr>
        <p:blipFill>
          <a:blip r:embed="rId3">
            <a:alphaModFix/>
          </a:blip>
          <a:stretch>
            <a:fillRect/>
          </a:stretch>
        </p:blipFill>
        <p:spPr>
          <a:xfrm>
            <a:off x="514350" y="1034225"/>
            <a:ext cx="10948101" cy="5136924"/>
          </a:xfrm>
          <a:prstGeom prst="rect">
            <a:avLst/>
          </a:prstGeom>
          <a:noFill/>
          <a:ln>
            <a:noFill/>
          </a:ln>
        </p:spPr>
      </p:pic>
      <p:pic>
        <p:nvPicPr>
          <p:cNvPr id="254" name="Google Shape;254;g3f9f27743ce_5_73"/>
          <p:cNvPicPr preferRelativeResize="0"/>
          <p:nvPr/>
        </p:nvPicPr>
        <p:blipFill>
          <a:blip r:embed="rId4">
            <a:alphaModFix amt="30000"/>
          </a:blip>
          <a:stretch>
            <a:fillRect/>
          </a:stretch>
        </p:blipFill>
        <p:spPr>
          <a:xfrm>
            <a:off x="69875" y="50250"/>
            <a:ext cx="1317358" cy="3238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9"/>
        <p:cNvGrpSpPr/>
        <p:nvPr/>
      </p:nvGrpSpPr>
      <p:grpSpPr>
        <a:xfrm>
          <a:off x="0" y="0"/>
          <a:ext cx="0" cy="0"/>
          <a:chOff x="0" y="0"/>
          <a:chExt cx="0" cy="0"/>
        </a:xfrm>
      </p:grpSpPr>
      <p:sp>
        <p:nvSpPr>
          <p:cNvPr id="260" name="Google Shape;260;p8"/>
          <p:cNvSpPr/>
          <p:nvPr/>
        </p:nvSpPr>
        <p:spPr>
          <a:xfrm>
            <a:off x="514350" y="323850"/>
            <a:ext cx="3143250" cy="2286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2F6BFF"/>
              </a:buClr>
              <a:buSzPts val="1125"/>
              <a:buFont typeface="Arial"/>
              <a:buNone/>
            </a:pPr>
            <a:r>
              <a:rPr lang="en-US" sz="1125" b="1" i="0">
                <a:solidFill>
                  <a:srgbClr val="2F6BFF"/>
                </a:solidFill>
                <a:latin typeface="Arial"/>
                <a:ea typeface="Arial"/>
                <a:cs typeface="Arial"/>
                <a:sym typeface="Arial"/>
              </a:rPr>
              <a:t>PROTOTIPO INICIAL</a:t>
            </a:r>
            <a:endParaRPr/>
          </a:p>
        </p:txBody>
      </p:sp>
      <p:sp>
        <p:nvSpPr>
          <p:cNvPr id="261" name="Google Shape;261;p8"/>
          <p:cNvSpPr/>
          <p:nvPr/>
        </p:nvSpPr>
        <p:spPr>
          <a:xfrm>
            <a:off x="514350" y="638175"/>
            <a:ext cx="10668000" cy="6477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0B1F33"/>
              </a:buClr>
              <a:buSzPts val="3600"/>
              <a:buFont typeface="Arial"/>
              <a:buNone/>
            </a:pPr>
            <a:r>
              <a:rPr lang="en-US" sz="3600" b="1">
                <a:solidFill>
                  <a:srgbClr val="0B1F33"/>
                </a:solidFill>
              </a:rPr>
              <a:t>Pantallas principales</a:t>
            </a:r>
            <a:endParaRPr/>
          </a:p>
        </p:txBody>
      </p:sp>
      <p:cxnSp>
        <p:nvCxnSpPr>
          <p:cNvPr id="262" name="Google Shape;262;p8"/>
          <p:cNvCxnSpPr/>
          <p:nvPr/>
        </p:nvCxnSpPr>
        <p:spPr>
          <a:xfrm>
            <a:off x="514350" y="1323975"/>
            <a:ext cx="11163300" cy="0"/>
          </a:xfrm>
          <a:prstGeom prst="straightConnector1">
            <a:avLst/>
          </a:prstGeom>
          <a:noFill/>
          <a:ln w="19050" cap="flat" cmpd="sng">
            <a:solidFill>
              <a:srgbClr val="E9EEF3"/>
            </a:solidFill>
            <a:prstDash val="solid"/>
            <a:round/>
            <a:headEnd type="none" w="sm" len="sm"/>
            <a:tailEnd type="none" w="sm" len="sm"/>
          </a:ln>
        </p:spPr>
      </p:cxnSp>
      <p:sp>
        <p:nvSpPr>
          <p:cNvPr id="263" name="Google Shape;263;p8"/>
          <p:cNvSpPr/>
          <p:nvPr/>
        </p:nvSpPr>
        <p:spPr>
          <a:xfrm>
            <a:off x="11334750" y="342900"/>
            <a:ext cx="342900" cy="209550"/>
          </a:xfrm>
          <a:prstGeom prst="rect">
            <a:avLst/>
          </a:prstGeom>
          <a:noFill/>
          <a:ln>
            <a:noFill/>
          </a:ln>
        </p:spPr>
        <p:txBody>
          <a:bodyPr spcFirstLastPara="1" wrap="square" lIns="0" tIns="0" rIns="0" bIns="0" anchor="t" anchorCtr="0">
            <a:noAutofit/>
          </a:bodyPr>
          <a:lstStyle/>
          <a:p>
            <a:pPr marL="0" marR="0" lvl="0" indent="0" algn="r" rtl="0">
              <a:lnSpc>
                <a:spcPct val="105000"/>
              </a:lnSpc>
              <a:spcBef>
                <a:spcPts val="0"/>
              </a:spcBef>
              <a:spcAft>
                <a:spcPts val="0"/>
              </a:spcAft>
              <a:buClr>
                <a:srgbClr val="5F6B7A"/>
              </a:buClr>
              <a:buSzPts val="1125"/>
              <a:buFont typeface="Arial"/>
              <a:buNone/>
            </a:pPr>
            <a:r>
              <a:rPr lang="en-US" sz="1125" b="0" i="0">
                <a:solidFill>
                  <a:srgbClr val="5F6B7A"/>
                </a:solidFill>
                <a:latin typeface="Arial"/>
                <a:ea typeface="Arial"/>
                <a:cs typeface="Arial"/>
                <a:sym typeface="Arial"/>
              </a:rPr>
              <a:t>08</a:t>
            </a:r>
            <a:endParaRPr/>
          </a:p>
        </p:txBody>
      </p:sp>
      <p:sp>
        <p:nvSpPr>
          <p:cNvPr id="264" name="Google Shape;264;p8"/>
          <p:cNvSpPr/>
          <p:nvPr/>
        </p:nvSpPr>
        <p:spPr>
          <a:xfrm>
            <a:off x="8991600" y="1438275"/>
            <a:ext cx="2667000" cy="285750"/>
          </a:xfrm>
          <a:prstGeom prst="roundRect">
            <a:avLst>
              <a:gd name="adj" fmla="val 26667"/>
            </a:avLst>
          </a:prstGeom>
          <a:solidFill>
            <a:srgbClr val="FFF0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8"/>
          <p:cNvSpPr/>
          <p:nvPr/>
        </p:nvSpPr>
        <p:spPr>
          <a:xfrm>
            <a:off x="9086850" y="1504950"/>
            <a:ext cx="2476500" cy="152400"/>
          </a:xfrm>
          <a:prstGeom prst="rect">
            <a:avLst/>
          </a:prstGeom>
          <a:noFill/>
          <a:ln>
            <a:noFill/>
          </a:ln>
        </p:spPr>
        <p:txBody>
          <a:bodyPr spcFirstLastPara="1" wrap="square" lIns="0" tIns="0" rIns="0" bIns="0" anchor="t" anchorCtr="0">
            <a:noAutofit/>
          </a:bodyPr>
          <a:lstStyle/>
          <a:p>
            <a:pPr marL="0" marR="0" lvl="0" indent="0" algn="ctr" rtl="0">
              <a:lnSpc>
                <a:spcPct val="105000"/>
              </a:lnSpc>
              <a:spcBef>
                <a:spcPts val="0"/>
              </a:spcBef>
              <a:spcAft>
                <a:spcPts val="0"/>
              </a:spcAft>
              <a:buClr>
                <a:srgbClr val="FF7F6E"/>
              </a:buClr>
              <a:buSzPts val="975"/>
              <a:buFont typeface="Arial"/>
              <a:buNone/>
            </a:pPr>
            <a:r>
              <a:rPr lang="en-US" sz="975" b="1" i="0">
                <a:solidFill>
                  <a:srgbClr val="FF7F6E"/>
                </a:solidFill>
                <a:latin typeface="Arial"/>
                <a:ea typeface="Arial"/>
                <a:cs typeface="Arial"/>
                <a:sym typeface="Arial"/>
              </a:rPr>
              <a:t>WIREFRAME · DATOS ILUSTRATIVOS</a:t>
            </a:r>
            <a:endParaRPr/>
          </a:p>
        </p:txBody>
      </p:sp>
      <p:sp>
        <p:nvSpPr>
          <p:cNvPr id="266" name="Google Shape;266;p8"/>
          <p:cNvSpPr/>
          <p:nvPr/>
        </p:nvSpPr>
        <p:spPr>
          <a:xfrm>
            <a:off x="514350" y="6515100"/>
            <a:ext cx="2476500" cy="17145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5F6B7A"/>
              </a:buClr>
              <a:buSzPts val="975"/>
              <a:buFont typeface="Arial"/>
              <a:buNone/>
            </a:pPr>
            <a:r>
              <a:rPr lang="en-US" sz="975" b="1" i="0">
                <a:solidFill>
                  <a:srgbClr val="5F6B7A"/>
                </a:solidFill>
                <a:latin typeface="Arial"/>
                <a:ea typeface="Arial"/>
                <a:cs typeface="Arial"/>
                <a:sym typeface="Arial"/>
              </a:rPr>
              <a:t>PROYECTO APT · FASE 1</a:t>
            </a:r>
            <a:endParaRPr/>
          </a:p>
        </p:txBody>
      </p:sp>
      <p:sp>
        <p:nvSpPr>
          <p:cNvPr id="267" name="Google Shape;267;p8"/>
          <p:cNvSpPr/>
          <p:nvPr/>
        </p:nvSpPr>
        <p:spPr>
          <a:xfrm>
            <a:off x="11334750" y="6515100"/>
            <a:ext cx="342900" cy="171450"/>
          </a:xfrm>
          <a:prstGeom prst="rect">
            <a:avLst/>
          </a:prstGeom>
          <a:noFill/>
          <a:ln>
            <a:noFill/>
          </a:ln>
        </p:spPr>
        <p:txBody>
          <a:bodyPr spcFirstLastPara="1" wrap="square" lIns="0" tIns="0" rIns="0" bIns="0" anchor="t" anchorCtr="0">
            <a:noAutofit/>
          </a:bodyPr>
          <a:lstStyle/>
          <a:p>
            <a:pPr marL="0" marR="0" lvl="0" indent="0" algn="r" rtl="0">
              <a:lnSpc>
                <a:spcPct val="105000"/>
              </a:lnSpc>
              <a:spcBef>
                <a:spcPts val="0"/>
              </a:spcBef>
              <a:spcAft>
                <a:spcPts val="0"/>
              </a:spcAft>
              <a:buClr>
                <a:srgbClr val="5F6B7A"/>
              </a:buClr>
              <a:buSzPts val="975"/>
              <a:buFont typeface="Arial"/>
              <a:buNone/>
            </a:pPr>
            <a:r>
              <a:rPr lang="en-US" sz="975" b="0" i="0">
                <a:solidFill>
                  <a:srgbClr val="5F6B7A"/>
                </a:solidFill>
                <a:latin typeface="Arial"/>
                <a:ea typeface="Arial"/>
                <a:cs typeface="Arial"/>
                <a:sym typeface="Arial"/>
              </a:rPr>
              <a:t>08</a:t>
            </a:r>
            <a:endParaRPr/>
          </a:p>
        </p:txBody>
      </p:sp>
      <p:pic>
        <p:nvPicPr>
          <p:cNvPr id="268" name="Google Shape;268;p8" title="Screenshot_11.png"/>
          <p:cNvPicPr preferRelativeResize="0"/>
          <p:nvPr/>
        </p:nvPicPr>
        <p:blipFill>
          <a:blip r:embed="rId3">
            <a:alphaModFix/>
          </a:blip>
          <a:stretch>
            <a:fillRect/>
          </a:stretch>
        </p:blipFill>
        <p:spPr>
          <a:xfrm>
            <a:off x="901100" y="1504950"/>
            <a:ext cx="4858649" cy="3037100"/>
          </a:xfrm>
          <a:prstGeom prst="rect">
            <a:avLst/>
          </a:prstGeom>
          <a:noFill/>
          <a:ln>
            <a:noFill/>
          </a:ln>
          <a:effectLst>
            <a:outerShdw blurRad="57150" dist="19050" dir="5400000" algn="bl" rotWithShape="0">
              <a:srgbClr val="000000">
                <a:alpha val="61000"/>
              </a:srgbClr>
            </a:outerShdw>
          </a:effectLst>
        </p:spPr>
      </p:pic>
      <p:pic>
        <p:nvPicPr>
          <p:cNvPr id="269" name="Google Shape;269;p8" title="Screenshot_12.png"/>
          <p:cNvPicPr preferRelativeResize="0"/>
          <p:nvPr/>
        </p:nvPicPr>
        <p:blipFill>
          <a:blip r:embed="rId4">
            <a:alphaModFix/>
          </a:blip>
          <a:stretch>
            <a:fillRect/>
          </a:stretch>
        </p:blipFill>
        <p:spPr>
          <a:xfrm>
            <a:off x="6078100" y="3352075"/>
            <a:ext cx="5197850" cy="3234625"/>
          </a:xfrm>
          <a:prstGeom prst="rect">
            <a:avLst/>
          </a:prstGeom>
          <a:noFill/>
          <a:ln>
            <a:noFill/>
          </a:ln>
          <a:effectLst>
            <a:outerShdw blurRad="57150" dist="19050" dir="5400000" algn="bl" rotWithShape="0">
              <a:srgbClr val="000000">
                <a:alpha val="61000"/>
              </a:srgbClr>
            </a:outerShdw>
          </a:effectLst>
        </p:spPr>
      </p:pic>
      <p:pic>
        <p:nvPicPr>
          <p:cNvPr id="270" name="Google Shape;270;p8"/>
          <p:cNvPicPr preferRelativeResize="0"/>
          <p:nvPr/>
        </p:nvPicPr>
        <p:blipFill>
          <a:blip r:embed="rId5">
            <a:alphaModFix amt="30000"/>
          </a:blip>
          <a:stretch>
            <a:fillRect/>
          </a:stretch>
        </p:blipFill>
        <p:spPr>
          <a:xfrm>
            <a:off x="69875" y="50250"/>
            <a:ext cx="1317358" cy="3238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5"/>
        <p:cNvGrpSpPr/>
        <p:nvPr/>
      </p:nvGrpSpPr>
      <p:grpSpPr>
        <a:xfrm>
          <a:off x="0" y="0"/>
          <a:ext cx="0" cy="0"/>
          <a:chOff x="0" y="0"/>
          <a:chExt cx="0" cy="0"/>
        </a:xfrm>
      </p:grpSpPr>
      <p:sp>
        <p:nvSpPr>
          <p:cNvPr id="276" name="Google Shape;276;p9"/>
          <p:cNvSpPr/>
          <p:nvPr/>
        </p:nvSpPr>
        <p:spPr>
          <a:xfrm>
            <a:off x="514350" y="323850"/>
            <a:ext cx="3143250" cy="2286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2F6BFF"/>
              </a:buClr>
              <a:buSzPts val="1125"/>
              <a:buFont typeface="Arial"/>
              <a:buNone/>
            </a:pPr>
            <a:r>
              <a:rPr lang="en-US" sz="1125" b="1" i="0">
                <a:solidFill>
                  <a:srgbClr val="2F6BFF"/>
                </a:solidFill>
                <a:latin typeface="Arial"/>
                <a:ea typeface="Arial"/>
                <a:cs typeface="Arial"/>
                <a:sym typeface="Arial"/>
              </a:rPr>
              <a:t>APRENDIZAJES Y EVIDENCIAS</a:t>
            </a:r>
            <a:endParaRPr/>
          </a:p>
        </p:txBody>
      </p:sp>
      <p:sp>
        <p:nvSpPr>
          <p:cNvPr id="277" name="Google Shape;277;p9"/>
          <p:cNvSpPr/>
          <p:nvPr/>
        </p:nvSpPr>
        <p:spPr>
          <a:xfrm>
            <a:off x="514350" y="638175"/>
            <a:ext cx="10668000" cy="6477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0B1F33"/>
              </a:buClr>
              <a:buSzPts val="3600"/>
              <a:buFont typeface="Arial"/>
              <a:buNone/>
            </a:pPr>
            <a:r>
              <a:rPr lang="en-US" sz="3600" b="1">
                <a:solidFill>
                  <a:srgbClr val="0B1F33"/>
                </a:solidFill>
              </a:rPr>
              <a:t>Avances y evidencias del proyecto</a:t>
            </a:r>
            <a:endParaRPr/>
          </a:p>
        </p:txBody>
      </p:sp>
      <p:cxnSp>
        <p:nvCxnSpPr>
          <p:cNvPr id="278" name="Google Shape;278;p9"/>
          <p:cNvCxnSpPr/>
          <p:nvPr/>
        </p:nvCxnSpPr>
        <p:spPr>
          <a:xfrm>
            <a:off x="514350" y="1323975"/>
            <a:ext cx="11163300" cy="0"/>
          </a:xfrm>
          <a:prstGeom prst="straightConnector1">
            <a:avLst/>
          </a:prstGeom>
          <a:noFill/>
          <a:ln w="19050" cap="flat" cmpd="sng">
            <a:solidFill>
              <a:srgbClr val="E9EEF3"/>
            </a:solidFill>
            <a:prstDash val="solid"/>
            <a:round/>
            <a:headEnd type="none" w="sm" len="sm"/>
            <a:tailEnd type="none" w="sm" len="sm"/>
          </a:ln>
        </p:spPr>
      </p:cxnSp>
      <p:sp>
        <p:nvSpPr>
          <p:cNvPr id="279" name="Google Shape;279;p9"/>
          <p:cNvSpPr/>
          <p:nvPr/>
        </p:nvSpPr>
        <p:spPr>
          <a:xfrm>
            <a:off x="11334750" y="342900"/>
            <a:ext cx="342900" cy="209550"/>
          </a:xfrm>
          <a:prstGeom prst="rect">
            <a:avLst/>
          </a:prstGeom>
          <a:noFill/>
          <a:ln>
            <a:noFill/>
          </a:ln>
        </p:spPr>
        <p:txBody>
          <a:bodyPr spcFirstLastPara="1" wrap="square" lIns="0" tIns="0" rIns="0" bIns="0" anchor="t" anchorCtr="0">
            <a:noAutofit/>
          </a:bodyPr>
          <a:lstStyle/>
          <a:p>
            <a:pPr marL="0" marR="0" lvl="0" indent="0" algn="r" rtl="0">
              <a:lnSpc>
                <a:spcPct val="105000"/>
              </a:lnSpc>
              <a:spcBef>
                <a:spcPts val="0"/>
              </a:spcBef>
              <a:spcAft>
                <a:spcPts val="0"/>
              </a:spcAft>
              <a:buClr>
                <a:srgbClr val="5F6B7A"/>
              </a:buClr>
              <a:buSzPts val="1125"/>
              <a:buFont typeface="Arial"/>
              <a:buNone/>
            </a:pPr>
            <a:r>
              <a:rPr lang="en-US" sz="1125" b="0" i="0">
                <a:solidFill>
                  <a:srgbClr val="5F6B7A"/>
                </a:solidFill>
                <a:latin typeface="Arial"/>
                <a:ea typeface="Arial"/>
                <a:cs typeface="Arial"/>
                <a:sym typeface="Arial"/>
              </a:rPr>
              <a:t>09</a:t>
            </a:r>
            <a:endParaRPr/>
          </a:p>
        </p:txBody>
      </p:sp>
      <p:sp>
        <p:nvSpPr>
          <p:cNvPr id="280" name="Google Shape;280;p9"/>
          <p:cNvSpPr/>
          <p:nvPr/>
        </p:nvSpPr>
        <p:spPr>
          <a:xfrm>
            <a:off x="523875" y="1628775"/>
            <a:ext cx="4572000" cy="2286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2F6BFF"/>
              </a:buClr>
              <a:buSzPts val="1200"/>
              <a:buFont typeface="Arial"/>
              <a:buNone/>
            </a:pPr>
            <a:r>
              <a:rPr lang="en-US" sz="1200" b="1" i="0">
                <a:solidFill>
                  <a:srgbClr val="2F6BFF"/>
                </a:solidFill>
                <a:latin typeface="Arial"/>
                <a:ea typeface="Arial"/>
                <a:cs typeface="Arial"/>
                <a:sym typeface="Arial"/>
              </a:rPr>
              <a:t>APRENDIZAJES ESPERADOS</a:t>
            </a:r>
            <a:endParaRPr/>
          </a:p>
        </p:txBody>
      </p:sp>
      <p:sp>
        <p:nvSpPr>
          <p:cNvPr id="281" name="Google Shape;281;p9"/>
          <p:cNvSpPr/>
          <p:nvPr/>
        </p:nvSpPr>
        <p:spPr>
          <a:xfrm>
            <a:off x="523875" y="2105025"/>
            <a:ext cx="476250" cy="3048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2F6BFF"/>
              </a:buClr>
              <a:buSzPts val="1800"/>
              <a:buFont typeface="Arial"/>
              <a:buNone/>
            </a:pPr>
            <a:r>
              <a:rPr lang="en-US" sz="1800" b="1" i="0">
                <a:solidFill>
                  <a:srgbClr val="2F6BFF"/>
                </a:solidFill>
                <a:latin typeface="Arial"/>
                <a:ea typeface="Arial"/>
                <a:cs typeface="Arial"/>
                <a:sym typeface="Arial"/>
              </a:rPr>
              <a:t>01</a:t>
            </a:r>
            <a:endParaRPr/>
          </a:p>
        </p:txBody>
      </p:sp>
      <p:sp>
        <p:nvSpPr>
          <p:cNvPr id="282" name="Google Shape;282;p9"/>
          <p:cNvSpPr/>
          <p:nvPr/>
        </p:nvSpPr>
        <p:spPr>
          <a:xfrm>
            <a:off x="1162050" y="2105025"/>
            <a:ext cx="3429000" cy="2667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0B1F33"/>
              </a:buClr>
              <a:buSzPts val="1725"/>
              <a:buFont typeface="Arial"/>
              <a:buNone/>
            </a:pPr>
            <a:r>
              <a:rPr lang="en-US" sz="1725" b="1" i="0">
                <a:solidFill>
                  <a:srgbClr val="0B1F33"/>
                </a:solidFill>
                <a:latin typeface="Arial"/>
                <a:ea typeface="Arial"/>
                <a:cs typeface="Arial"/>
                <a:sym typeface="Arial"/>
              </a:rPr>
              <a:t>Trabajo colaborativo</a:t>
            </a:r>
            <a:endParaRPr/>
          </a:p>
        </p:txBody>
      </p:sp>
      <p:sp>
        <p:nvSpPr>
          <p:cNvPr id="283" name="Google Shape;283;p9"/>
          <p:cNvSpPr/>
          <p:nvPr/>
        </p:nvSpPr>
        <p:spPr>
          <a:xfrm>
            <a:off x="1162050" y="2438400"/>
            <a:ext cx="3714750" cy="4191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5F6B7A"/>
              </a:buClr>
              <a:buSzPts val="1350"/>
              <a:buFont typeface="Arial"/>
              <a:buNone/>
            </a:pPr>
            <a:r>
              <a:rPr lang="en-US" sz="1350" b="0" i="0">
                <a:solidFill>
                  <a:srgbClr val="5F6B7A"/>
                </a:solidFill>
                <a:latin typeface="Arial"/>
                <a:ea typeface="Arial"/>
                <a:cs typeface="Arial"/>
                <a:sym typeface="Arial"/>
              </a:rPr>
              <a:t>Acuerdos, roles, revisiones y decisiones compartidas.</a:t>
            </a:r>
            <a:endParaRPr/>
          </a:p>
        </p:txBody>
      </p:sp>
      <p:sp>
        <p:nvSpPr>
          <p:cNvPr id="284" name="Google Shape;284;p9"/>
          <p:cNvSpPr/>
          <p:nvPr/>
        </p:nvSpPr>
        <p:spPr>
          <a:xfrm>
            <a:off x="523875" y="3009900"/>
            <a:ext cx="476250" cy="3048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2F6BFF"/>
              </a:buClr>
              <a:buSzPts val="1800"/>
              <a:buFont typeface="Arial"/>
              <a:buNone/>
            </a:pPr>
            <a:r>
              <a:rPr lang="en-US" sz="1800" b="1" i="0">
                <a:solidFill>
                  <a:srgbClr val="2F6BFF"/>
                </a:solidFill>
                <a:latin typeface="Arial"/>
                <a:ea typeface="Arial"/>
                <a:cs typeface="Arial"/>
                <a:sym typeface="Arial"/>
              </a:rPr>
              <a:t>02</a:t>
            </a:r>
            <a:endParaRPr/>
          </a:p>
        </p:txBody>
      </p:sp>
      <p:sp>
        <p:nvSpPr>
          <p:cNvPr id="285" name="Google Shape;285;p9"/>
          <p:cNvSpPr/>
          <p:nvPr/>
        </p:nvSpPr>
        <p:spPr>
          <a:xfrm>
            <a:off x="1162050" y="3009900"/>
            <a:ext cx="3429000" cy="2667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0B1F33"/>
              </a:buClr>
              <a:buSzPts val="1725"/>
              <a:buFont typeface="Arial"/>
              <a:buNone/>
            </a:pPr>
            <a:r>
              <a:rPr lang="en-US" sz="1725" b="1" i="0">
                <a:solidFill>
                  <a:srgbClr val="0B1F33"/>
                </a:solidFill>
                <a:latin typeface="Arial"/>
                <a:ea typeface="Arial"/>
                <a:cs typeface="Arial"/>
                <a:sym typeface="Arial"/>
              </a:rPr>
              <a:t>Gestión de proyecto</a:t>
            </a:r>
            <a:endParaRPr/>
          </a:p>
        </p:txBody>
      </p:sp>
      <p:sp>
        <p:nvSpPr>
          <p:cNvPr id="286" name="Google Shape;286;p9"/>
          <p:cNvSpPr/>
          <p:nvPr/>
        </p:nvSpPr>
        <p:spPr>
          <a:xfrm>
            <a:off x="1162050" y="3343275"/>
            <a:ext cx="3714750" cy="4191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5F6B7A"/>
              </a:buClr>
              <a:buSzPts val="1350"/>
              <a:buFont typeface="Arial"/>
              <a:buNone/>
            </a:pPr>
            <a:r>
              <a:rPr lang="en-US" sz="1350" b="0" i="0">
                <a:solidFill>
                  <a:srgbClr val="5F6B7A"/>
                </a:solidFill>
                <a:latin typeface="Arial"/>
                <a:ea typeface="Arial"/>
                <a:cs typeface="Arial"/>
                <a:sym typeface="Arial"/>
              </a:rPr>
              <a:t>Backlog, prioridades, tiempos y control de bloqueos.</a:t>
            </a:r>
            <a:endParaRPr/>
          </a:p>
        </p:txBody>
      </p:sp>
      <p:sp>
        <p:nvSpPr>
          <p:cNvPr id="287" name="Google Shape;287;p9"/>
          <p:cNvSpPr/>
          <p:nvPr/>
        </p:nvSpPr>
        <p:spPr>
          <a:xfrm>
            <a:off x="523875" y="3914775"/>
            <a:ext cx="476250" cy="3048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18A999"/>
              </a:buClr>
              <a:buSzPts val="1800"/>
              <a:buFont typeface="Arial"/>
              <a:buNone/>
            </a:pPr>
            <a:r>
              <a:rPr lang="en-US" sz="1800" b="1" i="0">
                <a:solidFill>
                  <a:srgbClr val="18A999"/>
                </a:solidFill>
                <a:latin typeface="Arial"/>
                <a:ea typeface="Arial"/>
                <a:cs typeface="Arial"/>
                <a:sym typeface="Arial"/>
              </a:rPr>
              <a:t>03</a:t>
            </a:r>
            <a:endParaRPr/>
          </a:p>
        </p:txBody>
      </p:sp>
      <p:sp>
        <p:nvSpPr>
          <p:cNvPr id="288" name="Google Shape;288;p9"/>
          <p:cNvSpPr/>
          <p:nvPr/>
        </p:nvSpPr>
        <p:spPr>
          <a:xfrm>
            <a:off x="1162050" y="3914775"/>
            <a:ext cx="3429000" cy="2667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0B1F33"/>
              </a:buClr>
              <a:buSzPts val="1725"/>
              <a:buFont typeface="Arial"/>
              <a:buNone/>
            </a:pPr>
            <a:r>
              <a:rPr lang="en-US" sz="1725" b="1" i="0">
                <a:solidFill>
                  <a:srgbClr val="0B1F33"/>
                </a:solidFill>
                <a:latin typeface="Arial"/>
                <a:ea typeface="Arial"/>
                <a:cs typeface="Arial"/>
                <a:sym typeface="Arial"/>
              </a:rPr>
              <a:t>Solución informática</a:t>
            </a:r>
            <a:endParaRPr/>
          </a:p>
        </p:txBody>
      </p:sp>
      <p:sp>
        <p:nvSpPr>
          <p:cNvPr id="289" name="Google Shape;289;p9"/>
          <p:cNvSpPr/>
          <p:nvPr/>
        </p:nvSpPr>
        <p:spPr>
          <a:xfrm>
            <a:off x="1162050" y="4248150"/>
            <a:ext cx="3714750" cy="4191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5F6B7A"/>
              </a:buClr>
              <a:buSzPts val="1350"/>
              <a:buFont typeface="Arial"/>
              <a:buNone/>
            </a:pPr>
            <a:r>
              <a:rPr lang="en-US" sz="1350" b="0" i="0">
                <a:solidFill>
                  <a:srgbClr val="5F6B7A"/>
                </a:solidFill>
                <a:latin typeface="Arial"/>
                <a:ea typeface="Arial"/>
                <a:cs typeface="Arial"/>
                <a:sym typeface="Arial"/>
              </a:rPr>
              <a:t>Datos, modelos, API, interfaz e integración.</a:t>
            </a:r>
            <a:endParaRPr/>
          </a:p>
        </p:txBody>
      </p:sp>
      <p:sp>
        <p:nvSpPr>
          <p:cNvPr id="290" name="Google Shape;290;p9"/>
          <p:cNvSpPr/>
          <p:nvPr/>
        </p:nvSpPr>
        <p:spPr>
          <a:xfrm>
            <a:off x="523875" y="4819650"/>
            <a:ext cx="476250" cy="3048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2F6BFF"/>
              </a:buClr>
              <a:buSzPts val="1800"/>
              <a:buFont typeface="Arial"/>
              <a:buNone/>
            </a:pPr>
            <a:r>
              <a:rPr lang="en-US" sz="1800" b="1" i="0">
                <a:solidFill>
                  <a:srgbClr val="2F6BFF"/>
                </a:solidFill>
                <a:latin typeface="Arial"/>
                <a:ea typeface="Arial"/>
                <a:cs typeface="Arial"/>
                <a:sym typeface="Arial"/>
              </a:rPr>
              <a:t>04</a:t>
            </a:r>
            <a:endParaRPr/>
          </a:p>
        </p:txBody>
      </p:sp>
      <p:sp>
        <p:nvSpPr>
          <p:cNvPr id="291" name="Google Shape;291;p9"/>
          <p:cNvSpPr/>
          <p:nvPr/>
        </p:nvSpPr>
        <p:spPr>
          <a:xfrm>
            <a:off x="1162050" y="4819650"/>
            <a:ext cx="3429000" cy="2667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0B1F33"/>
              </a:buClr>
              <a:buSzPts val="1725"/>
              <a:buFont typeface="Arial"/>
              <a:buNone/>
            </a:pPr>
            <a:r>
              <a:rPr lang="en-US" sz="1725" b="1" i="0">
                <a:solidFill>
                  <a:srgbClr val="0B1F33"/>
                </a:solidFill>
                <a:latin typeface="Arial"/>
                <a:ea typeface="Arial"/>
                <a:cs typeface="Arial"/>
                <a:sym typeface="Arial"/>
              </a:rPr>
              <a:t>Calidad y comunicación</a:t>
            </a:r>
            <a:endParaRPr/>
          </a:p>
        </p:txBody>
      </p:sp>
      <p:sp>
        <p:nvSpPr>
          <p:cNvPr id="292" name="Google Shape;292;p9"/>
          <p:cNvSpPr/>
          <p:nvPr/>
        </p:nvSpPr>
        <p:spPr>
          <a:xfrm>
            <a:off x="1162050" y="5153025"/>
            <a:ext cx="3714750" cy="4191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5F6B7A"/>
              </a:buClr>
              <a:buSzPts val="1350"/>
              <a:buFont typeface="Arial"/>
              <a:buNone/>
            </a:pPr>
            <a:r>
              <a:rPr lang="en-US" sz="1350" b="0" i="0">
                <a:solidFill>
                  <a:srgbClr val="5F6B7A"/>
                </a:solidFill>
                <a:latin typeface="Arial"/>
                <a:ea typeface="Arial"/>
                <a:cs typeface="Arial"/>
                <a:sym typeface="Arial"/>
              </a:rPr>
              <a:t>Pruebas, trazabilidad, límites y presentación.</a:t>
            </a:r>
            <a:endParaRPr/>
          </a:p>
        </p:txBody>
      </p:sp>
      <p:cxnSp>
        <p:nvCxnSpPr>
          <p:cNvPr id="293" name="Google Shape;293;p9"/>
          <p:cNvCxnSpPr/>
          <p:nvPr/>
        </p:nvCxnSpPr>
        <p:spPr>
          <a:xfrm>
            <a:off x="5448300" y="1695450"/>
            <a:ext cx="0" cy="4095750"/>
          </a:xfrm>
          <a:prstGeom prst="straightConnector1">
            <a:avLst/>
          </a:prstGeom>
          <a:noFill/>
          <a:ln w="19050" cap="flat" cmpd="sng">
            <a:solidFill>
              <a:srgbClr val="E9EEF3"/>
            </a:solidFill>
            <a:prstDash val="solid"/>
            <a:round/>
            <a:headEnd type="none" w="sm" len="sm"/>
            <a:tailEnd type="none" w="sm" len="sm"/>
          </a:ln>
        </p:spPr>
      </p:cxnSp>
      <p:sp>
        <p:nvSpPr>
          <p:cNvPr id="294" name="Google Shape;294;p9"/>
          <p:cNvSpPr/>
          <p:nvPr/>
        </p:nvSpPr>
        <p:spPr>
          <a:xfrm>
            <a:off x="5943600" y="1628775"/>
            <a:ext cx="4572000" cy="2286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FF7F6E"/>
              </a:buClr>
              <a:buSzPts val="1200"/>
              <a:buFont typeface="Arial"/>
              <a:buNone/>
            </a:pPr>
            <a:r>
              <a:rPr lang="en-US" sz="1200" b="1" i="0">
                <a:solidFill>
                  <a:srgbClr val="FF7F6E"/>
                </a:solidFill>
                <a:latin typeface="Arial"/>
                <a:ea typeface="Arial"/>
                <a:cs typeface="Arial"/>
                <a:sym typeface="Arial"/>
              </a:rPr>
              <a:t>EVIDENCIAS EVALUABLES</a:t>
            </a:r>
            <a:endParaRPr/>
          </a:p>
        </p:txBody>
      </p:sp>
      <p:sp>
        <p:nvSpPr>
          <p:cNvPr id="295" name="Google Shape;295;p9"/>
          <p:cNvSpPr/>
          <p:nvPr/>
        </p:nvSpPr>
        <p:spPr>
          <a:xfrm>
            <a:off x="5943600" y="2133600"/>
            <a:ext cx="114300" cy="581025"/>
          </a:xfrm>
          <a:prstGeom prst="rect">
            <a:avLst/>
          </a:prstGeom>
          <a:solidFill>
            <a:srgbClr val="0B1F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9"/>
          <p:cNvSpPr/>
          <p:nvPr/>
        </p:nvSpPr>
        <p:spPr>
          <a:xfrm>
            <a:off x="6286500" y="2095500"/>
            <a:ext cx="4095750" cy="28575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0B1F33"/>
              </a:buClr>
              <a:buSzPts val="1725"/>
              <a:buFont typeface="Arial"/>
              <a:buNone/>
            </a:pPr>
            <a:r>
              <a:rPr lang="en-US" sz="1725" b="1" i="0">
                <a:solidFill>
                  <a:srgbClr val="0B1F33"/>
                </a:solidFill>
                <a:latin typeface="Arial"/>
                <a:ea typeface="Arial"/>
                <a:cs typeface="Arial"/>
                <a:sym typeface="Arial"/>
              </a:rPr>
              <a:t>Disponible · alcance y datos</a:t>
            </a:r>
            <a:endParaRPr/>
          </a:p>
        </p:txBody>
      </p:sp>
      <p:sp>
        <p:nvSpPr>
          <p:cNvPr id="297" name="Google Shape;297;p9"/>
          <p:cNvSpPr/>
          <p:nvPr/>
        </p:nvSpPr>
        <p:spPr>
          <a:xfrm>
            <a:off x="6286500" y="2438400"/>
            <a:ext cx="4762500" cy="428625"/>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5F6B7A"/>
              </a:buClr>
              <a:buSzPts val="1350"/>
              <a:buFont typeface="Arial"/>
              <a:buNone/>
            </a:pPr>
            <a:r>
              <a:rPr lang="en-US" sz="1350" b="0" i="0">
                <a:solidFill>
                  <a:srgbClr val="5F6B7A"/>
                </a:solidFill>
                <a:latin typeface="Arial"/>
                <a:ea typeface="Arial"/>
                <a:cs typeface="Arial"/>
                <a:sym typeface="Arial"/>
              </a:rPr>
              <a:t>Definición, bitácoras, pipeline, normalización y reportes EDA.</a:t>
            </a:r>
            <a:endParaRPr/>
          </a:p>
        </p:txBody>
      </p:sp>
      <p:sp>
        <p:nvSpPr>
          <p:cNvPr id="298" name="Google Shape;298;p9"/>
          <p:cNvSpPr/>
          <p:nvPr/>
        </p:nvSpPr>
        <p:spPr>
          <a:xfrm>
            <a:off x="5943600" y="3038475"/>
            <a:ext cx="114300" cy="581025"/>
          </a:xfrm>
          <a:prstGeom prst="rect">
            <a:avLst/>
          </a:prstGeom>
          <a:solidFill>
            <a:srgbClr val="0B1F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9"/>
          <p:cNvSpPr/>
          <p:nvPr/>
        </p:nvSpPr>
        <p:spPr>
          <a:xfrm>
            <a:off x="6286500" y="3000375"/>
            <a:ext cx="4095750" cy="28575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0B1F33"/>
              </a:buClr>
              <a:buSzPts val="1725"/>
              <a:buFont typeface="Arial"/>
              <a:buNone/>
            </a:pPr>
            <a:r>
              <a:rPr lang="en-US" sz="1725" b="1" i="0">
                <a:solidFill>
                  <a:srgbClr val="0B1F33"/>
                </a:solidFill>
                <a:latin typeface="Arial"/>
                <a:ea typeface="Arial"/>
                <a:cs typeface="Arial"/>
                <a:sym typeface="Arial"/>
              </a:rPr>
              <a:t>Parcial · código y pruebas</a:t>
            </a:r>
            <a:endParaRPr/>
          </a:p>
        </p:txBody>
      </p:sp>
      <p:sp>
        <p:nvSpPr>
          <p:cNvPr id="300" name="Google Shape;300;p9"/>
          <p:cNvSpPr/>
          <p:nvPr/>
        </p:nvSpPr>
        <p:spPr>
          <a:xfrm>
            <a:off x="6286500" y="3343275"/>
            <a:ext cx="4762500" cy="428625"/>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5F6B7A"/>
              </a:buClr>
              <a:buSzPts val="1350"/>
              <a:buFont typeface="Arial"/>
              <a:buNone/>
            </a:pPr>
            <a:r>
              <a:rPr lang="en-US" sz="1350" b="0" i="0">
                <a:solidFill>
                  <a:srgbClr val="5F6B7A"/>
                </a:solidFill>
                <a:latin typeface="Arial"/>
                <a:ea typeface="Arial"/>
                <a:cs typeface="Arial"/>
                <a:sym typeface="Arial"/>
              </a:rPr>
              <a:t>Tests escritos; falta ejecutar suite y cerrar reproducibilidad.</a:t>
            </a:r>
            <a:endParaRPr/>
          </a:p>
        </p:txBody>
      </p:sp>
      <p:sp>
        <p:nvSpPr>
          <p:cNvPr id="301" name="Google Shape;301;p9"/>
          <p:cNvSpPr/>
          <p:nvPr/>
        </p:nvSpPr>
        <p:spPr>
          <a:xfrm>
            <a:off x="5943600" y="3943350"/>
            <a:ext cx="114300" cy="581025"/>
          </a:xfrm>
          <a:prstGeom prst="rect">
            <a:avLst/>
          </a:prstGeom>
          <a:solidFill>
            <a:srgbClr val="0B1F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9"/>
          <p:cNvSpPr/>
          <p:nvPr/>
        </p:nvSpPr>
        <p:spPr>
          <a:xfrm>
            <a:off x="6286500" y="3905250"/>
            <a:ext cx="4095750" cy="28575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0B1F33"/>
              </a:buClr>
              <a:buSzPts val="1725"/>
              <a:buFont typeface="Arial"/>
              <a:buNone/>
            </a:pPr>
            <a:r>
              <a:rPr lang="en-US" sz="1725" b="1" i="0">
                <a:solidFill>
                  <a:srgbClr val="0B1F33"/>
                </a:solidFill>
                <a:latin typeface="Arial"/>
                <a:ea typeface="Arial"/>
                <a:cs typeface="Arial"/>
                <a:sym typeface="Arial"/>
              </a:rPr>
              <a:t>Pendiente · evaluación</a:t>
            </a:r>
            <a:endParaRPr/>
          </a:p>
        </p:txBody>
      </p:sp>
      <p:sp>
        <p:nvSpPr>
          <p:cNvPr id="303" name="Google Shape;303;p9"/>
          <p:cNvSpPr/>
          <p:nvPr/>
        </p:nvSpPr>
        <p:spPr>
          <a:xfrm>
            <a:off x="6286500" y="4248150"/>
            <a:ext cx="4762500" cy="428625"/>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5F6B7A"/>
              </a:buClr>
              <a:buSzPts val="1350"/>
              <a:buFont typeface="Arial"/>
              <a:buNone/>
            </a:pPr>
            <a:r>
              <a:rPr lang="en-US" sz="1350" b="0" i="0">
                <a:solidFill>
                  <a:srgbClr val="5F6B7A"/>
                </a:solidFill>
                <a:latin typeface="Arial"/>
                <a:ea typeface="Arial"/>
                <a:cs typeface="Arial"/>
                <a:sym typeface="Arial"/>
              </a:rPr>
              <a:t>Baseline, backtesting, métricas, supuestos y limitaciones.</a:t>
            </a:r>
            <a:endParaRPr/>
          </a:p>
        </p:txBody>
      </p:sp>
      <p:sp>
        <p:nvSpPr>
          <p:cNvPr id="304" name="Google Shape;304;p9"/>
          <p:cNvSpPr/>
          <p:nvPr/>
        </p:nvSpPr>
        <p:spPr>
          <a:xfrm>
            <a:off x="5943600" y="4848225"/>
            <a:ext cx="114300" cy="581025"/>
          </a:xfrm>
          <a:prstGeom prst="rect">
            <a:avLst/>
          </a:prstGeom>
          <a:solidFill>
            <a:srgbClr val="FF7F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9"/>
          <p:cNvSpPr/>
          <p:nvPr/>
        </p:nvSpPr>
        <p:spPr>
          <a:xfrm>
            <a:off x="6286500" y="4810125"/>
            <a:ext cx="4095750" cy="28575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0B1F33"/>
              </a:buClr>
              <a:buSzPts val="1725"/>
              <a:buFont typeface="Arial"/>
              <a:buNone/>
            </a:pPr>
            <a:r>
              <a:rPr lang="en-US" sz="1725" b="1" i="0">
                <a:solidFill>
                  <a:srgbClr val="0B1F33"/>
                </a:solidFill>
                <a:latin typeface="Arial"/>
                <a:ea typeface="Arial"/>
                <a:cs typeface="Arial"/>
                <a:sym typeface="Arial"/>
              </a:rPr>
              <a:t>Pendiente · producto</a:t>
            </a:r>
            <a:endParaRPr/>
          </a:p>
        </p:txBody>
      </p:sp>
      <p:sp>
        <p:nvSpPr>
          <p:cNvPr id="306" name="Google Shape;306;p9"/>
          <p:cNvSpPr/>
          <p:nvPr/>
        </p:nvSpPr>
        <p:spPr>
          <a:xfrm>
            <a:off x="6286500" y="5153025"/>
            <a:ext cx="4762500" cy="428625"/>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5F6B7A"/>
              </a:buClr>
              <a:buSzPts val="1350"/>
              <a:buFont typeface="Arial"/>
              <a:buNone/>
            </a:pPr>
            <a:r>
              <a:rPr lang="en-US" sz="1350" b="0" i="0">
                <a:solidFill>
                  <a:srgbClr val="5F6B7A"/>
                </a:solidFill>
                <a:latin typeface="Arial"/>
                <a:ea typeface="Arial"/>
                <a:cs typeface="Arial"/>
                <a:sym typeface="Arial"/>
              </a:rPr>
              <a:t>API, interfaz, QA, demo y validación con usuario piloto.</a:t>
            </a:r>
            <a:endParaRPr/>
          </a:p>
        </p:txBody>
      </p:sp>
      <p:sp>
        <p:nvSpPr>
          <p:cNvPr id="307" name="Google Shape;307;p9"/>
          <p:cNvSpPr/>
          <p:nvPr/>
        </p:nvSpPr>
        <p:spPr>
          <a:xfrm>
            <a:off x="5943600" y="5819775"/>
            <a:ext cx="5153025" cy="361950"/>
          </a:xfrm>
          <a:prstGeom prst="rect">
            <a:avLst/>
          </a:prstGeom>
          <a:solidFill>
            <a:srgbClr val="FFF0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9"/>
          <p:cNvSpPr/>
          <p:nvPr/>
        </p:nvSpPr>
        <p:spPr>
          <a:xfrm>
            <a:off x="6096000" y="5915025"/>
            <a:ext cx="4838700" cy="171450"/>
          </a:xfrm>
          <a:prstGeom prst="rect">
            <a:avLst/>
          </a:prstGeom>
          <a:noFill/>
          <a:ln>
            <a:noFill/>
          </a:ln>
        </p:spPr>
        <p:txBody>
          <a:bodyPr spcFirstLastPara="1" wrap="square" lIns="0" tIns="0" rIns="0" bIns="0" anchor="t" anchorCtr="0">
            <a:noAutofit/>
          </a:bodyPr>
          <a:lstStyle/>
          <a:p>
            <a:pPr marL="0" marR="0" lvl="0" indent="0" algn="ctr" rtl="0">
              <a:lnSpc>
                <a:spcPct val="105000"/>
              </a:lnSpc>
              <a:spcBef>
                <a:spcPts val="0"/>
              </a:spcBef>
              <a:spcAft>
                <a:spcPts val="0"/>
              </a:spcAft>
              <a:buClr>
                <a:srgbClr val="FF7F6E"/>
              </a:buClr>
              <a:buSzPts val="1050"/>
              <a:buFont typeface="Arial"/>
              <a:buNone/>
            </a:pPr>
            <a:r>
              <a:rPr lang="en-US" sz="1050" b="1" i="0">
                <a:solidFill>
                  <a:srgbClr val="FF7F6E"/>
                </a:solidFill>
                <a:latin typeface="Arial"/>
                <a:ea typeface="Arial"/>
                <a:cs typeface="Arial"/>
                <a:sym typeface="Arial"/>
              </a:rPr>
              <a:t>Evidencia = tarea + responsable + criterio + estado verificable</a:t>
            </a:r>
            <a:endParaRPr/>
          </a:p>
        </p:txBody>
      </p:sp>
      <p:sp>
        <p:nvSpPr>
          <p:cNvPr id="309" name="Google Shape;309;p9"/>
          <p:cNvSpPr/>
          <p:nvPr/>
        </p:nvSpPr>
        <p:spPr>
          <a:xfrm>
            <a:off x="514350" y="6515100"/>
            <a:ext cx="2476500" cy="17145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5F6B7A"/>
              </a:buClr>
              <a:buSzPts val="975"/>
              <a:buFont typeface="Arial"/>
              <a:buNone/>
            </a:pPr>
            <a:r>
              <a:rPr lang="en-US" sz="975" b="1" i="0">
                <a:solidFill>
                  <a:srgbClr val="5F6B7A"/>
                </a:solidFill>
                <a:latin typeface="Arial"/>
                <a:ea typeface="Arial"/>
                <a:cs typeface="Arial"/>
                <a:sym typeface="Arial"/>
              </a:rPr>
              <a:t>PROYECTO APT · FASE 1</a:t>
            </a:r>
            <a:endParaRPr/>
          </a:p>
        </p:txBody>
      </p:sp>
      <p:sp>
        <p:nvSpPr>
          <p:cNvPr id="310" name="Google Shape;310;p9"/>
          <p:cNvSpPr/>
          <p:nvPr/>
        </p:nvSpPr>
        <p:spPr>
          <a:xfrm>
            <a:off x="11334750" y="6515100"/>
            <a:ext cx="342900" cy="171450"/>
          </a:xfrm>
          <a:prstGeom prst="rect">
            <a:avLst/>
          </a:prstGeom>
          <a:noFill/>
          <a:ln>
            <a:noFill/>
          </a:ln>
        </p:spPr>
        <p:txBody>
          <a:bodyPr spcFirstLastPara="1" wrap="square" lIns="0" tIns="0" rIns="0" bIns="0" anchor="t" anchorCtr="0">
            <a:noAutofit/>
          </a:bodyPr>
          <a:lstStyle/>
          <a:p>
            <a:pPr marL="0" marR="0" lvl="0" indent="0" algn="r" rtl="0">
              <a:lnSpc>
                <a:spcPct val="105000"/>
              </a:lnSpc>
              <a:spcBef>
                <a:spcPts val="0"/>
              </a:spcBef>
              <a:spcAft>
                <a:spcPts val="0"/>
              </a:spcAft>
              <a:buClr>
                <a:srgbClr val="5F6B7A"/>
              </a:buClr>
              <a:buSzPts val="975"/>
              <a:buFont typeface="Arial"/>
              <a:buNone/>
            </a:pPr>
            <a:r>
              <a:rPr lang="en-US" sz="975" b="0" i="0">
                <a:solidFill>
                  <a:srgbClr val="5F6B7A"/>
                </a:solidFill>
                <a:latin typeface="Arial"/>
                <a:ea typeface="Arial"/>
                <a:cs typeface="Arial"/>
                <a:sym typeface="Arial"/>
              </a:rPr>
              <a:t>09</a:t>
            </a:r>
            <a:endParaRPr/>
          </a:p>
        </p:txBody>
      </p:sp>
      <p:pic>
        <p:nvPicPr>
          <p:cNvPr id="311" name="Google Shape;311;p9"/>
          <p:cNvPicPr preferRelativeResize="0"/>
          <p:nvPr/>
        </p:nvPicPr>
        <p:blipFill>
          <a:blip r:embed="rId3">
            <a:alphaModFix amt="30000"/>
          </a:blip>
          <a:stretch>
            <a:fillRect/>
          </a:stretch>
        </p:blipFill>
        <p:spPr>
          <a:xfrm>
            <a:off x="69875" y="50250"/>
            <a:ext cx="1317358" cy="3238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16"/>
        <p:cNvGrpSpPr/>
        <p:nvPr/>
      </p:nvGrpSpPr>
      <p:grpSpPr>
        <a:xfrm>
          <a:off x="0" y="0"/>
          <a:ext cx="0" cy="0"/>
          <a:chOff x="0" y="0"/>
          <a:chExt cx="0" cy="0"/>
        </a:xfrm>
      </p:grpSpPr>
      <p:sp>
        <p:nvSpPr>
          <p:cNvPr id="317" name="Google Shape;317;p10"/>
          <p:cNvSpPr/>
          <p:nvPr/>
        </p:nvSpPr>
        <p:spPr>
          <a:xfrm>
            <a:off x="523875" y="979622"/>
            <a:ext cx="800100" cy="76200"/>
          </a:xfrm>
          <a:prstGeom prst="rect">
            <a:avLst/>
          </a:prstGeom>
          <a:solidFill>
            <a:srgbClr val="6DCB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10"/>
          <p:cNvSpPr/>
          <p:nvPr/>
        </p:nvSpPr>
        <p:spPr>
          <a:xfrm>
            <a:off x="523875" y="1554999"/>
            <a:ext cx="10668000" cy="835500"/>
          </a:xfrm>
          <a:prstGeom prst="rect">
            <a:avLst/>
          </a:prstGeom>
          <a:noFill/>
          <a:ln>
            <a:noFill/>
          </a:ln>
        </p:spPr>
        <p:txBody>
          <a:bodyPr spcFirstLastPara="1" wrap="square" lIns="0" tIns="0" rIns="0" bIns="0" anchor="t" anchorCtr="0">
            <a:noAutofit/>
          </a:bodyPr>
          <a:lstStyle/>
          <a:p>
            <a:pPr marL="0" marR="0" lvl="0" indent="0" algn="l" rtl="0">
              <a:lnSpc>
                <a:spcPct val="98000"/>
              </a:lnSpc>
              <a:spcBef>
                <a:spcPts val="0"/>
              </a:spcBef>
              <a:spcAft>
                <a:spcPts val="0"/>
              </a:spcAft>
              <a:buClr>
                <a:srgbClr val="FFFFFF"/>
              </a:buClr>
              <a:buSzPts val="3750"/>
              <a:buFont typeface="Arial"/>
              <a:buNone/>
            </a:pPr>
            <a:r>
              <a:rPr lang="en-US" sz="5550" b="1">
                <a:solidFill>
                  <a:schemeClr val="dk2"/>
                </a:solidFill>
              </a:rPr>
              <a:t>Conclusión</a:t>
            </a:r>
            <a:endParaRPr sz="3200">
              <a:solidFill>
                <a:schemeClr val="dk2"/>
              </a:solidFill>
            </a:endParaRPr>
          </a:p>
        </p:txBody>
      </p:sp>
      <p:cxnSp>
        <p:nvCxnSpPr>
          <p:cNvPr id="319" name="Google Shape;319;p10"/>
          <p:cNvCxnSpPr/>
          <p:nvPr/>
        </p:nvCxnSpPr>
        <p:spPr>
          <a:xfrm>
            <a:off x="523875" y="2907547"/>
            <a:ext cx="3276600" cy="0"/>
          </a:xfrm>
          <a:prstGeom prst="straightConnector1">
            <a:avLst/>
          </a:prstGeom>
          <a:noFill/>
          <a:ln w="38100" cap="flat" cmpd="sng">
            <a:solidFill>
              <a:srgbClr val="6DCBF4"/>
            </a:solidFill>
            <a:prstDash val="solid"/>
            <a:round/>
            <a:headEnd type="none" w="sm" len="sm"/>
            <a:tailEnd type="none" w="sm" len="sm"/>
          </a:ln>
        </p:spPr>
      </p:cxnSp>
      <p:sp>
        <p:nvSpPr>
          <p:cNvPr id="320" name="Google Shape;320;p10"/>
          <p:cNvSpPr/>
          <p:nvPr/>
        </p:nvSpPr>
        <p:spPr>
          <a:xfrm>
            <a:off x="540019" y="3133241"/>
            <a:ext cx="3048000" cy="3048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FFFFFF"/>
              </a:buClr>
              <a:buSzPts val="1800"/>
              <a:buFont typeface="Arial"/>
              <a:buNone/>
            </a:pPr>
            <a:r>
              <a:rPr lang="en-US" sz="2300" b="1" i="0">
                <a:solidFill>
                  <a:schemeClr val="dk1"/>
                </a:solidFill>
                <a:latin typeface="Arial"/>
                <a:ea typeface="Arial"/>
                <a:cs typeface="Arial"/>
                <a:sym typeface="Arial"/>
              </a:rPr>
              <a:t>Por qué importa</a:t>
            </a:r>
            <a:endParaRPr sz="1900">
              <a:solidFill>
                <a:schemeClr val="dk1"/>
              </a:solidFill>
            </a:endParaRPr>
          </a:p>
        </p:txBody>
      </p:sp>
      <p:sp>
        <p:nvSpPr>
          <p:cNvPr id="321" name="Google Shape;321;p10"/>
          <p:cNvSpPr/>
          <p:nvPr/>
        </p:nvSpPr>
        <p:spPr>
          <a:xfrm>
            <a:off x="540019" y="3571391"/>
            <a:ext cx="3162300" cy="7812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D8E2EC"/>
              </a:buClr>
              <a:buSzPts val="1425"/>
              <a:buFont typeface="Arial"/>
              <a:buNone/>
            </a:pPr>
            <a:r>
              <a:rPr lang="en-US" sz="1925" b="0" i="0">
                <a:solidFill>
                  <a:schemeClr val="dk1"/>
                </a:solidFill>
                <a:latin typeface="Arial"/>
                <a:ea typeface="Arial"/>
                <a:cs typeface="Arial"/>
                <a:sym typeface="Arial"/>
              </a:rPr>
              <a:t>Hace visibles presiones y brechas que hoy se observan por separado.</a:t>
            </a:r>
            <a:endParaRPr sz="1900">
              <a:solidFill>
                <a:schemeClr val="dk1"/>
              </a:solidFill>
            </a:endParaRPr>
          </a:p>
        </p:txBody>
      </p:sp>
      <p:cxnSp>
        <p:nvCxnSpPr>
          <p:cNvPr id="322" name="Google Shape;322;p10"/>
          <p:cNvCxnSpPr/>
          <p:nvPr/>
        </p:nvCxnSpPr>
        <p:spPr>
          <a:xfrm>
            <a:off x="4276725" y="2907547"/>
            <a:ext cx="3276600" cy="0"/>
          </a:xfrm>
          <a:prstGeom prst="straightConnector1">
            <a:avLst/>
          </a:prstGeom>
          <a:noFill/>
          <a:ln w="38100" cap="flat" cmpd="sng">
            <a:solidFill>
              <a:srgbClr val="18A999"/>
            </a:solidFill>
            <a:prstDash val="solid"/>
            <a:round/>
            <a:headEnd type="none" w="sm" len="sm"/>
            <a:tailEnd type="none" w="sm" len="sm"/>
          </a:ln>
        </p:spPr>
      </p:cxnSp>
      <p:sp>
        <p:nvSpPr>
          <p:cNvPr id="323" name="Google Shape;323;p10"/>
          <p:cNvSpPr/>
          <p:nvPr/>
        </p:nvSpPr>
        <p:spPr>
          <a:xfrm>
            <a:off x="4292869" y="3133241"/>
            <a:ext cx="3048000" cy="3048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FFFFFF"/>
              </a:buClr>
              <a:buSzPts val="1800"/>
              <a:buFont typeface="Arial"/>
              <a:buNone/>
            </a:pPr>
            <a:r>
              <a:rPr lang="en-US" sz="2300" b="1" i="0">
                <a:solidFill>
                  <a:schemeClr val="dk1"/>
                </a:solidFill>
                <a:latin typeface="Arial"/>
                <a:ea typeface="Arial"/>
                <a:cs typeface="Arial"/>
                <a:sym typeface="Arial"/>
              </a:rPr>
              <a:t>Impacto esperado</a:t>
            </a:r>
            <a:endParaRPr sz="1900">
              <a:solidFill>
                <a:schemeClr val="dk1"/>
              </a:solidFill>
            </a:endParaRPr>
          </a:p>
        </p:txBody>
      </p:sp>
      <p:sp>
        <p:nvSpPr>
          <p:cNvPr id="324" name="Google Shape;324;p10"/>
          <p:cNvSpPr/>
          <p:nvPr/>
        </p:nvSpPr>
        <p:spPr>
          <a:xfrm>
            <a:off x="4292869" y="3571391"/>
            <a:ext cx="3162300" cy="7812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D8E2EC"/>
              </a:buClr>
              <a:buSzPts val="1425"/>
              <a:buFont typeface="Arial"/>
              <a:buNone/>
            </a:pPr>
            <a:r>
              <a:rPr lang="en-US" sz="1925" b="0" i="0">
                <a:solidFill>
                  <a:schemeClr val="dk1"/>
                </a:solidFill>
                <a:latin typeface="Arial"/>
                <a:ea typeface="Arial"/>
                <a:cs typeface="Arial"/>
                <a:sym typeface="Arial"/>
              </a:rPr>
              <a:t>Apoya planificación de la red; no reemplaza decisiones clínicas ni gestiona pacientes.</a:t>
            </a:r>
            <a:endParaRPr sz="1900">
              <a:solidFill>
                <a:schemeClr val="dk1"/>
              </a:solidFill>
            </a:endParaRPr>
          </a:p>
        </p:txBody>
      </p:sp>
      <p:cxnSp>
        <p:nvCxnSpPr>
          <p:cNvPr id="325" name="Google Shape;325;p10"/>
          <p:cNvCxnSpPr/>
          <p:nvPr/>
        </p:nvCxnSpPr>
        <p:spPr>
          <a:xfrm>
            <a:off x="8029575" y="2907547"/>
            <a:ext cx="3276600" cy="0"/>
          </a:xfrm>
          <a:prstGeom prst="straightConnector1">
            <a:avLst/>
          </a:prstGeom>
          <a:noFill/>
          <a:ln w="38100" cap="flat" cmpd="sng">
            <a:solidFill>
              <a:srgbClr val="FF7F6E"/>
            </a:solidFill>
            <a:prstDash val="solid"/>
            <a:round/>
            <a:headEnd type="none" w="sm" len="sm"/>
            <a:tailEnd type="none" w="sm" len="sm"/>
          </a:ln>
        </p:spPr>
      </p:cxnSp>
      <p:sp>
        <p:nvSpPr>
          <p:cNvPr id="326" name="Google Shape;326;p10"/>
          <p:cNvSpPr/>
          <p:nvPr/>
        </p:nvSpPr>
        <p:spPr>
          <a:xfrm>
            <a:off x="8045719" y="3133241"/>
            <a:ext cx="3048000" cy="3048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FFFFFF"/>
              </a:buClr>
              <a:buSzPts val="1800"/>
              <a:buFont typeface="Arial"/>
              <a:buNone/>
            </a:pPr>
            <a:r>
              <a:rPr lang="en-US" sz="2300" b="1" i="0">
                <a:solidFill>
                  <a:schemeClr val="dk1"/>
                </a:solidFill>
                <a:latin typeface="Arial"/>
                <a:ea typeface="Arial"/>
                <a:cs typeface="Arial"/>
                <a:sym typeface="Arial"/>
              </a:rPr>
              <a:t>Qué lograremos</a:t>
            </a:r>
            <a:endParaRPr sz="1900">
              <a:solidFill>
                <a:schemeClr val="dk1"/>
              </a:solidFill>
            </a:endParaRPr>
          </a:p>
        </p:txBody>
      </p:sp>
      <p:sp>
        <p:nvSpPr>
          <p:cNvPr id="327" name="Google Shape;327;p10"/>
          <p:cNvSpPr/>
          <p:nvPr/>
        </p:nvSpPr>
        <p:spPr>
          <a:xfrm>
            <a:off x="8045719" y="3571391"/>
            <a:ext cx="3162300" cy="7812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D8E2EC"/>
              </a:buClr>
              <a:buSzPts val="1425"/>
              <a:buFont typeface="Arial"/>
              <a:buNone/>
            </a:pPr>
            <a:r>
              <a:rPr lang="en-US" sz="1925" b="0" i="0">
                <a:solidFill>
                  <a:schemeClr val="dk1"/>
                </a:solidFill>
                <a:latin typeface="Arial"/>
                <a:ea typeface="Arial"/>
                <a:cs typeface="Arial"/>
                <a:sym typeface="Arial"/>
              </a:rPr>
              <a:t>Un MVP demostrable, con resultados evaluados, límites explícitos y evidencia individual.</a:t>
            </a:r>
            <a:endParaRPr sz="1900">
              <a:solidFill>
                <a:schemeClr val="dk1"/>
              </a:solidFill>
            </a:endParaRPr>
          </a:p>
        </p:txBody>
      </p:sp>
      <p:sp>
        <p:nvSpPr>
          <p:cNvPr id="328" name="Google Shape;328;p10"/>
          <p:cNvSpPr/>
          <p:nvPr/>
        </p:nvSpPr>
        <p:spPr>
          <a:xfrm>
            <a:off x="434550" y="5461932"/>
            <a:ext cx="2242200" cy="2361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2F6BFF"/>
              </a:buClr>
              <a:buSzPts val="1301"/>
              <a:buFont typeface="Arial"/>
              <a:buNone/>
            </a:pPr>
            <a:r>
              <a:rPr lang="en-US" sz="1797" b="1" i="0">
                <a:solidFill>
                  <a:schemeClr val="accent4"/>
                </a:solidFill>
                <a:latin typeface="Arial"/>
                <a:ea typeface="Arial"/>
                <a:cs typeface="Arial"/>
                <a:sym typeface="Arial"/>
              </a:rPr>
              <a:t>SIGUIENTE PASO </a:t>
            </a:r>
            <a:endParaRPr sz="2230">
              <a:solidFill>
                <a:schemeClr val="accent4"/>
              </a:solidFill>
            </a:endParaRPr>
          </a:p>
        </p:txBody>
      </p:sp>
      <p:sp>
        <p:nvSpPr>
          <p:cNvPr id="329" name="Google Shape;329;p10"/>
          <p:cNvSpPr/>
          <p:nvPr/>
        </p:nvSpPr>
        <p:spPr>
          <a:xfrm>
            <a:off x="2974953" y="5414725"/>
            <a:ext cx="10621500" cy="4011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0B1F33"/>
              </a:buClr>
              <a:buSzPts val="2230"/>
              <a:buFont typeface="Arial"/>
              <a:buNone/>
            </a:pPr>
            <a:r>
              <a:rPr lang="en-US" sz="2230" b="1">
                <a:solidFill>
                  <a:srgbClr val="0B1F33"/>
                </a:solidFill>
              </a:rPr>
              <a:t>Validar la versión inicial del prototipo con nuestro cliente piloto</a:t>
            </a:r>
            <a:endParaRPr sz="1735"/>
          </a:p>
        </p:txBody>
      </p:sp>
      <p:sp>
        <p:nvSpPr>
          <p:cNvPr id="330" name="Google Shape;330;p10"/>
          <p:cNvSpPr/>
          <p:nvPr/>
        </p:nvSpPr>
        <p:spPr>
          <a:xfrm>
            <a:off x="10096500" y="6381750"/>
            <a:ext cx="1571625" cy="171450"/>
          </a:xfrm>
          <a:prstGeom prst="rect">
            <a:avLst/>
          </a:prstGeom>
          <a:noFill/>
          <a:ln>
            <a:noFill/>
          </a:ln>
        </p:spPr>
        <p:txBody>
          <a:bodyPr spcFirstLastPara="1" wrap="square" lIns="0" tIns="0" rIns="0" bIns="0" anchor="t" anchorCtr="0">
            <a:noAutofit/>
          </a:bodyPr>
          <a:lstStyle/>
          <a:p>
            <a:pPr marL="0" marR="0" lvl="0" indent="0" algn="r" rtl="0">
              <a:lnSpc>
                <a:spcPct val="105000"/>
              </a:lnSpc>
              <a:spcBef>
                <a:spcPts val="0"/>
              </a:spcBef>
              <a:spcAft>
                <a:spcPts val="0"/>
              </a:spcAft>
              <a:buClr>
                <a:srgbClr val="6DCBF4"/>
              </a:buClr>
              <a:buSzPts val="975"/>
              <a:buFont typeface="Arial"/>
              <a:buNone/>
            </a:pPr>
            <a:r>
              <a:rPr lang="en-US" sz="975" b="1" i="0">
                <a:solidFill>
                  <a:srgbClr val="6DCBF4"/>
                </a:solidFill>
                <a:latin typeface="Arial"/>
                <a:ea typeface="Arial"/>
                <a:cs typeface="Arial"/>
                <a:sym typeface="Arial"/>
              </a:rPr>
              <a:t>03 · 09 · 2026</a:t>
            </a:r>
            <a:endParaRPr/>
          </a:p>
        </p:txBody>
      </p:sp>
      <p:pic>
        <p:nvPicPr>
          <p:cNvPr id="331" name="Google Shape;331;p10"/>
          <p:cNvPicPr preferRelativeResize="0"/>
          <p:nvPr/>
        </p:nvPicPr>
        <p:blipFill>
          <a:blip r:embed="rId3">
            <a:alphaModFix amt="30000"/>
          </a:blip>
          <a:stretch>
            <a:fillRect/>
          </a:stretch>
        </p:blipFill>
        <p:spPr>
          <a:xfrm>
            <a:off x="69875" y="50250"/>
            <a:ext cx="1317358" cy="323850"/>
          </a:xfrm>
          <a:prstGeom prst="rect">
            <a:avLst/>
          </a:prstGeom>
          <a:noFill/>
          <a:ln>
            <a:noFill/>
          </a:ln>
        </p:spPr>
      </p:pic>
      <p:sp>
        <p:nvSpPr>
          <p:cNvPr id="332" name="Google Shape;332;p10"/>
          <p:cNvSpPr/>
          <p:nvPr/>
        </p:nvSpPr>
        <p:spPr>
          <a:xfrm>
            <a:off x="2440993" y="5511581"/>
            <a:ext cx="485400" cy="171600"/>
          </a:xfrm>
          <a:prstGeom prst="rightArrow">
            <a:avLst>
              <a:gd name="adj1" fmla="val 50000"/>
              <a:gd name="adj2" fmla="val 50000"/>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Panorámica</PresentationFormat>
  <Slides>13</Slides>
  <Notes>13</Notes>
  <HiddenSlides>0</HiddenSlides>
  <ScaleCrop>false</ScaleCrop>
  <HeadingPairs>
    <vt:vector size="4" baseType="variant">
      <vt:variant>
        <vt:lpstr>Tema</vt:lpstr>
      </vt:variant>
      <vt:variant>
        <vt:i4>1</vt:i4>
      </vt:variant>
      <vt:variant>
        <vt:lpstr>Títulos de diapositiva</vt:lpstr>
      </vt:variant>
      <vt:variant>
        <vt:i4>13</vt:i4>
      </vt:variant>
    </vt:vector>
  </HeadingPairs>
  <TitlesOfParts>
    <vt:vector size="14" baseType="lpstr">
      <vt:lpstr>ChatGPT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2</cp:revision>
  <dcterms:modified xsi:type="dcterms:W3CDTF">2026-09-03T12:40:47Z</dcterms:modified>
</cp:coreProperties>
</file>