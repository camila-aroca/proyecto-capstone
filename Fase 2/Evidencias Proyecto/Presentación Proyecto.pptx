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Idg938Pq4jfLRsT0VlaFSuECh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1816FB-41E0-4738-A3F1-146A2AFC12E2}">
  <a:tblStyle styleId="{8A1816FB-41E0-4738-A3F1-146A2AFC12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43F5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43F57"/>
                </a:solidFill>
                <a:latin typeface="Arial"/>
              </a:rPr>
              <a:t>Error MASE (menor es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solidFill>
              <a:srgbClr val="0A506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Backtest región</c:v>
                  </c:pt>
                  <c:pt idx="1">
                    <c:v>Backtest comunas</c:v>
                  </c:pt>
                  <c:pt idx="2">
                    <c:v>Holdout región</c:v>
                  </c:pt>
                  <c:pt idx="3">
                    <c:v>Holdout comunas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0.595</c:v>
                </c:pt>
                <c:pt idx="1">
                  <c:v>0.676</c:v>
                </c:pt>
                <c:pt idx="2">
                  <c:v>0.51</c:v>
                </c:pt>
                <c:pt idx="3">
                  <c:v>0.659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estacional</c:v>
                </c:pt>
              </c:strCache>
            </c:strRef>
          </c:tx>
          <c:spPr>
            <a:solidFill>
              <a:srgbClr val="80BD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Backtest región</c:v>
                  </c:pt>
                  <c:pt idx="1">
                    <c:v>Backtest comunas</c:v>
                  </c:pt>
                  <c:pt idx="2">
                    <c:v>Holdout región</c:v>
                  </c:pt>
                  <c:pt idx="3">
                    <c:v>Holdout comunas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0.787</c:v>
                </c:pt>
                <c:pt idx="1">
                  <c:v>0.922</c:v>
                </c:pt>
                <c:pt idx="2">
                  <c:v>0.666</c:v>
                </c:pt>
                <c:pt idx="3">
                  <c:v>0.916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>
              <a:solidFill>
                <a:srgbClr val="DC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0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Presentar el proyecto, al equipo y la fase de entrega.</a:t>
            </a:r>
            <a:br>
              <a:rPr lang="en-US"/>
            </a:br>
            <a:br>
              <a:rPr lang="en-US"/>
            </a:br>
            <a:r>
              <a:rPr lang="en-US"/>
              <a:t>MENSAJE CENTRAL: SAAD busca anticipar la demanda de urgencia en salud mental con datos públicos.</a:t>
            </a:r>
            <a:br>
              <a:rPr lang="en-US"/>
            </a:br>
            <a:br>
              <a:rPr lang="en-US"/>
            </a:br>
            <a:r>
              <a:rPr lang="en-US"/>
              <a:t>EVIDENCIA A INCORPORAR: Fecha definitiva de la presentación y nombres tal como deben figurar.</a:t>
            </a:r>
            <a:br>
              <a:rPr lang="en-US"/>
            </a:br>
            <a:br>
              <a:rPr lang="en-US"/>
            </a:br>
            <a:r>
              <a:rPr lang="en-US"/>
              <a:t>DATOS POR VALIDAR: Fecha de exposición (se usó la fecha de entrega, 15 de octubre de 2026).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¿Se presenta con los cuatro integrantes y en qué orden?</a:t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por qué anticipar la demanda importa.</a:t>
            </a:r>
            <a:br>
              <a:rPr lang="en-US"/>
            </a:br>
            <a:br>
              <a:rPr lang="en-US"/>
            </a:br>
            <a:r>
              <a:rPr lang="en-US"/>
              <a:t>MENSAJE CENTRAL: Los datos existen, pero están dispersos y la planificación termina siendo reactiva.</a:t>
            </a:r>
            <a:br>
              <a:rPr lang="en-US"/>
            </a:br>
            <a:br>
              <a:rPr lang="en-US"/>
            </a:br>
            <a:r>
              <a:rPr lang="en-US"/>
              <a:t>EVIDENCIA A INCORPORAR: Una cifra validada de demanda o saturación, con fuente y año.</a:t>
            </a:r>
            <a:br>
              <a:rPr lang="en-US"/>
            </a:br>
            <a:br>
              <a:rPr lang="en-US"/>
            </a:br>
            <a:r>
              <a:rPr lang="en-US"/>
              <a:t>DATOS POR VALIDAR: La cifra del recuadro de evidencia no está cargada. El testimonio proviene de la entrevista con la psicóloga Belén Guzmán y es un caso, no una estadística.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¿Qué tipo de evidencia espera para sostener el problema en esta fase?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el ecosistema de actores del proyecto.</a:t>
            </a:r>
            <a:br>
              <a:rPr lang="en-US"/>
            </a:br>
            <a:br>
              <a:rPr lang="en-US"/>
            </a:br>
            <a:r>
              <a:rPr lang="en-US"/>
              <a:t>MENSAJE CENTRAL: El usuario institucional es el centro; los demás actores aportan uso, contexto o validación.</a:t>
            </a:r>
            <a:br>
              <a:rPr lang="en-US"/>
            </a:br>
            <a:br>
              <a:rPr lang="en-US"/>
            </a:br>
            <a:r>
              <a:rPr lang="en-US"/>
              <a:t>EVIDENCIA A INCORPORAR: Si existe, el nombre del cliente piloto o validador confirmado.</a:t>
            </a:r>
            <a:br>
              <a:rPr lang="en-US"/>
            </a:br>
            <a:br>
              <a:rPr lang="en-US"/>
            </a:br>
            <a:r>
              <a:rPr lang="en-US"/>
              <a:t>DATOS POR VALIDAR: Los perfiles son potenciales: no hay personas reales identificadas salvo la experta consultada. No hay sponsor ni cliente piloto confirmados.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¿Puede la experta consultada derivarnos a un validador antes de la Fase 2.3?</a:t>
            </a:r>
            <a:endParaRPr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Resumir visión, objetivo y valor en una sola idea.</a:t>
            </a:r>
            <a:br>
              <a:rPr lang="en-US"/>
            </a:br>
            <a:br>
              <a:rPr lang="en-US"/>
            </a:br>
            <a:r>
              <a:rPr lang="en-US"/>
              <a:t>MENSAJE CENTRAL: SAAD apoya la planificación agregada, no la decisión clínica individual.</a:t>
            </a:r>
            <a:br>
              <a:rPr lang="en-US"/>
            </a:br>
            <a:br>
              <a:rPr lang="en-US"/>
            </a:br>
            <a:r>
              <a:rPr lang="en-US"/>
              <a:t>EVIDENCIA A INCORPORAR: Redacción oficial del Product Vision y Product Goal del backlog.</a:t>
            </a:r>
            <a:br>
              <a:rPr lang="en-US"/>
            </a:br>
            <a:br>
              <a:rPr lang="en-US"/>
            </a:br>
            <a:r>
              <a:rPr lang="en-US"/>
              <a:t>DATOS POR VALIDAR: La redacción de visión y objetivo se resumió desde el acta de constitución; confirmar la versión vigente del equipo.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¿Es suficiente declarar explícitamente lo que SAAD no hace, o prefiere que se omita en esta diapositiva?</a:t>
            </a:r>
            <a:endParaRPr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con honestidad qué está hecho, qué se revisa y qué falta.</a:t>
            </a:r>
            <a:br>
              <a:rPr lang="en-US"/>
            </a:br>
            <a:br>
              <a:rPr lang="en-US"/>
            </a:br>
            <a:r>
              <a:rPr lang="en-US"/>
              <a:t>MENSAJE CENTRAL: El avance está respaldado por evidencia; lo pendiente está identificado.</a:t>
            </a:r>
            <a:br>
              <a:rPr lang="en-US"/>
            </a:br>
            <a:br>
              <a:rPr lang="en-US"/>
            </a:br>
            <a:r>
              <a:rPr lang="en-US"/>
              <a:t>EVIDENCIA A INCORPORAR: Enlace a la versión del repositorio para cada componente implementado.</a:t>
            </a:r>
            <a:br>
              <a:rPr lang="en-US"/>
            </a:br>
            <a:br>
              <a:rPr lang="en-US"/>
            </a:br>
            <a:r>
              <a:rPr lang="en-US"/>
              <a:t>DATOS POR VALIDAR: La suite de pruebas existe pero su resultado no está registrado. La corrida del pipeline se hizo en una sola máquina. Ningún componente se presenta como validado con usuarios.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¿Cuánto avance en accesibilidad y factores de hospitalización espera ver en la Fase 2.1?</a:t>
            </a:r>
            <a:endParaRPr/>
          </a:p>
        </p:txBody>
      </p:sp>
      <p:sp>
        <p:nvSpPr>
          <p:cNvPr id="200" name="Google Shape;2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Explicar el flujo completo de SAAD de punta a punta.</a:t>
            </a:r>
            <a:br>
              <a:rPr lang="en-US"/>
            </a:br>
            <a:br>
              <a:rPr lang="en-US"/>
            </a:br>
            <a:r>
              <a:rPr lang="en-US"/>
              <a:t>MENSAJE CENTRAL: Cada paso existe como componente; el último, el apoyo a la decisión, aún requiere validación con usuarios.</a:t>
            </a:r>
            <a:br>
              <a:rPr lang="en-US"/>
            </a:br>
            <a:br>
              <a:rPr lang="en-US"/>
            </a:br>
            <a:r>
              <a:rPr lang="en-US"/>
              <a:t>EVIDENCIA A INCORPORAR: Capturas o salidas de cada paso para respaldar el recorrido.</a:t>
            </a:r>
            <a:br>
              <a:rPr lang="en-US"/>
            </a:br>
            <a:br>
              <a:rPr lang="en-US"/>
            </a:br>
            <a:r>
              <a:rPr lang="en-US"/>
              <a:t>DATOS POR VALIDAR: Los pasos 1 a 6 se ejecutan en entorno local. No hay despliegue ni demostración registrada. El paso 7 depende de la validación con un usuario.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¿Prefiere que el diagrama muestre también las fuentes por nombre?</a:t>
            </a:r>
            <a:endParaRPr/>
          </a:p>
        </p:txBody>
      </p:sp>
      <p:sp>
        <p:nvSpPr>
          <p:cNvPr id="231" name="Google Shape;2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de dónde vienen los datos, cómo se entrena y qué resultados hay.</a:t>
            </a:r>
            <a:br>
              <a:rPr lang="en-US"/>
            </a:br>
            <a:br>
              <a:rPr lang="en-US"/>
            </a:br>
            <a:r>
              <a:rPr lang="en-US"/>
              <a:t>MENSAJE CENTRAL: El modelo supera al baseline estacional en backtest y holdout, con una limitación en los intervalos.</a:t>
            </a:r>
            <a:br>
              <a:rPr lang="en-US"/>
            </a:br>
            <a:br>
              <a:rPr lang="en-US"/>
            </a:br>
            <a:r>
              <a:rPr lang="en-US"/>
              <a:t>EVIDENCIA A INCORPORAR: Informe de benchmark 2021 a 2025 e informe de holdout 2026 del repositorio.</a:t>
            </a:r>
            <a:br>
              <a:rPr lang="en-US"/>
            </a:br>
            <a:br>
              <a:rPr lang="en-US"/>
            </a:br>
            <a:r>
              <a:rPr lang="en-US"/>
              <a:t>DATOS POR VALIDAR: Cifras tomadas del acta de constitución (versión 3.0). Verificar contra los informes antes de exponer. La reducción de 23,5 % y 26,8 % corresponde a la comparación pareada de holdout 2026.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¿Quiere que se expliquen en esta diapositiva las familias de modelos (Poisson, LightGBM e intervalos conformes)?</a:t>
            </a:r>
            <a:endParaRPr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la arquitectura por capas y distinguir lo implementado de lo objetivo.</a:t>
            </a:r>
            <a:br>
              <a:rPr lang="en-US"/>
            </a:br>
            <a:br>
              <a:rPr lang="en-US"/>
            </a:br>
            <a:r>
              <a:rPr lang="en-US"/>
              <a:t>MENSAJE CENTRAL: Hoy hay capas funcionales en local; la arquitectura objetivo incorpora base de datos y entorno de demostración.</a:t>
            </a:r>
            <a:br>
              <a:rPr lang="en-US"/>
            </a:br>
            <a:br>
              <a:rPr lang="en-US"/>
            </a:br>
            <a:r>
              <a:rPr lang="en-US"/>
              <a:t>EVIDENCIA A INCORPORAR: Diagrama de componentes UML del repositorio.</a:t>
            </a:r>
            <a:br>
              <a:rPr lang="en-US"/>
            </a:br>
            <a:br>
              <a:rPr lang="en-US"/>
            </a:br>
            <a:r>
              <a:rPr lang="en-US"/>
              <a:t>DATOS POR VALIDAR: No hay Dockerfile ni configuración de infraestructura versionados. La base PostgreSQL/PostGIS está diseñada pero no desplegada. La columna objetivo es un plan y no un compromiso confirmado.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¿La entrega final exige al menos un despliegue de demostración?</a:t>
            </a:r>
            <a:endParaRPr/>
          </a:p>
        </p:txBody>
      </p:sp>
      <p:sp>
        <p:nvSpPr>
          <p:cNvPr id="317" name="Google Shape;3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el recorrido principal del usuario en el MVP.</a:t>
            </a:r>
            <a:br>
              <a:rPr lang="en-US"/>
            </a:br>
            <a:br>
              <a:rPr lang="en-US"/>
            </a:br>
            <a:r>
              <a:rPr lang="en-US"/>
              <a:t>MENSAJE CENTRAL: El flujo se entiende sin explicación extensa: abrir, ver pronóstico, explorar mapa y revisar tabla.</a:t>
            </a:r>
            <a:br>
              <a:rPr lang="en-US"/>
            </a:br>
            <a:br>
              <a:rPr lang="en-US"/>
            </a:br>
            <a:r>
              <a:rPr lang="en-US"/>
              <a:t>EVIDENCIA A INCORPORAR: Cuatro capturas reales del tablero, en este orden.</a:t>
            </a:r>
            <a:br>
              <a:rPr lang="en-US"/>
            </a:br>
            <a:br>
              <a:rPr lang="en-US"/>
            </a:br>
            <a:r>
              <a:rPr lang="en-US"/>
              <a:t>DATOS POR VALIDAR: La secuencia se armó a partir de los componentes del tablero descritos en el acta; confirmar contra las pantallas reales.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¿Prefiere un wireflow con más ramificaciones o este recorrido lineal?</a:t>
            </a:r>
            <a:endParaRPr/>
          </a:p>
        </p:txBody>
      </p:sp>
      <p:sp>
        <p:nvSpPr>
          <p:cNvPr id="369" name="Google Shape;3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Reunir la evidencia verificable en módulos reemplazables.</a:t>
            </a:r>
            <a:br>
              <a:rPr lang="en-US"/>
            </a:br>
            <a:br>
              <a:rPr lang="en-US"/>
            </a:br>
            <a:r>
              <a:rPr lang="en-US"/>
              <a:t>MENSAJE CENTRAL: Lo que se afirma tiene respaldo en el repositorio; lo que no, está marcado.</a:t>
            </a:r>
            <a:br>
              <a:rPr lang="en-US"/>
            </a:br>
            <a:br>
              <a:rPr lang="en-US"/>
            </a:br>
            <a:r>
              <a:rPr lang="en-US"/>
              <a:t>EVIDENCIA A INCORPORAR: Capturas, informes, resultado de la suite de pruebas, PR o commits y evidencia de CSV legacy.</a:t>
            </a:r>
            <a:br>
              <a:rPr lang="en-US"/>
            </a:br>
            <a:br>
              <a:rPr lang="en-US"/>
            </a:br>
            <a:r>
              <a:rPr lang="en-US"/>
              <a:t>DATOS POR VALIDAR: Resultado de la suite de pruebas (no se ejecutó en la última revisión). Compatibilidad con CSV legacy: el acta no la menciona. La corrida de 77 salidas se hizo en una sola máquina.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¿Qué formato de evidencia prefiere: capturas, enlaces al repositorio o ambos?</a:t>
            </a:r>
            <a:endParaRPr/>
          </a:p>
        </p:txBody>
      </p:sp>
      <p:sp>
        <p:nvSpPr>
          <p:cNvPr id="421" name="Google Shape;4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Planificar el video demostrativo del MVP.</a:t>
            </a:r>
            <a:br>
              <a:rPr lang="en-US"/>
            </a:br>
            <a:br>
              <a:rPr lang="en-US"/>
            </a:br>
            <a:r>
              <a:rPr lang="en-US"/>
              <a:t>MENSAJE CENTRAL: El video recorre el sistema de principio a fin con datos reales.</a:t>
            </a:r>
            <a:br>
              <a:rPr lang="en-US"/>
            </a:br>
            <a:br>
              <a:rPr lang="en-US"/>
            </a:br>
            <a:r>
              <a:rPr lang="en-US"/>
              <a:t>EVIDENCIA A INCORPORAR: Miniatura, enlace o código QR del video publicado.</a:t>
            </a:r>
            <a:br>
              <a:rPr lang="en-US"/>
            </a:br>
            <a:br>
              <a:rPr lang="en-US"/>
            </a:br>
            <a:r>
              <a:rPr lang="en-US"/>
              <a:t>DATOS POR VALIDAR: El video aún no existe. La estructura de siete escenas es provisoria y debe validarse con la profesora antes de grabar. Duración por definir.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¿La estructura de siete escenas y la duración propuesta son las esperadas para la entrega?</a:t>
            </a:r>
            <a:endParaRPr/>
          </a:p>
        </p:txBody>
      </p:sp>
      <p:sp>
        <p:nvSpPr>
          <p:cNvPr id="465" name="Google Shape;4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la evolución del producto y cómo el backlog se convierte en avance verificable.</a:t>
            </a:r>
            <a:br>
              <a:rPr lang="en-US"/>
            </a:br>
            <a:br>
              <a:rPr lang="en-US"/>
            </a:br>
            <a:r>
              <a:rPr lang="en-US"/>
              <a:t>MENSAJE CENTRAL: Los hitos están fijados por el calendario académico; el trabajo restante está acotado.</a:t>
            </a:r>
            <a:br>
              <a:rPr lang="en-US"/>
            </a:br>
            <a:br>
              <a:rPr lang="en-US"/>
            </a:br>
            <a:r>
              <a:rPr lang="en-US"/>
              <a:t>EVIDENCIA A INCORPORAR: Issues reales del sprint (IDs, responsables y estado) desde GitHub Projects.</a:t>
            </a:r>
            <a:br>
              <a:rPr lang="en-US"/>
            </a:br>
            <a:br>
              <a:rPr lang="en-US"/>
            </a:br>
            <a:r>
              <a:rPr lang="en-US"/>
              <a:t>DATOS POR VALIDAR: No hay IDs ni tareas cargadas: no se inventaron. La fecha de la comisión de la Fase 3 está en rango por confirmar. El alcance de Fase 2.3 no está fijado en un plan detallado.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¿Qué nivel de detalle del sprint espera ver en esta diapositiva?</a:t>
            </a:r>
            <a:endParaRPr/>
          </a:p>
        </p:txBody>
      </p:sp>
      <p:sp>
        <p:nvSpPr>
          <p:cNvPr id="502" name="Google Shape;5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Comunicar con transparencia los límites y mostrar control sobre ellos.</a:t>
            </a:r>
            <a:br>
              <a:rPr lang="en-US"/>
            </a:br>
            <a:br>
              <a:rPr lang="en-US"/>
            </a:br>
            <a:r>
              <a:rPr lang="en-US"/>
              <a:t>MENSAJE CENTRAL: Lo que falta está identificado, tiene responsable y camino de cierre.</a:t>
            </a:r>
            <a:br>
              <a:rPr lang="en-US"/>
            </a:br>
            <a:br>
              <a:rPr lang="en-US"/>
            </a:br>
            <a:r>
              <a:rPr lang="en-US"/>
              <a:t>EVIDENCIA A INCORPORAR: Resultado de la suite de pruebas, corrida en entorno limpio y registro escrito de la aprobación del alcance.</a:t>
            </a:r>
            <a:br>
              <a:rPr lang="en-US"/>
            </a:br>
            <a:br>
              <a:rPr lang="en-US"/>
            </a:br>
            <a:r>
              <a:rPr lang="en-US"/>
              <a:t>DATOS POR VALIDAR: Los porcentajes de cobertura (70 % región, 77 % comunas) provienen del informe de holdout citado en el acta. El snapshot 2026 difiere del registrado en el manifiesto.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¿Conviene presentar la subcalibración de intervalos como limitación o como línea de mejora?</a:t>
            </a:r>
            <a:endParaRPr/>
          </a:p>
        </p:txBody>
      </p:sp>
      <p:sp>
        <p:nvSpPr>
          <p:cNvPr id="540" name="Google Shape;5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Cerrar conectando problema, solución, avance, valor y próximo hito.</a:t>
            </a:r>
            <a:br>
              <a:rPr lang="en-US"/>
            </a:br>
            <a:br>
              <a:rPr lang="en-US"/>
            </a:br>
            <a:r>
              <a:rPr lang="en-US"/>
              <a:t>MENSAJE CENTRAL: El avance es real y verificable; el siguiente paso es validar con usuarios y completar las capas territoriales.</a:t>
            </a:r>
            <a:br>
              <a:rPr lang="en-US"/>
            </a:br>
            <a:br>
              <a:rPr lang="en-US"/>
            </a:br>
            <a:r>
              <a:rPr lang="en-US"/>
              <a:t>EVIDENCIA A INCORPORAR: Fecha confirmada del próximo hito.</a:t>
            </a:r>
            <a:br>
              <a:rPr lang="en-US"/>
            </a:br>
            <a:br>
              <a:rPr lang="en-US"/>
            </a:br>
            <a:r>
              <a:rPr lang="en-US"/>
              <a:t>DATOS POR VALIDAR: La frase de cierre debe ajustarse tras la revisión con la profesora y los resultados de validación disponibles.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¿Prefiere un cierre centrado en el próximo hito o en el valor esperado?</a:t>
            </a:r>
            <a:endParaRPr/>
          </a:p>
        </p:txBody>
      </p:sp>
      <p:sp>
        <p:nvSpPr>
          <p:cNvPr id="575" name="Google Shape;57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Separar el relato principal del material de respaldo.</a:t>
            </a:r>
            <a:br>
              <a:rPr lang="en-US"/>
            </a:br>
            <a:br>
              <a:rPr lang="en-US"/>
            </a:br>
            <a:r>
              <a:rPr lang="en-US"/>
              <a:t>MENSAJE CENTRAL: Los anexos responden preguntas sin recargar la presentación.</a:t>
            </a:r>
            <a:br>
              <a:rPr lang="en-US"/>
            </a:br>
            <a:br>
              <a:rPr lang="en-US"/>
            </a:br>
            <a:r>
              <a:rPr lang="en-US"/>
              <a:t>EVIDENCIA A INCORPORAR: No aplica.</a:t>
            </a:r>
            <a:br>
              <a:rPr lang="en-US"/>
            </a:br>
            <a:br>
              <a:rPr lang="en-US"/>
            </a:br>
            <a:r>
              <a:rPr lang="en-US"/>
              <a:t>DATOS POR VALIDAR: No aplica.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604" name="Google Shape;6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Dar contexto institucional y de gobernanza.</a:t>
            </a:r>
            <a:br>
              <a:rPr lang="en-US"/>
            </a:br>
            <a:br>
              <a:rPr lang="en-US"/>
            </a:br>
            <a:r>
              <a:rPr lang="en-US"/>
              <a:t>MENSAJE CENTRAL: El proyecto tiene roles definidos y seguimiento en Kanban.</a:t>
            </a:r>
            <a:br>
              <a:rPr lang="en-US"/>
            </a:br>
            <a:br>
              <a:rPr lang="en-US"/>
            </a:br>
            <a:r>
              <a:rPr lang="en-US"/>
              <a:t>EVIDENCIA A INCORPORAR: Captura del tablero de GitHub Projects.</a:t>
            </a:r>
            <a:br>
              <a:rPr lang="en-US"/>
            </a:br>
            <a:br>
              <a:rPr lang="en-US"/>
            </a:br>
            <a:r>
              <a:rPr lang="en-US"/>
              <a:t>DATOS POR VALIDAR: Aprobación formal del alcance sin registro; sigla SAAD sin ratificación formal.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¿Existe registro escrito de la aprobación del alcance?</a:t>
            </a:r>
            <a:endParaRPr/>
          </a:p>
        </p:txBody>
      </p:sp>
      <p:sp>
        <p:nvSpPr>
          <p:cNvPr id="612" name="Google Shape;61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Respaldar el alcance con los requisitos.</a:t>
            </a:r>
            <a:br>
              <a:rPr lang="en-US"/>
            </a:br>
            <a:br>
              <a:rPr lang="en-US"/>
            </a:br>
            <a:r>
              <a:rPr lang="en-US"/>
              <a:t>MENSAJE CENTRAL: El MVP está delimitado en la especificación de requisitos versión 1.1.</a:t>
            </a:r>
            <a:br>
              <a:rPr lang="en-US"/>
            </a:br>
            <a:br>
              <a:rPr lang="en-US"/>
            </a:br>
            <a:r>
              <a:rPr lang="en-US"/>
              <a:t>EVIDENCIA A INCORPORAR: Listado oficial de RF y RNF con IDs.</a:t>
            </a:r>
            <a:br>
              <a:rPr lang="en-US"/>
            </a:br>
            <a:br>
              <a:rPr lang="en-US"/>
            </a:br>
            <a:r>
              <a:rPr lang="en-US"/>
              <a:t>DATOS POR VALIDAR: Los IDs y el detalle de los RNF no se inventaron; deben insertarse desde la especificación. El estado deriva del acta.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¿La especificación v1.1 cuenta con su aprobación?</a:t>
            </a:r>
            <a:endParaRPr/>
          </a:p>
        </p:txBody>
      </p:sp>
      <p:sp>
        <p:nvSpPr>
          <p:cNvPr id="621" name="Google Shape;62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las historias priorizadas.</a:t>
            </a:r>
            <a:br>
              <a:rPr lang="en-US"/>
            </a:br>
            <a:br>
              <a:rPr lang="en-US"/>
            </a:br>
            <a:r>
              <a:rPr lang="en-US"/>
              <a:t>MENSAJE CENTRAL: Las historias derivan de cuatro perfiles de usuario definidos.</a:t>
            </a:r>
            <a:br>
              <a:rPr lang="en-US"/>
            </a:br>
            <a:br>
              <a:rPr lang="en-US"/>
            </a:br>
            <a:r>
              <a:rPr lang="en-US"/>
              <a:t>EVIDENCIA A INCORPORAR: Historias de usuario con ID, prioridad y estado.</a:t>
            </a:r>
            <a:br>
              <a:rPr lang="en-US"/>
            </a:br>
            <a:br>
              <a:rPr lang="en-US"/>
            </a:br>
            <a:r>
              <a:rPr lang="en-US"/>
              <a:t>DATOS POR VALIDAR: No se inventaron historias ni IDs. Los perfiles son los del acta, sin personas reales identificadas.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631" name="Google Shape;63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Respaldar la gestión ágil del equipo.</a:t>
            </a:r>
            <a:br>
              <a:rPr lang="en-US"/>
            </a:br>
            <a:br>
              <a:rPr lang="en-US"/>
            </a:br>
            <a:r>
              <a:rPr lang="en-US"/>
              <a:t>MENSAJE CENTRAL: El seguimiento se hace en Kanban y se contrasta con evidencia del repositorio.</a:t>
            </a:r>
            <a:br>
              <a:rPr lang="en-US"/>
            </a:br>
            <a:br>
              <a:rPr lang="en-US"/>
            </a:br>
            <a:r>
              <a:rPr lang="en-US"/>
              <a:t>EVIDENCIA A INCORPORAR: Capturas de GitHub Projects y bitácoras de reunión.</a:t>
            </a:r>
            <a:br>
              <a:rPr lang="en-US"/>
            </a:br>
            <a:br>
              <a:rPr lang="en-US"/>
            </a:br>
            <a:r>
              <a:rPr lang="en-US"/>
              <a:t>DATOS POR VALIDAR: La cadencia de Daily Scrum no consta en el acta. No hay IDs cargados.</a:t>
            </a:r>
            <a:br>
              <a:rPr lang="en-US"/>
            </a:br>
            <a:br>
              <a:rPr lang="en-US"/>
            </a:br>
            <a:r>
              <a:rPr lang="en-US"/>
              <a:t>PREGUNTA PARA LA PROFESORA: ¿Qué evidencia de Daily Scrum se espera?</a:t>
            </a:r>
            <a:endParaRPr/>
          </a:p>
        </p:txBody>
      </p:sp>
      <p:sp>
        <p:nvSpPr>
          <p:cNvPr id="655" name="Google Shape;6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Documentar el modelo de datos.</a:t>
            </a:r>
            <a:br>
              <a:rPr lang="en-US"/>
            </a:br>
            <a:br>
              <a:rPr lang="en-US"/>
            </a:br>
            <a:r>
              <a:rPr lang="en-US"/>
              <a:t>MENSAJE CENTRAL: El modelo está diseñado pero la base no está desplegada.</a:t>
            </a:r>
            <a:br>
              <a:rPr lang="en-US"/>
            </a:br>
            <a:br>
              <a:rPr lang="en-US"/>
            </a:br>
            <a:r>
              <a:rPr lang="en-US"/>
              <a:t>EVIDENCIA A INCORPORAR: Diagrama entidad-relación del repositorio.</a:t>
            </a:r>
            <a:br>
              <a:rPr lang="en-US"/>
            </a:br>
            <a:br>
              <a:rPr lang="en-US"/>
            </a:br>
            <a:r>
              <a:rPr lang="en-US"/>
              <a:t>DATOS POR VALIDAR: Detalle de entidades por insertar.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672" name="Google Shape;67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Mostrar los diagramas UML.</a:t>
            </a:r>
            <a:br>
              <a:rPr lang="en-US"/>
            </a:br>
            <a:br>
              <a:rPr lang="en-US"/>
            </a:br>
            <a:r>
              <a:rPr lang="en-US"/>
              <a:t>MENSAJE CENTRAL: Existen diagramas de casos de uso, componentes y clases.</a:t>
            </a:r>
            <a:br>
              <a:rPr lang="en-US"/>
            </a:br>
            <a:br>
              <a:rPr lang="en-US"/>
            </a:br>
            <a:r>
              <a:rPr lang="en-US"/>
              <a:t>EVIDENCIA A INCORPORAR: Los tres diagramas exportados.</a:t>
            </a:r>
            <a:br>
              <a:rPr lang="en-US"/>
            </a:br>
            <a:br>
              <a:rPr lang="en-US"/>
            </a:br>
            <a:r>
              <a:rPr lang="en-US"/>
              <a:t>DATOS POR VALIDAR: Verificar que reflejen el estado actual del código.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690" name="Google Shape;6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Dar respaldo a la gestión de riesgos.</a:t>
            </a:r>
            <a:br>
              <a:rPr lang="en-US"/>
            </a:br>
            <a:br>
              <a:rPr lang="en-US"/>
            </a:br>
            <a:r>
              <a:rPr lang="en-US"/>
              <a:t>MENSAJE CENTRAL: Los riesgos están identificados con responsable.</a:t>
            </a:r>
            <a:br>
              <a:rPr lang="en-US"/>
            </a:br>
            <a:br>
              <a:rPr lang="en-US"/>
            </a:br>
            <a:r>
              <a:rPr lang="en-US"/>
              <a:t>EVIDENCIA A INCORPORAR: Matriz completa con mitigaciones.</a:t>
            </a:r>
            <a:br>
              <a:rPr lang="en-US"/>
            </a:br>
            <a:br>
              <a:rPr lang="en-US"/>
            </a:br>
            <a:r>
              <a:rPr lang="en-US"/>
              <a:t>DATOS POR VALIDAR: Resumen del acta v3.0; revisar que sigan vigentes.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706" name="Google Shape;70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Verificar que cada entregable esté cubierto.</a:t>
            </a:r>
            <a:br>
              <a:rPr lang="en-US"/>
            </a:br>
            <a:br>
              <a:rPr lang="en-US"/>
            </a:br>
            <a:r>
              <a:rPr lang="en-US"/>
              <a:t>MENSAJE CENTRAL: Todos los entregables del acta tienen lugar en la presentación o en los anexos.</a:t>
            </a:r>
            <a:br>
              <a:rPr lang="en-US"/>
            </a:br>
            <a:br>
              <a:rPr lang="en-US"/>
            </a:br>
            <a:r>
              <a:rPr lang="en-US"/>
              <a:t>EVIDENCIA A INCORPORAR: No aplica.</a:t>
            </a:r>
            <a:br>
              <a:rPr lang="en-US"/>
            </a:br>
            <a:br>
              <a:rPr lang="en-US"/>
            </a:br>
            <a:r>
              <a:rPr lang="en-US"/>
              <a:t>DATOS POR VALIDAR: Actualizar los números si se reordenan las diapositivas.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714" name="Google Shape;71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Reunir los componentes reutilizables del sistema visual.</a:t>
            </a:r>
            <a:br>
              <a:rPr lang="en-US"/>
            </a:br>
            <a:br>
              <a:rPr lang="en-US"/>
            </a:br>
            <a:r>
              <a:rPr lang="en-US"/>
              <a:t>MENSAJE CENTRAL: Todo está construido con formas y objetos editables.</a:t>
            </a:r>
            <a:br>
              <a:rPr lang="en-US"/>
            </a:br>
            <a:br>
              <a:rPr lang="en-US"/>
            </a:br>
            <a:r>
              <a:rPr lang="en-US"/>
              <a:t>EVIDENCIA A INCORPORAR: No aplica.</a:t>
            </a:r>
            <a:br>
              <a:rPr lang="en-US"/>
            </a:br>
            <a:br>
              <a:rPr lang="en-US"/>
            </a:br>
            <a:r>
              <a:rPr lang="en-US"/>
              <a:t>DATOS POR VALIDAR: No aplica. Esta diapositiva está oculta.</a:t>
            </a:r>
            <a:br>
              <a:rPr lang="en-US"/>
            </a:br>
            <a:br>
              <a:rPr lang="en-US"/>
            </a:br>
            <a:r>
              <a:rPr lang="en-US"/>
              <a:t>PREGUNTA PARA LA PROFESORA: No aplica en esta diapositiva.</a:t>
            </a:r>
            <a:endParaRPr/>
          </a:p>
        </p:txBody>
      </p:sp>
      <p:sp>
        <p:nvSpPr>
          <p:cNvPr id="722" name="Google Shape;7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title"/>
          </p:nvPr>
        </p:nvSpPr>
        <p:spPr>
          <a:xfrm>
            <a:off x="548640" y="2377440"/>
            <a:ext cx="6035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6"/>
          <p:cNvSpPr txBox="1"/>
          <p:nvPr>
            <p:ph idx="1" type="body"/>
          </p:nvPr>
        </p:nvSpPr>
        <p:spPr>
          <a:xfrm>
            <a:off x="548640" y="44348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B2B34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NSAJE">
  <p:cSld name="MENSAJE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16" name="Google Shape;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7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ON">
  <p:cSld name="COMPARACION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21" name="Google Shape;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8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JO">
  <p:cSld name="FLUJO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26" name="Google Shape;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9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ADORES">
  <p:cSld name="INDICADORES">
    <p:bg>
      <p:bgPr>
        <a:solidFill>
          <a:srgbClr val="F3F8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31" name="Google Shape;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0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QUITECTURA">
  <p:cSld name="ARQUITECTURA">
    <p:bg>
      <p:bgPr>
        <a:solidFill>
          <a:srgbClr val="F3F8F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36" name="Google Shape;3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1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AS">
  <p:cSld name="CAPTURAS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41" name="Google Shape;4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2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A">
  <p:cSld name="LINEA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46" name="Google Shape;4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3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ESGOS">
  <p:cSld name="RIESGOS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51" name="Google Shape;5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4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rgbClr val="043F5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548640" y="548640"/>
            <a:ext cx="11091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ON">
  <p:cSld name="SECCION">
    <p:bg>
      <p:bgPr>
        <a:solidFill>
          <a:srgbClr val="043F5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/>
          <p:nvPr>
            <p:ph type="title"/>
          </p:nvPr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36"/>
          <p:cNvSpPr txBox="1"/>
          <p:nvPr>
            <p:ph idx="1" type="body"/>
          </p:nvPr>
        </p:nvSpPr>
        <p:spPr>
          <a:xfrm>
            <a:off x="822960" y="3749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80BDA8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80BDA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6"/>
          <p:cNvSpPr/>
          <p:nvPr/>
        </p:nvSpPr>
        <p:spPr>
          <a:xfrm>
            <a:off x="548640" y="5989320"/>
            <a:ext cx="1737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logo.png" id="60" name="Google Shape;6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80" y="6035040"/>
            <a:ext cx="1421211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EXO">
  <p:cSld name="ANEXO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assets/logo.png" id="63" name="Google Shape;6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8640" y="6382512"/>
            <a:ext cx="852727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/>
          <p:nvPr/>
        </p:nvSpPr>
        <p:spPr>
          <a:xfrm>
            <a:off x="1783080" y="63825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7"/>
          <p:cNvSpPr/>
          <p:nvPr/>
        </p:nvSpPr>
        <p:spPr>
          <a:xfrm>
            <a:off x="10058400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ANEXO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7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9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2.png"/><Relationship Id="rId5" Type="http://schemas.openxmlformats.org/officeDocument/2006/relationships/image" Target="../media/image3.png"/><Relationship Id="rId6" Type="http://schemas.openxmlformats.org/officeDocument/2006/relationships/image" Target="../media/image5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40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9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43.png"/><Relationship Id="rId7" Type="http://schemas.openxmlformats.org/officeDocument/2006/relationships/image" Target="../media/image4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14.png"/><Relationship Id="rId5" Type="http://schemas.openxmlformats.org/officeDocument/2006/relationships/image" Target="../media/image54.png"/><Relationship Id="rId6" Type="http://schemas.openxmlformats.org/officeDocument/2006/relationships/image" Target="../media/image2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5.png"/><Relationship Id="rId13" Type="http://schemas.openxmlformats.org/officeDocument/2006/relationships/image" Target="../media/image1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51.png"/><Relationship Id="rId9" Type="http://schemas.openxmlformats.org/officeDocument/2006/relationships/image" Target="../media/image62.png"/><Relationship Id="rId15" Type="http://schemas.openxmlformats.org/officeDocument/2006/relationships/image" Target="../media/image53.png"/><Relationship Id="rId14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 SAAD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48640"/>
            <a:ext cx="3383280" cy="108839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/>
          <p:nvPr/>
        </p:nvSpPr>
        <p:spPr>
          <a:xfrm>
            <a:off x="548640" y="1828800"/>
            <a:ext cx="2651760" cy="411480"/>
          </a:xfrm>
          <a:prstGeom prst="roundRect">
            <a:avLst>
              <a:gd fmla="val 48889" name="adj"/>
            </a:avLst>
          </a:prstGeom>
          <a:solidFill>
            <a:srgbClr val="ECA8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Presentación Fase 2.1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 txBox="1"/>
          <p:nvPr>
            <p:ph type="title"/>
          </p:nvPr>
        </p:nvSpPr>
        <p:spPr>
          <a:xfrm>
            <a:off x="548640" y="2377440"/>
            <a:ext cx="6035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Sistema de Análisis y Anticipación de Demanda de Urgencia en Salud Mental para la Región Metropolitana</a:t>
            </a:r>
            <a:endParaRPr sz="3000"/>
          </a:p>
        </p:txBody>
      </p:sp>
      <p:sp>
        <p:nvSpPr>
          <p:cNvPr id="76" name="Google Shape;76;p1"/>
          <p:cNvSpPr txBox="1"/>
          <p:nvPr>
            <p:ph idx="1" type="body"/>
          </p:nvPr>
        </p:nvSpPr>
        <p:spPr>
          <a:xfrm>
            <a:off x="548640" y="44348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2000"/>
              <a:buNone/>
            </a:pPr>
            <a:r>
              <a:rPr lang="en-US" sz="2000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Camila Aroca Muñoz, Cristopher Rojas,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1B2B34"/>
              </a:buClr>
              <a:buSzPts val="2000"/>
              <a:buNone/>
            </a:pPr>
            <a:r>
              <a:rPr lang="en-US" sz="2000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Felipe Rivera y Catalina Rodríguez</a:t>
            </a:r>
            <a:endParaRPr sz="2000"/>
          </a:p>
        </p:txBody>
      </p:sp>
      <p:sp>
        <p:nvSpPr>
          <p:cNvPr id="77" name="Google Shape;77;p1"/>
          <p:cNvSpPr txBox="1"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15 de octubre de 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548640" y="57150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Capstone APT, DUOC UC sede Antonio Varas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6903720" y="685800"/>
            <a:ext cx="4846320" cy="484632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7360920" y="1143000"/>
            <a:ext cx="3931920" cy="39319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80B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7498080" y="4800600"/>
            <a:ext cx="3657600" cy="256032"/>
          </a:xfrm>
          <a:prstGeom prst="roundRect">
            <a:avLst>
              <a:gd fmla="val 50000" name="adj"/>
            </a:avLst>
          </a:prstGeom>
          <a:solidFill>
            <a:srgbClr val="D3E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ibi psicologa" id="82" name="Google Shape;8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0" y="2788920"/>
            <a:ext cx="1600200" cy="2002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urgencia" id="83" name="Google Shape;8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4120" y="2788920"/>
            <a:ext cx="1600200" cy="2002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analista" id="84" name="Google Shape;8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8675" y="2240285"/>
            <a:ext cx="2103120" cy="263347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452360" y="118872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rediccion" id="86" name="Google Shape;8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9520" y="1325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10744200" y="10515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rritorio" id="88" name="Google Shape;8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81360" y="1188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9052560" y="868680"/>
            <a:ext cx="640080" cy="640080"/>
          </a:xfrm>
          <a:prstGeom prst="ellipse">
            <a:avLst/>
          </a:prstGeom>
          <a:solidFill>
            <a:srgbClr val="ECA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71432" y="9875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1155680" y="2148840"/>
            <a:ext cx="548640" cy="548640"/>
          </a:xfrm>
          <a:prstGeom prst="ellipse">
            <a:avLst/>
          </a:prstGeom>
          <a:solidFill>
            <a:srgbClr val="80BD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4A9A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La red de urgencia en salud mental se planifica hoy de forma reactiva</a:t>
            </a:r>
            <a:endParaRPr sz="3000"/>
          </a:p>
        </p:txBody>
      </p:sp>
      <p:sp>
        <p:nvSpPr>
          <p:cNvPr id="99" name="Google Shape;99;p2"/>
          <p:cNvSpPr/>
          <p:nvPr/>
        </p:nvSpPr>
        <p:spPr>
          <a:xfrm>
            <a:off x="548640" y="1783080"/>
            <a:ext cx="2560320" cy="2148840"/>
          </a:xfrm>
          <a:prstGeom prst="roundRect">
            <a:avLst>
              <a:gd fmla="val 5106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31520" y="1938528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06" y="2055114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31520" y="27432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Datos públicos fragmentados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31520" y="331012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Fuentes con distintos niveles de agregación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3154680" y="2852928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2"/>
          <p:cNvSpPr/>
          <p:nvPr/>
        </p:nvSpPr>
        <p:spPr>
          <a:xfrm>
            <a:off x="3474720" y="1783080"/>
            <a:ext cx="2560320" cy="2148840"/>
          </a:xfrm>
          <a:prstGeom prst="roundRect">
            <a:avLst>
              <a:gd fmla="val 5106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3657600" y="1938528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alerta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4186" y="2055114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3657600" y="27432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Sin lectura anticipada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657600" y="331012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No se ve dónde subirá la presión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6080760" y="2852928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2"/>
          <p:cNvSpPr/>
          <p:nvPr/>
        </p:nvSpPr>
        <p:spPr>
          <a:xfrm>
            <a:off x="6400800" y="1783080"/>
            <a:ext cx="2560320" cy="2148840"/>
          </a:xfrm>
          <a:prstGeom prst="roundRect">
            <a:avLst>
              <a:gd fmla="val 5106" name="adj"/>
            </a:avLst>
          </a:prstGeom>
          <a:solidFill>
            <a:srgbClr val="FBEFD5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6583680" y="1938528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ecision"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0266" y="2055114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6583680" y="27432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Planificación reactiva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583680" y="331012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Se actúa cuando la red ya está tensionada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48640" y="4206240"/>
            <a:ext cx="41148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5400">
            <a:solidFill>
              <a:srgbClr val="ECA84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31520" y="46634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Insertar cifra validada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731520" y="54864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Fuente y año por confirmar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846320" y="4206240"/>
            <a:ext cx="4114800" cy="1828800"/>
          </a:xfrm>
          <a:prstGeom prst="roundRect">
            <a:avLst>
              <a:gd fmla="val 6000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029200" y="4343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TESTIMONIO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5029200" y="46634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Hasta una semana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029200" y="51206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para encontrar cupo de hospitalización, según la experta consultada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9144000" y="1783080"/>
            <a:ext cx="2496312" cy="1234440"/>
          </a:xfrm>
          <a:prstGeom prst="roundRect">
            <a:avLst>
              <a:gd fmla="val 14815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139700" lIns="139700" spcFirstLastPara="1" rIns="139700" wrap="square" tIns="139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¿Dónde y cuándo se concentrará la demanda?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ibi urgencia" id="125" name="Google Shape;12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0" y="3154680"/>
            <a:ext cx="1828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4A9A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SAAD se apoya en quienes planifican la red y en quienes validan el dominio</a:t>
            </a:r>
            <a:endParaRPr sz="3000"/>
          </a:p>
        </p:txBody>
      </p:sp>
      <p:sp>
        <p:nvSpPr>
          <p:cNvPr id="134" name="Google Shape;134;p3"/>
          <p:cNvSpPr/>
          <p:nvPr/>
        </p:nvSpPr>
        <p:spPr>
          <a:xfrm>
            <a:off x="914400" y="1783080"/>
            <a:ext cx="356616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097280" y="1965960"/>
            <a:ext cx="640080" cy="64008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equipo"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094" y="20747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1874520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Funcionarios de la red de urgencia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097280" y="2624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Jefaturas y equipos de urgencia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097280" y="2971800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Potencial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708392" y="1783080"/>
            <a:ext cx="356616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7891272" y="1965960"/>
            <a:ext cx="640080" cy="64008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0086" y="20747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8668512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Profesionales de salud mental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7891272" y="2624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Referentes comunales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7891272" y="2971800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Potencial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914400" y="4526280"/>
            <a:ext cx="356616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097280" y="4709160"/>
            <a:ext cx="640080" cy="64008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rritorio" id="148" name="Google Shape;14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094" y="48179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 txBox="1"/>
          <p:nvPr/>
        </p:nvSpPr>
        <p:spPr>
          <a:xfrm>
            <a:off x="1874520" y="4709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Administraciones públicas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097280" y="53675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SEREMI, servicios y municipios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097280" y="5715000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Potencial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708392" y="4526280"/>
            <a:ext cx="356616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7891272" y="4709160"/>
            <a:ext cx="640080" cy="64008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verificado" id="154" name="Google Shape;1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0086" y="48179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 txBox="1"/>
          <p:nvPr/>
        </p:nvSpPr>
        <p:spPr>
          <a:xfrm>
            <a:off x="8668512" y="47091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Actores validadores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891272" y="54132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Belén Guzmán, psicóloga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9875520" y="5074920"/>
            <a:ext cx="123444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7891272" y="5733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Cliente piloto y sponsor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0058400" y="5742432"/>
            <a:ext cx="10515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3"/>
          <p:cNvCxnSpPr/>
          <p:nvPr/>
        </p:nvCxnSpPr>
        <p:spPr>
          <a:xfrm>
            <a:off x="4480560" y="3337560"/>
            <a:ext cx="822960" cy="18288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3"/>
          <p:cNvCxnSpPr/>
          <p:nvPr/>
        </p:nvCxnSpPr>
        <p:spPr>
          <a:xfrm>
            <a:off x="6903720" y="3337560"/>
            <a:ext cx="804672" cy="18288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3"/>
          <p:cNvCxnSpPr/>
          <p:nvPr/>
        </p:nvCxnSpPr>
        <p:spPr>
          <a:xfrm>
            <a:off x="4480560" y="4343400"/>
            <a:ext cx="822960" cy="18288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3"/>
          <p:cNvCxnSpPr/>
          <p:nvPr/>
        </p:nvCxnSpPr>
        <p:spPr>
          <a:xfrm>
            <a:off x="6903720" y="4343400"/>
            <a:ext cx="804672" cy="18288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3"/>
          <p:cNvSpPr/>
          <p:nvPr/>
        </p:nvSpPr>
        <p:spPr>
          <a:xfrm>
            <a:off x="5047488" y="2880360"/>
            <a:ext cx="2103120" cy="2103120"/>
          </a:xfrm>
          <a:prstGeom prst="ellipse">
            <a:avLst/>
          </a:prstGeom>
          <a:solidFill>
            <a:srgbClr val="04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5138928" y="3246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 institucional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184648" y="39319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BDA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BDA8"/>
                </a:solidFill>
                <a:latin typeface="Arial"/>
                <a:ea typeface="Arial"/>
                <a:cs typeface="Arial"/>
                <a:sym typeface="Arial"/>
              </a:rPr>
              <a:t>Gestor de red o planificador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4A9A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SAAD convierte información pública dispersa en una lectura anticipada de la red</a:t>
            </a:r>
            <a:endParaRPr sz="3000"/>
          </a:p>
        </p:txBody>
      </p:sp>
      <p:sp>
        <p:nvSpPr>
          <p:cNvPr id="175" name="Google Shape;175;p4"/>
          <p:cNvSpPr/>
          <p:nvPr/>
        </p:nvSpPr>
        <p:spPr>
          <a:xfrm>
            <a:off x="548640" y="1783080"/>
            <a:ext cx="5120640" cy="4343400"/>
          </a:xfrm>
          <a:prstGeom prst="roundRect">
            <a:avLst>
              <a:gd fmla="val 5263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68680" y="2011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A84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CA840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68680" y="2377440"/>
            <a:ext cx="4480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 con anticipación dónde se concentrará la presión sobre la red de urgencia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ibi planificadora"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3977640"/>
            <a:ext cx="1691640" cy="211226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/>
          <p:nvPr/>
        </p:nvSpPr>
        <p:spPr>
          <a:xfrm>
            <a:off x="5943600" y="1783080"/>
            <a:ext cx="5696712" cy="1051560"/>
          </a:xfrm>
          <a:prstGeom prst="roundRect">
            <a:avLst>
              <a:gd fmla="val 1043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126480" y="196596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cnologia"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3066" y="208254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6995160" y="192024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995160" y="2167128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Plataforma web que integra datos públicos para anticipar la demanda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5943600" y="2971800"/>
            <a:ext cx="5696712" cy="1051560"/>
          </a:xfrm>
          <a:prstGeom prst="roundRect">
            <a:avLst>
              <a:gd fmla="val 1043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126480" y="3154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rritorio" id="186" name="Google Shape;1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066" y="327126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/>
        </p:nvSpPr>
        <p:spPr>
          <a:xfrm>
            <a:off x="6995160" y="310896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995160" y="3355848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Lectura territorial y trazable de la presión esperada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943600" y="4160520"/>
            <a:ext cx="5696712" cy="1051560"/>
          </a:xfrm>
          <a:prstGeom prst="roundRect">
            <a:avLst>
              <a:gd fmla="val 1043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126480" y="43434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ecision" id="191" name="Google Shape;19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066" y="445998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"/>
          <p:cNvSpPr txBox="1"/>
          <p:nvPr/>
        </p:nvSpPr>
        <p:spPr>
          <a:xfrm>
            <a:off x="6995160" y="429768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DECISIONES QUE APOYA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6995160" y="4544568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Planificación agregada de la red de urgencia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943600" y="5349240"/>
            <a:ext cx="5696712" cy="777240"/>
          </a:xfrm>
          <a:prstGeom prst="roundRect">
            <a:avLst>
              <a:gd fmla="val 14118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6126480" y="534924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No gestiona cupos ni decide casos clínicos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Los componentes base del MVP existen; faltan validación y capas territoriales</a:t>
            </a:r>
            <a:endParaRPr sz="3000"/>
          </a:p>
        </p:txBody>
      </p:sp>
      <p:sp>
        <p:nvSpPr>
          <p:cNvPr id="204" name="Google Shape;204;p5"/>
          <p:cNvSpPr/>
          <p:nvPr/>
        </p:nvSpPr>
        <p:spPr>
          <a:xfrm>
            <a:off x="548640" y="1737360"/>
            <a:ext cx="2706624" cy="4434840"/>
          </a:xfrm>
          <a:prstGeom prst="roundRect">
            <a:avLst>
              <a:gd fmla="val 5068" name="adj"/>
            </a:avLst>
          </a:prstGeom>
          <a:solidFill>
            <a:srgbClr val="DDF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85800" y="1847088"/>
            <a:ext cx="2432304" cy="384048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85800" y="239572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Pipeline de datos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85800" y="312724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Modelo de pronóstico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85800" y="385876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API de solo lectura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85800" y="459028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Tablero web local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85800" y="532180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Requisitos y diagramas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3364992" y="1737360"/>
            <a:ext cx="2706624" cy="4434840"/>
          </a:xfrm>
          <a:prstGeom prst="roundRect">
            <a:avLst>
              <a:gd fmla="val 5068" name="adj"/>
            </a:avLst>
          </a:prstGeom>
          <a:solidFill>
            <a:srgbClr val="FBE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502152" y="1847088"/>
            <a:ext cx="2432304" cy="384048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 revisión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502152" y="239572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Pruebas automatizadas, resultado por registrar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502152" y="312724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Calibración de intervalos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502152" y="385876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Procedencia del snapshot 2026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181344" y="1737360"/>
            <a:ext cx="2706624" cy="4434840"/>
          </a:xfrm>
          <a:prstGeom prst="roundRect">
            <a:avLst>
              <a:gd fmla="val 5068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6318504" y="1847088"/>
            <a:ext cx="2432304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318504" y="239572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Accesibilidad territorial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318504" y="312724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Factores de hospitalización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318504" y="385876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Video demostrativo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318504" y="459028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Validación con usuario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8997696" y="1737360"/>
            <a:ext cx="2706624" cy="4434840"/>
          </a:xfrm>
          <a:prstGeom prst="roundRect">
            <a:avLst>
              <a:gd fmla="val 5068" name="adj"/>
            </a:avLst>
          </a:prstGeom>
          <a:solidFill>
            <a:srgbClr val="EEF1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9134856" y="1847088"/>
            <a:ext cx="2432304" cy="384048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Futuro o fuera del alcance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9134856" y="239572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Cupos y camas en tiempo real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9134856" y="312724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Datos de pacientes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9134856" y="3858768"/>
            <a:ext cx="2432304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900" lIns="88900" spcFirstLastPara="1" rIns="88900" wrap="square" tIns="88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Despliegue productivo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SAAD lleva los datos públicos hasta una lectura útil para planificar</a:t>
            </a:r>
            <a:endParaRPr sz="3000"/>
          </a:p>
        </p:txBody>
      </p:sp>
      <p:cxnSp>
        <p:nvCxnSpPr>
          <p:cNvPr id="235" name="Google Shape;235;p6"/>
          <p:cNvCxnSpPr/>
          <p:nvPr/>
        </p:nvCxnSpPr>
        <p:spPr>
          <a:xfrm>
            <a:off x="1289304" y="2057400"/>
            <a:ext cx="9612173" cy="0"/>
          </a:xfrm>
          <a:prstGeom prst="straightConnector1">
            <a:avLst/>
          </a:prstGeom>
          <a:noFill/>
          <a:ln cap="flat" cmpd="sng" w="38100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6"/>
          <p:cNvSpPr/>
          <p:nvPr/>
        </p:nvSpPr>
        <p:spPr>
          <a:xfrm>
            <a:off x="548640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1060704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923544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239" name="Google Shape;2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902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 txBox="1"/>
          <p:nvPr/>
        </p:nvSpPr>
        <p:spPr>
          <a:xfrm>
            <a:off x="566928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Ingreso de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150669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2662733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525573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cnologia" id="244" name="Google Shape;2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931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 txBox="1"/>
          <p:nvPr/>
        </p:nvSpPr>
        <p:spPr>
          <a:xfrm>
            <a:off x="2168957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Validación y transformación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752698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264762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127602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rediccion" id="249" name="Google Shape;2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960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 txBox="1"/>
          <p:nvPr/>
        </p:nvSpPr>
        <p:spPr>
          <a:xfrm>
            <a:off x="3770986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Modelo de demanda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354726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5866790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729630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ocumento" id="254" name="Google Shape;2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3989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6"/>
          <p:cNvSpPr txBox="1"/>
          <p:nvPr/>
        </p:nvSpPr>
        <p:spPr>
          <a:xfrm>
            <a:off x="5373014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956755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7468819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7331659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259" name="Google Shape;25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6018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"/>
          <p:cNvSpPr txBox="1"/>
          <p:nvPr/>
        </p:nvSpPr>
        <p:spPr>
          <a:xfrm>
            <a:off x="6975043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Interfaz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558784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9070848" y="1828800"/>
            <a:ext cx="457200" cy="457200"/>
          </a:xfrm>
          <a:prstGeom prst="ellipse">
            <a:avLst/>
          </a:prstGeom>
          <a:solidFill>
            <a:srgbClr val="1F8A6B"/>
          </a:solidFill>
          <a:ln cap="flat" cmpd="sng" w="2540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8933688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rritorio" id="264" name="Google Shape;26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8046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"/>
          <p:cNvSpPr txBox="1"/>
          <p:nvPr/>
        </p:nvSpPr>
        <p:spPr>
          <a:xfrm>
            <a:off x="8577072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Resultado para el usuario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0160813" y="2468880"/>
            <a:ext cx="1481328" cy="2148840"/>
          </a:xfrm>
          <a:prstGeom prst="roundRect">
            <a:avLst>
              <a:gd fmla="val 740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10672877" y="18288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0535717" y="26974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ecision" id="269" name="Google Shape;26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0075" y="282183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10179101" y="3566160"/>
            <a:ext cx="1444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Apoyo a la decisión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48640" y="4800600"/>
            <a:ext cx="4800600" cy="868680"/>
          </a:xfrm>
          <a:prstGeom prst="roundRect">
            <a:avLst>
              <a:gd fmla="val 12632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Entrada: fuentes públicas del DEIS, INE y MDS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5486400" y="4800600"/>
            <a:ext cx="2377440" cy="868680"/>
          </a:xfrm>
          <a:prstGeom prst="roundRect">
            <a:avLst>
              <a:gd fmla="val 12632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Servicio: 7 consultas de solo lectura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8001000" y="4800600"/>
            <a:ext cx="3639312" cy="868680"/>
          </a:xfrm>
          <a:prstGeom prst="roundRect">
            <a:avLst>
              <a:gd fmla="val 12632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Salida: serie, pronóstico, mapa, tabla y avisos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548640" y="585216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965960" y="5852160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3429000" y="5852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Pasos 1 a 6 funcionan en entorno local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El modelo reduce el error frente a un baseline estacional en la evaluación fuera de muestra</a:t>
            </a:r>
            <a:endParaRPr sz="3000"/>
          </a:p>
        </p:txBody>
      </p:sp>
      <p:sp>
        <p:nvSpPr>
          <p:cNvPr id="285" name="Google Shape;285;p7"/>
          <p:cNvSpPr/>
          <p:nvPr/>
        </p:nvSpPr>
        <p:spPr>
          <a:xfrm>
            <a:off x="548640" y="1783080"/>
            <a:ext cx="201168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658368" y="187452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658368" y="237744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DEIS, INE y MDS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7"/>
          <p:cNvCxnSpPr/>
          <p:nvPr/>
        </p:nvCxnSpPr>
        <p:spPr>
          <a:xfrm>
            <a:off x="2578608" y="242316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7"/>
          <p:cNvSpPr/>
          <p:nvPr/>
        </p:nvSpPr>
        <p:spPr>
          <a:xfrm>
            <a:off x="2816352" y="1783080"/>
            <a:ext cx="201168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2926080" y="187452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2926080" y="237744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31 etapas con procedencia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7"/>
          <p:cNvCxnSpPr/>
          <p:nvPr/>
        </p:nvCxnSpPr>
        <p:spPr>
          <a:xfrm>
            <a:off x="4846320" y="242316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7"/>
          <p:cNvSpPr/>
          <p:nvPr/>
        </p:nvSpPr>
        <p:spPr>
          <a:xfrm>
            <a:off x="5084064" y="1783080"/>
            <a:ext cx="201168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5193792" y="187452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Entrenamiento y backtest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5193792" y="237744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2021 a 2025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7"/>
          <p:cNvCxnSpPr/>
          <p:nvPr/>
        </p:nvCxnSpPr>
        <p:spPr>
          <a:xfrm>
            <a:off x="7114032" y="242316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7" name="Google Shape;297;p7"/>
          <p:cNvSpPr/>
          <p:nvPr/>
        </p:nvSpPr>
        <p:spPr>
          <a:xfrm>
            <a:off x="7351776" y="1783080"/>
            <a:ext cx="201168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7461504" y="187452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Holdout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7461504" y="237744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Semanas 4 a 38 de 2026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7"/>
          <p:cNvCxnSpPr/>
          <p:nvPr/>
        </p:nvCxnSpPr>
        <p:spPr>
          <a:xfrm>
            <a:off x="9381744" y="242316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p7"/>
          <p:cNvSpPr/>
          <p:nvPr/>
        </p:nvSpPr>
        <p:spPr>
          <a:xfrm>
            <a:off x="9619488" y="1783080"/>
            <a:ext cx="2011680" cy="128016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9729216" y="187452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9729216" y="237744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Pronóstico semanal a 4 a 8 semanas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548640" y="3246120"/>
            <a:ext cx="6309360" cy="292608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5" name="Google Shape;305;p7"/>
          <p:cNvGraphicFramePr/>
          <p:nvPr/>
        </p:nvGraphicFramePr>
        <p:xfrm>
          <a:off x="640080" y="3291840"/>
          <a:ext cx="6126480" cy="2834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6" name="Google Shape;306;p7"/>
          <p:cNvSpPr/>
          <p:nvPr/>
        </p:nvSpPr>
        <p:spPr>
          <a:xfrm>
            <a:off x="7086600" y="3246120"/>
            <a:ext cx="2221992" cy="2011680"/>
          </a:xfrm>
          <a:prstGeom prst="roundRect">
            <a:avLst>
              <a:gd fmla="val 9091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7223760" y="3429000"/>
            <a:ext cx="1947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23,5 %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7223760" y="4251960"/>
            <a:ext cx="1947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BDA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BDA8"/>
                </a:solidFill>
                <a:latin typeface="Arial"/>
                <a:ea typeface="Arial"/>
                <a:cs typeface="Arial"/>
                <a:sym typeface="Arial"/>
              </a:rPr>
              <a:t>menos error que el baseline en la región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9418320" y="3246120"/>
            <a:ext cx="2221992" cy="2011680"/>
          </a:xfrm>
          <a:prstGeom prst="roundRect">
            <a:avLst>
              <a:gd fmla="val 9091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9555480" y="3429000"/>
            <a:ext cx="1947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26,8 %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9555480" y="4251960"/>
            <a:ext cx="1947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BDA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0BDA8"/>
                </a:solidFill>
                <a:latin typeface="Arial"/>
                <a:ea typeface="Arial"/>
                <a:cs typeface="Arial"/>
                <a:sym typeface="Arial"/>
              </a:rPr>
              <a:t>menos error que el baseline en comunas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7086600" y="5440680"/>
            <a:ext cx="4553712" cy="731520"/>
          </a:xfrm>
          <a:prstGeom prst="roundRect">
            <a:avLst>
              <a:gd fmla="val 15000" name="adj"/>
            </a:avLst>
          </a:prstGeom>
          <a:solidFill>
            <a:srgbClr val="FBEFD5"/>
          </a:solidFill>
          <a:ln>
            <a:noFill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Evaluación técnica del equipo, no validación con usuarios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/>
          <p:nvPr/>
        </p:nvSpPr>
        <p:spPr>
          <a:xfrm>
            <a:off x="548640" y="274320"/>
            <a:ext cx="1024128" cy="274320"/>
          </a:xfrm>
          <a:prstGeom prst="roundRect">
            <a:avLst>
              <a:gd fmla="val 50000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La arquitectura actual funciona en local y está pensada para crecer por capas</a:t>
            </a:r>
            <a:endParaRPr sz="3000"/>
          </a:p>
        </p:txBody>
      </p:sp>
      <p:sp>
        <p:nvSpPr>
          <p:cNvPr id="321" name="Google Shape;321;p8"/>
          <p:cNvSpPr/>
          <p:nvPr/>
        </p:nvSpPr>
        <p:spPr>
          <a:xfrm>
            <a:off x="2971800" y="1691640"/>
            <a:ext cx="4480560" cy="329184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 hoy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589520" y="1691640"/>
            <a:ext cx="4050792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Arquitectura objetivo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48640" y="2148840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21792" y="2240280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325" name="Google Shape;3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3042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 txBox="1"/>
          <p:nvPr/>
        </p:nvSpPr>
        <p:spPr>
          <a:xfrm>
            <a:off x="1143000" y="2148840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971800" y="2148840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E3EEF6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Gestor de red o planificador, perfil definido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8"/>
          <p:cNvCxnSpPr/>
          <p:nvPr/>
        </p:nvCxnSpPr>
        <p:spPr>
          <a:xfrm>
            <a:off x="7470648" y="2450592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8"/>
          <p:cNvSpPr/>
          <p:nvPr/>
        </p:nvSpPr>
        <p:spPr>
          <a:xfrm>
            <a:off x="7589520" y="2148840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Validación con usuario o experto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48640" y="2825496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21792" y="291693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cnologia" id="332" name="Google Shape;3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9809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 txBox="1"/>
          <p:nvPr/>
        </p:nvSpPr>
        <p:spPr>
          <a:xfrm>
            <a:off x="1143000" y="282549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971800" y="2825496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DDF1EA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Tablero React y TypeScript con mapa y series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8"/>
          <p:cNvCxnSpPr/>
          <p:nvPr/>
        </p:nvCxnSpPr>
        <p:spPr>
          <a:xfrm>
            <a:off x="7470648" y="3127248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8"/>
          <p:cNvSpPr/>
          <p:nvPr/>
        </p:nvSpPr>
        <p:spPr>
          <a:xfrm>
            <a:off x="7589520" y="2825496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Accesibilidad y hospitalización en el tablero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548640" y="3502152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621792" y="3593592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ocumento" id="339" name="Google Shape;33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657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 txBox="1"/>
          <p:nvPr/>
        </p:nvSpPr>
        <p:spPr>
          <a:xfrm>
            <a:off x="1143000" y="3502152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2971800" y="3502152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DDF1EA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REST de solo lectura con 7 consultas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8"/>
          <p:cNvCxnSpPr/>
          <p:nvPr/>
        </p:nvCxnSpPr>
        <p:spPr>
          <a:xfrm>
            <a:off x="7470648" y="380390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8"/>
          <p:cNvSpPr/>
          <p:nvPr/>
        </p:nvSpPr>
        <p:spPr>
          <a:xfrm>
            <a:off x="7589520" y="3502152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Consultas para los nuevos componentes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48640" y="4178808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621792" y="4270248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rediccion" id="346" name="Google Shape;34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3342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 txBox="1"/>
          <p:nvPr/>
        </p:nvSpPr>
        <p:spPr>
          <a:xfrm>
            <a:off x="1143000" y="4178808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971800" y="4178808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DDF1EA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Pipeline de 31 etapas, Poisson y LightGBM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8"/>
          <p:cNvCxnSpPr/>
          <p:nvPr/>
        </p:nvCxnSpPr>
        <p:spPr>
          <a:xfrm>
            <a:off x="7470648" y="4480560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8"/>
          <p:cNvSpPr/>
          <p:nvPr/>
        </p:nvSpPr>
        <p:spPr>
          <a:xfrm>
            <a:off x="7589520" y="4178808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Accesibilidad y factores asociados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548640" y="4855464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621792" y="4946904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353" name="Google Shape;3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5010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8"/>
          <p:cNvSpPr txBox="1"/>
          <p:nvPr/>
        </p:nvSpPr>
        <p:spPr>
          <a:xfrm>
            <a:off x="1143000" y="4855464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2971800" y="4855464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DDF1EA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Archivos generados por el pipeline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8"/>
          <p:cNvCxnSpPr/>
          <p:nvPr/>
        </p:nvCxnSpPr>
        <p:spPr>
          <a:xfrm>
            <a:off x="7470648" y="5157216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8"/>
          <p:cNvSpPr/>
          <p:nvPr/>
        </p:nvSpPr>
        <p:spPr>
          <a:xfrm>
            <a:off x="7589520" y="4855464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PostgreSQL y PostGIS desplegadas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48640" y="5532120"/>
            <a:ext cx="2286000" cy="603504"/>
          </a:xfrm>
          <a:prstGeom prst="roundRect">
            <a:avLst>
              <a:gd fmla="val 15152" name="adj"/>
            </a:avLst>
          </a:prstGeom>
          <a:solidFill>
            <a:srgbClr val="0A50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621792" y="5623560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equipo" id="360" name="Google Shape;36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5687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"/>
          <p:cNvSpPr txBox="1"/>
          <p:nvPr/>
        </p:nvSpPr>
        <p:spPr>
          <a:xfrm>
            <a:off x="1143000" y="5532120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2971800" y="5532120"/>
            <a:ext cx="4480560" cy="603504"/>
          </a:xfrm>
          <a:prstGeom prst="roundRect">
            <a:avLst>
              <a:gd fmla="val 15152" name="adj"/>
            </a:avLst>
          </a:prstGeom>
          <a:solidFill>
            <a:srgbClr val="E3EEF6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Ejecución local, sin despliegue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8"/>
          <p:cNvCxnSpPr/>
          <p:nvPr/>
        </p:nvCxnSpPr>
        <p:spPr>
          <a:xfrm>
            <a:off x="7470648" y="5833872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5F70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8"/>
          <p:cNvSpPr/>
          <p:nvPr/>
        </p:nvSpPr>
        <p:spPr>
          <a:xfrm>
            <a:off x="7589520" y="5532120"/>
            <a:ext cx="4050792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4300" lIns="11430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Entorno de demostración por definir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"/>
          <p:cNvSpPr/>
          <p:nvPr/>
        </p:nvSpPr>
        <p:spPr>
          <a:xfrm>
            <a:off x="548640" y="274320"/>
            <a:ext cx="1120140" cy="274320"/>
          </a:xfrm>
          <a:prstGeom prst="roundRect">
            <a:avLst>
              <a:gd fmla="val 50000" name="adj"/>
            </a:avLst>
          </a:prstGeom>
          <a:solidFill>
            <a:srgbClr val="2A74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El usuario llega al pronóstico en cuatro pasos desde el tablero</a:t>
            </a:r>
            <a:endParaRPr sz="3000"/>
          </a:p>
        </p:txBody>
      </p:sp>
      <p:sp>
        <p:nvSpPr>
          <p:cNvPr id="373" name="Google Shape;373;p9"/>
          <p:cNvSpPr/>
          <p:nvPr/>
        </p:nvSpPr>
        <p:spPr>
          <a:xfrm>
            <a:off x="548640" y="1783080"/>
            <a:ext cx="2359152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548640" y="1783080"/>
            <a:ext cx="2359152" cy="274320"/>
          </a:xfrm>
          <a:prstGeom prst="roundRect">
            <a:avLst>
              <a:gd fmla="val 40000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658368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786384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914400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58368" y="2148840"/>
            <a:ext cx="2139696" cy="1828800"/>
          </a:xfrm>
          <a:prstGeom prst="roundRect">
            <a:avLst>
              <a:gd fmla="val 6000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749808" y="2148840"/>
            <a:ext cx="1956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Captura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9"/>
          <p:cNvCxnSpPr/>
          <p:nvPr/>
        </p:nvCxnSpPr>
        <p:spPr>
          <a:xfrm>
            <a:off x="2944368" y="2926080"/>
            <a:ext cx="484632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9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1115568" y="429768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Abre el tablero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548640" y="4892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Ve el resumen de la región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459175" y="1783080"/>
            <a:ext cx="2359152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459175" y="1783080"/>
            <a:ext cx="2359152" cy="274320"/>
          </a:xfrm>
          <a:prstGeom prst="roundRect">
            <a:avLst>
              <a:gd fmla="val 40000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3568903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3696919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824935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3568903" y="2148840"/>
            <a:ext cx="2139696" cy="1828800"/>
          </a:xfrm>
          <a:prstGeom prst="roundRect">
            <a:avLst>
              <a:gd fmla="val 6000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3660343" y="2148840"/>
            <a:ext cx="1956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Captura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9"/>
          <p:cNvCxnSpPr/>
          <p:nvPr/>
        </p:nvCxnSpPr>
        <p:spPr>
          <a:xfrm>
            <a:off x="5854903" y="2926080"/>
            <a:ext cx="484632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" name="Google Shape;392;p9"/>
          <p:cNvSpPr/>
          <p:nvPr/>
        </p:nvSpPr>
        <p:spPr>
          <a:xfrm>
            <a:off x="3459175" y="4297680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4026103" y="429768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Revisa el pronóstico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3459175" y="4892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Serie semanal con pronóstico a 4 a 8 semanas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369710" y="1783080"/>
            <a:ext cx="2359152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6369710" y="1783080"/>
            <a:ext cx="2359152" cy="274320"/>
          </a:xfrm>
          <a:prstGeom prst="roundRect">
            <a:avLst>
              <a:gd fmla="val 40000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6479438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6607454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6735470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6479438" y="2148840"/>
            <a:ext cx="2139696" cy="1828800"/>
          </a:xfrm>
          <a:prstGeom prst="roundRect">
            <a:avLst>
              <a:gd fmla="val 6000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 txBox="1"/>
          <p:nvPr/>
        </p:nvSpPr>
        <p:spPr>
          <a:xfrm>
            <a:off x="6570878" y="2148840"/>
            <a:ext cx="1956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Captura 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9"/>
          <p:cNvCxnSpPr/>
          <p:nvPr/>
        </p:nvCxnSpPr>
        <p:spPr>
          <a:xfrm>
            <a:off x="8765438" y="2926080"/>
            <a:ext cx="484632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3" name="Google Shape;403;p9"/>
          <p:cNvSpPr/>
          <p:nvPr/>
        </p:nvSpPr>
        <p:spPr>
          <a:xfrm>
            <a:off x="6369710" y="4297680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6936638" y="429768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Explora el mapa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6369710" y="4892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Variación esperada por comuna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9280246" y="1783080"/>
            <a:ext cx="2359152" cy="2286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9280246" y="1783080"/>
            <a:ext cx="2359152" cy="274320"/>
          </a:xfrm>
          <a:prstGeom prst="roundRect">
            <a:avLst>
              <a:gd fmla="val 40000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9389974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9517990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9646006" y="1874520"/>
            <a:ext cx="91440" cy="91440"/>
          </a:xfrm>
          <a:prstGeom prst="ellipse">
            <a:avLst/>
          </a:prstGeom>
          <a:solidFill>
            <a:srgbClr val="9DB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9389974" y="2148840"/>
            <a:ext cx="2139696" cy="1828800"/>
          </a:xfrm>
          <a:prstGeom prst="roundRect">
            <a:avLst>
              <a:gd fmla="val 6000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 txBox="1"/>
          <p:nvPr/>
        </p:nvSpPr>
        <p:spPr>
          <a:xfrm>
            <a:off x="9481414" y="2148840"/>
            <a:ext cx="1956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Captura 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9280246" y="4297680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9847174" y="429768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Consulta la tabla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9280246" y="4892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Cifras por comuna con avisos de lectura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548640" y="5760720"/>
            <a:ext cx="11091672" cy="411480"/>
          </a:xfrm>
          <a:prstGeom prst="roundRect">
            <a:avLst>
              <a:gd fmla="val 26667" name="adj"/>
            </a:avLst>
          </a:prstGeom>
          <a:solidFill>
            <a:srgbClr val="E3EE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Los avisos de interpretación acompañan cada resultado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"/>
          <p:cNvSpPr/>
          <p:nvPr/>
        </p:nvSpPr>
        <p:spPr>
          <a:xfrm>
            <a:off x="548640" y="274320"/>
            <a:ext cx="1120140" cy="274320"/>
          </a:xfrm>
          <a:prstGeom prst="roundRect">
            <a:avLst>
              <a:gd fmla="val 50000" name="adj"/>
            </a:avLst>
          </a:prstGeom>
          <a:solidFill>
            <a:srgbClr val="2A74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Cada avance se puede respaldar con evidencia verificable</a:t>
            </a:r>
            <a:endParaRPr sz="3000"/>
          </a:p>
        </p:txBody>
      </p:sp>
      <p:sp>
        <p:nvSpPr>
          <p:cNvPr id="425" name="Google Shape;425;p10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video" id="427" name="Google Shape;4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334" y="20747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0"/>
          <p:cNvSpPr txBox="1"/>
          <p:nvPr/>
        </p:nvSpPr>
        <p:spPr>
          <a:xfrm>
            <a:off x="1508760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Capturas del sistema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 txBox="1"/>
          <p:nvPr/>
        </p:nvSpPr>
        <p:spPr>
          <a:xfrm>
            <a:off x="731520" y="26974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Tablero con serie, mapa y tabla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731520" y="3401568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311396" y="178308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494276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rediccion" id="433" name="Google Shape;4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090" y="20747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0"/>
          <p:cNvSpPr txBox="1"/>
          <p:nvPr/>
        </p:nvSpPr>
        <p:spPr>
          <a:xfrm>
            <a:off x="5271516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Resultados del modelo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 txBox="1"/>
          <p:nvPr/>
        </p:nvSpPr>
        <p:spPr>
          <a:xfrm>
            <a:off x="4494276" y="26974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Backtest 2021 a 2025 y holdout 2026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494276" y="3401568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8074152" y="178308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8257032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verificado" id="439" name="Google Shape;43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5846" y="207477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0"/>
          <p:cNvSpPr txBox="1"/>
          <p:nvPr/>
        </p:nvSpPr>
        <p:spPr>
          <a:xfrm>
            <a:off x="9034272" y="196596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8257032" y="26974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373 funciones en 31 archivos, resultado por registrar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8257032" y="3401568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 revisión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731520" y="4160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445" name="Google Shape;44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334" y="426933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0"/>
          <p:cNvSpPr txBox="1"/>
          <p:nvPr/>
        </p:nvSpPr>
        <p:spPr>
          <a:xfrm>
            <a:off x="1508760" y="4160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Salidas del pipeline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 txBox="1"/>
          <p:nvPr/>
        </p:nvSpPr>
        <p:spPr>
          <a:xfrm>
            <a:off x="731520" y="4892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77 de 77 válidas en la corrida del 7 de octubre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731520" y="5596128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311396" y="39776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4494276" y="4160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ocumento" id="451" name="Google Shape;45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3090" y="426933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0"/>
          <p:cNvSpPr txBox="1"/>
          <p:nvPr/>
        </p:nvSpPr>
        <p:spPr>
          <a:xfrm>
            <a:off x="5271516" y="4160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Compatibilidad con CSV legacy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4494276" y="4892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Insertar evidencia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4494276" y="5596128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8074152" y="39776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8257032" y="4160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cnologia" id="457" name="Google Shape;45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5846" y="4269334"/>
            <a:ext cx="422453" cy="42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0"/>
          <p:cNvSpPr txBox="1"/>
          <p:nvPr/>
        </p:nvSpPr>
        <p:spPr>
          <a:xfrm>
            <a:off x="9034272" y="4160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Versión verificable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8257032" y="4892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Repositorio, versión a79d308 del 7 de octubre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8257032" y="5596128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1"/>
          <p:cNvSpPr/>
          <p:nvPr/>
        </p:nvSpPr>
        <p:spPr>
          <a:xfrm>
            <a:off x="548640" y="274320"/>
            <a:ext cx="1120140" cy="274320"/>
          </a:xfrm>
          <a:prstGeom prst="roundRect">
            <a:avLst>
              <a:gd fmla="val 50000" name="adj"/>
            </a:avLst>
          </a:prstGeom>
          <a:solidFill>
            <a:srgbClr val="2A74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1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El video mostrará el flujo completo de SAAD con datos reales</a:t>
            </a:r>
            <a:endParaRPr sz="3000"/>
          </a:p>
        </p:txBody>
      </p:sp>
      <p:sp>
        <p:nvSpPr>
          <p:cNvPr id="469" name="Google Shape;469;p11"/>
          <p:cNvSpPr/>
          <p:nvPr/>
        </p:nvSpPr>
        <p:spPr>
          <a:xfrm>
            <a:off x="548640" y="1783080"/>
            <a:ext cx="5394960" cy="3035808"/>
          </a:xfrm>
          <a:prstGeom prst="roundRect">
            <a:avLst>
              <a:gd fmla="val 4518" name="adj"/>
            </a:avLst>
          </a:prstGeom>
          <a:solidFill>
            <a:srgbClr val="043F57"/>
          </a:solidFill>
          <a:ln cap="flat" cmpd="sng" w="15875">
            <a:solidFill>
              <a:srgbClr val="0A5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2697480" y="2651760"/>
            <a:ext cx="1097280" cy="1097280"/>
          </a:xfrm>
          <a:prstGeom prst="ellipse">
            <a:avLst/>
          </a:prstGeom>
          <a:solidFill>
            <a:srgbClr val="ECA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video" id="471" name="Google Shape;4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0" y="2880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1"/>
          <p:cNvSpPr txBox="1"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Miniatura del video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548640" y="5029200"/>
            <a:ext cx="4114800" cy="64008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39700" lIns="139700" spcFirstLastPara="1" rIns="1397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Enlace: insertar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4754880" y="5029200"/>
            <a:ext cx="1188720" cy="1143000"/>
          </a:xfrm>
          <a:prstGeom prst="roundRect">
            <a:avLst>
              <a:gd fmla="val 9600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 txBox="1"/>
          <p:nvPr/>
        </p:nvSpPr>
        <p:spPr>
          <a:xfrm>
            <a:off x="4846320" y="5029200"/>
            <a:ext cx="1005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6309360" y="178308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6419088" y="204825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1"/>
          <p:cNvSpPr txBox="1"/>
          <p:nvPr/>
        </p:nvSpPr>
        <p:spPr>
          <a:xfrm>
            <a:off x="6967728" y="185623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Presentación del proyecto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9025128" y="178308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9134856" y="204825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683496" y="185623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6309360" y="288036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6419088" y="314553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1"/>
          <p:cNvSpPr txBox="1"/>
          <p:nvPr/>
        </p:nvSpPr>
        <p:spPr>
          <a:xfrm>
            <a:off x="6967728" y="295351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Acceso al sistema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9025128" y="288036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9134856" y="314553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9683496" y="295351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Funciones principales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6309360" y="397764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6419088" y="424281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6967728" y="405079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Flujo de usuario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9025128" y="397764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9134856" y="424281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9683496" y="405079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Resultado obtenido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6309360" y="507492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6419088" y="5340096"/>
            <a:ext cx="457200" cy="457200"/>
          </a:xfrm>
          <a:prstGeom prst="ellipse">
            <a:avLst/>
          </a:prstGeom>
          <a:solidFill>
            <a:srgbClr val="0A50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6967728" y="5148072"/>
            <a:ext cx="18745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Cierre y valor entregado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9025128" y="5074920"/>
            <a:ext cx="2615184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Duración: por definir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"/>
          <p:cNvSpPr/>
          <p:nvPr/>
        </p:nvSpPr>
        <p:spPr>
          <a:xfrm>
            <a:off x="548640" y="274320"/>
            <a:ext cx="832104" cy="274320"/>
          </a:xfrm>
          <a:prstGeom prst="roundRect">
            <a:avLst>
              <a:gd fmla="val 50000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Hasta la entrega final se cierran las brechas territoriales y la validación</a:t>
            </a:r>
            <a:endParaRPr sz="3000"/>
          </a:p>
        </p:txBody>
      </p:sp>
      <p:cxnSp>
        <p:nvCxnSpPr>
          <p:cNvPr id="506" name="Google Shape;506;p12"/>
          <p:cNvCxnSpPr/>
          <p:nvPr/>
        </p:nvCxnSpPr>
        <p:spPr>
          <a:xfrm>
            <a:off x="1097280" y="2331720"/>
            <a:ext cx="9966960" cy="0"/>
          </a:xfrm>
          <a:prstGeom prst="straightConnector1">
            <a:avLst/>
          </a:prstGeom>
          <a:noFill/>
          <a:ln cap="flat" cmpd="sng" w="50800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12"/>
          <p:cNvSpPr txBox="1"/>
          <p:nvPr/>
        </p:nvSpPr>
        <p:spPr>
          <a:xfrm>
            <a:off x="64008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3 sep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1554480" y="2057400"/>
            <a:ext cx="548640" cy="548640"/>
          </a:xfrm>
          <a:prstGeom prst="ellipse">
            <a:avLst/>
          </a:prstGeom>
          <a:solidFill>
            <a:srgbClr val="1F8A6B"/>
          </a:solidFill>
          <a:ln cap="flat" cmpd="sng" w="317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 txBox="1"/>
          <p:nvPr/>
        </p:nvSpPr>
        <p:spPr>
          <a:xfrm>
            <a:off x="640080" y="2743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640080" y="309067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del proyecto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2"/>
          <p:cNvSpPr txBox="1"/>
          <p:nvPr/>
        </p:nvSpPr>
        <p:spPr>
          <a:xfrm>
            <a:off x="333756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15 oct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251960" y="2057400"/>
            <a:ext cx="548640" cy="548640"/>
          </a:xfrm>
          <a:prstGeom prst="ellipse">
            <a:avLst/>
          </a:prstGeom>
          <a:solidFill>
            <a:srgbClr val="ECA840"/>
          </a:solidFill>
          <a:ln cap="flat" cmpd="sng" w="317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 txBox="1"/>
          <p:nvPr/>
        </p:nvSpPr>
        <p:spPr>
          <a:xfrm>
            <a:off x="3337560" y="2743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Fase 2.1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 txBox="1"/>
          <p:nvPr/>
        </p:nvSpPr>
        <p:spPr>
          <a:xfrm>
            <a:off x="3337560" y="309067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Avance y documentación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 txBox="1"/>
          <p:nvPr/>
        </p:nvSpPr>
        <p:spPr>
          <a:xfrm>
            <a:off x="603504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26 nov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949440" y="205740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317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6035040" y="2743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Fase 2.3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 txBox="1"/>
          <p:nvPr/>
        </p:nvSpPr>
        <p:spPr>
          <a:xfrm>
            <a:off x="6035040" y="309067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Presentación y entrega final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 txBox="1"/>
          <p:nvPr/>
        </p:nvSpPr>
        <p:spPr>
          <a:xfrm>
            <a:off x="8732520" y="1691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30 nov a 4 dic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9646920" y="2057400"/>
            <a:ext cx="548640" cy="548640"/>
          </a:xfrm>
          <a:prstGeom prst="ellipse">
            <a:avLst/>
          </a:prstGeom>
          <a:solidFill>
            <a:srgbClr val="EEF1F3"/>
          </a:solidFill>
          <a:ln cap="flat" cmpd="sng" w="317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 txBox="1"/>
          <p:nvPr/>
        </p:nvSpPr>
        <p:spPr>
          <a:xfrm>
            <a:off x="8732520" y="2743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8732520" y="309067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Comisión, fecha por confirmar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069080" y="3675888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Vigente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48640" y="4114800"/>
            <a:ext cx="3410712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 txBox="1"/>
          <p:nvPr/>
        </p:nvSpPr>
        <p:spPr>
          <a:xfrm>
            <a:off x="73152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 txBox="1"/>
          <p:nvPr/>
        </p:nvSpPr>
        <p:spPr>
          <a:xfrm>
            <a:off x="731520" y="48463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issues priorizados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12"/>
          <p:cNvCxnSpPr/>
          <p:nvPr/>
        </p:nvCxnSpPr>
        <p:spPr>
          <a:xfrm>
            <a:off x="4005072" y="5120640"/>
            <a:ext cx="338328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12"/>
          <p:cNvSpPr/>
          <p:nvPr/>
        </p:nvSpPr>
        <p:spPr>
          <a:xfrm>
            <a:off x="4389120" y="4114800"/>
            <a:ext cx="3410712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"/>
          <p:cNvSpPr txBox="1"/>
          <p:nvPr/>
        </p:nvSpPr>
        <p:spPr>
          <a:xfrm>
            <a:off x="457200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4572000" y="48463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issues comprometidos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p12"/>
          <p:cNvCxnSpPr/>
          <p:nvPr/>
        </p:nvCxnSpPr>
        <p:spPr>
          <a:xfrm>
            <a:off x="7845552" y="5120640"/>
            <a:ext cx="338328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2" name="Google Shape;532;p12"/>
          <p:cNvSpPr/>
          <p:nvPr/>
        </p:nvSpPr>
        <p:spPr>
          <a:xfrm>
            <a:off x="8229600" y="4114800"/>
            <a:ext cx="3410712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 txBox="1"/>
          <p:nvPr/>
        </p:nvSpPr>
        <p:spPr>
          <a:xfrm>
            <a:off x="8412480" y="4251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Avance verificable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 txBox="1"/>
          <p:nvPr/>
        </p:nvSpPr>
        <p:spPr>
          <a:xfrm>
            <a:off x="8412480" y="48463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PR, commits o capturas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6446520" y="4270248"/>
            <a:ext cx="1280160" cy="274320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Sprint actual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3"/>
          <p:cNvSpPr/>
          <p:nvPr/>
        </p:nvSpPr>
        <p:spPr>
          <a:xfrm>
            <a:off x="548640" y="274320"/>
            <a:ext cx="832104" cy="274320"/>
          </a:xfrm>
          <a:prstGeom prst="roundRect">
            <a:avLst>
              <a:gd fmla="val 50000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3"/>
          <p:cNvSpPr txBox="1"/>
          <p:nvPr>
            <p:ph type="title"/>
          </p:nvPr>
        </p:nvSpPr>
        <p:spPr>
          <a:xfrm>
            <a:off x="548640" y="621792"/>
            <a:ext cx="1109167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Conocemos los límites del avance y tenemos definido cómo cerrarlos</a:t>
            </a:r>
            <a:endParaRPr sz="3000"/>
          </a:p>
        </p:txBody>
      </p:sp>
      <p:sp>
        <p:nvSpPr>
          <p:cNvPr id="544" name="Google Shape;544;p13"/>
          <p:cNvSpPr/>
          <p:nvPr/>
        </p:nvSpPr>
        <p:spPr>
          <a:xfrm>
            <a:off x="548640" y="1783080"/>
            <a:ext cx="4160520" cy="4343400"/>
          </a:xfrm>
          <a:prstGeom prst="roundRect">
            <a:avLst>
              <a:gd fmla="val 2637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 txBox="1"/>
          <p:nvPr/>
        </p:nvSpPr>
        <p:spPr>
          <a:xfrm>
            <a:off x="731520" y="19202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Intervalos del 80 %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3"/>
          <p:cNvSpPr txBox="1"/>
          <p:nvPr/>
        </p:nvSpPr>
        <p:spPr>
          <a:xfrm>
            <a:off x="731520" y="27889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Región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1737360" y="2743200"/>
            <a:ext cx="1920240" cy="457200"/>
          </a:xfrm>
          <a:prstGeom prst="roundRect">
            <a:avLst>
              <a:gd fmla="val 16000" name="adj"/>
            </a:avLst>
          </a:prstGeom>
          <a:solidFill>
            <a:srgbClr val="ECA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 txBox="1"/>
          <p:nvPr/>
        </p:nvSpPr>
        <p:spPr>
          <a:xfrm>
            <a:off x="1828800" y="27432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70 %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 txBox="1"/>
          <p:nvPr/>
        </p:nvSpPr>
        <p:spPr>
          <a:xfrm>
            <a:off x="731520" y="37033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Comunas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1737360" y="3657600"/>
            <a:ext cx="2112264" cy="457200"/>
          </a:xfrm>
          <a:prstGeom prst="roundRect">
            <a:avLst>
              <a:gd fmla="val 16000" name="adj"/>
            </a:avLst>
          </a:prstGeom>
          <a:solidFill>
            <a:srgbClr val="ECA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 txBox="1"/>
          <p:nvPr/>
        </p:nvSpPr>
        <p:spPr>
          <a:xfrm>
            <a:off x="1828800" y="36576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77 %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3"/>
          <p:cNvCxnSpPr/>
          <p:nvPr/>
        </p:nvCxnSpPr>
        <p:spPr>
          <a:xfrm>
            <a:off x="3931920" y="2468880"/>
            <a:ext cx="0" cy="1874520"/>
          </a:xfrm>
          <a:prstGeom prst="straightConnector1">
            <a:avLst/>
          </a:prstGeom>
          <a:noFill/>
          <a:ln cap="flat" cmpd="sng" w="28575">
            <a:solidFill>
              <a:srgbClr val="043F5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53" name="Google Shape;553;p13"/>
          <p:cNvSpPr txBox="1"/>
          <p:nvPr/>
        </p:nvSpPr>
        <p:spPr>
          <a:xfrm>
            <a:off x="2743200" y="4434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Nivel nominal 80 %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3"/>
          <p:cNvSpPr txBox="1"/>
          <p:nvPr/>
        </p:nvSpPr>
        <p:spPr>
          <a:xfrm>
            <a:off x="731520" y="502920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Cobertura observada en holdout 2026. Leer como referencia orientativa.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4937760" y="1783080"/>
            <a:ext cx="3273552" cy="2103120"/>
          </a:xfrm>
          <a:prstGeom prst="roundRect">
            <a:avLst>
              <a:gd fmla="val 5217" name="adj"/>
            </a:avLst>
          </a:prstGeom>
          <a:solidFill>
            <a:srgbClr val="E3EEF6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 txBox="1"/>
          <p:nvPr/>
        </p:nvSpPr>
        <p:spPr>
          <a:xfrm>
            <a:off x="5120640" y="194767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Funciones pendientes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3"/>
          <p:cNvSpPr txBox="1"/>
          <p:nvPr/>
        </p:nvSpPr>
        <p:spPr>
          <a:xfrm>
            <a:off x="5120640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Accesibilidad territorial y factores de hospitalización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5120640" y="347472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8366760" y="1783080"/>
            <a:ext cx="3273552" cy="2103120"/>
          </a:xfrm>
          <a:prstGeom prst="roundRect">
            <a:avLst>
              <a:gd fmla="val 5217" name="adj"/>
            </a:avLst>
          </a:prstGeom>
          <a:solidFill>
            <a:srgbClr val="FBEFD5"/>
          </a:solidFill>
          <a:ln cap="flat" cmpd="sng" w="15875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 txBox="1"/>
          <p:nvPr/>
        </p:nvSpPr>
        <p:spPr>
          <a:xfrm>
            <a:off x="8549640" y="194767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Evidencia faltante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3"/>
          <p:cNvSpPr txBox="1"/>
          <p:nvPr/>
        </p:nvSpPr>
        <p:spPr>
          <a:xfrm>
            <a:off x="8549640" y="24231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Pruebas por ejecutar y corrida en entorno limpio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8549640" y="347472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 revisión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4937760" y="4023360"/>
            <a:ext cx="3273552" cy="2103120"/>
          </a:xfrm>
          <a:prstGeom prst="roundRect">
            <a:avLst>
              <a:gd fmla="val 5217" name="adj"/>
            </a:avLst>
          </a:prstGeom>
          <a:solidFill>
            <a:srgbClr val="E3EEF6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 txBox="1"/>
          <p:nvPr/>
        </p:nvSpPr>
        <p:spPr>
          <a:xfrm>
            <a:off x="5120640" y="41879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Validaciones necesarias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3"/>
          <p:cNvSpPr txBox="1"/>
          <p:nvPr/>
        </p:nvSpPr>
        <p:spPr>
          <a:xfrm>
            <a:off x="5120640" y="466344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Sesión con usuario y aprobación escrita del alcance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5120640" y="5715000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8366760" y="4023360"/>
            <a:ext cx="3273552" cy="2103120"/>
          </a:xfrm>
          <a:prstGeom prst="roundRect">
            <a:avLst>
              <a:gd fmla="val 5217" name="adj"/>
            </a:avLst>
          </a:prstGeom>
          <a:solidFill>
            <a:srgbClr val="EEF1F3"/>
          </a:solidFill>
          <a:ln cap="flat" cmpd="sng" w="15875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 txBox="1"/>
          <p:nvPr/>
        </p:nvSpPr>
        <p:spPr>
          <a:xfrm>
            <a:off x="8549640" y="41879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Fuera del MVP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3"/>
          <p:cNvSpPr txBox="1"/>
          <p:nvPr/>
        </p:nvSpPr>
        <p:spPr>
          <a:xfrm>
            <a:off x="8549640" y="466344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Cupos en tiempo real, pacientes y despliegue productivo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8549640" y="5715000"/>
            <a:ext cx="2103120" cy="274320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Fuera del alcance actual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4"/>
          <p:cNvSpPr txBox="1"/>
          <p:nvPr>
            <p:ph type="title"/>
          </p:nvPr>
        </p:nvSpPr>
        <p:spPr>
          <a:xfrm>
            <a:off x="548640" y="548640"/>
            <a:ext cx="110916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SAAD ya proyecta demanda con datos públicos; falta validarla con quienes planifican la red</a:t>
            </a:r>
            <a:endParaRPr sz="3200"/>
          </a:p>
        </p:txBody>
      </p:sp>
      <p:sp>
        <p:nvSpPr>
          <p:cNvPr id="578" name="Google Shape;578;p14"/>
          <p:cNvSpPr/>
          <p:nvPr/>
        </p:nvSpPr>
        <p:spPr>
          <a:xfrm>
            <a:off x="548640" y="2560320"/>
            <a:ext cx="2011680" cy="2011680"/>
          </a:xfrm>
          <a:prstGeom prst="roundRect">
            <a:avLst>
              <a:gd fmla="val 81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 txBox="1"/>
          <p:nvPr/>
        </p:nvSpPr>
        <p:spPr>
          <a:xfrm>
            <a:off x="685800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4"/>
          <p:cNvSpPr txBox="1"/>
          <p:nvPr/>
        </p:nvSpPr>
        <p:spPr>
          <a:xfrm>
            <a:off x="685800" y="34290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Planificación reactiva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p14"/>
          <p:cNvCxnSpPr/>
          <p:nvPr/>
        </p:nvCxnSpPr>
        <p:spPr>
          <a:xfrm>
            <a:off x="2578608" y="3566160"/>
            <a:ext cx="219456" cy="0"/>
          </a:xfrm>
          <a:prstGeom prst="straightConnector1">
            <a:avLst/>
          </a:prstGeom>
          <a:noFill/>
          <a:ln cap="flat" cmpd="sng" w="38100">
            <a:solidFill>
              <a:srgbClr val="80B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2" name="Google Shape;582;p14"/>
          <p:cNvSpPr/>
          <p:nvPr/>
        </p:nvSpPr>
        <p:spPr>
          <a:xfrm>
            <a:off x="2816352" y="2560320"/>
            <a:ext cx="2011680" cy="2011680"/>
          </a:xfrm>
          <a:prstGeom prst="roundRect">
            <a:avLst>
              <a:gd fmla="val 81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 txBox="1"/>
          <p:nvPr/>
        </p:nvSpPr>
        <p:spPr>
          <a:xfrm>
            <a:off x="2953512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 txBox="1"/>
          <p:nvPr/>
        </p:nvSpPr>
        <p:spPr>
          <a:xfrm>
            <a:off x="2953512" y="34290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Pronóstico y territorio con datos públicos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14"/>
          <p:cNvCxnSpPr/>
          <p:nvPr/>
        </p:nvCxnSpPr>
        <p:spPr>
          <a:xfrm>
            <a:off x="4846320" y="3566160"/>
            <a:ext cx="219456" cy="0"/>
          </a:xfrm>
          <a:prstGeom prst="straightConnector1">
            <a:avLst/>
          </a:prstGeom>
          <a:noFill/>
          <a:ln cap="flat" cmpd="sng" w="38100">
            <a:solidFill>
              <a:srgbClr val="80B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14"/>
          <p:cNvSpPr/>
          <p:nvPr/>
        </p:nvSpPr>
        <p:spPr>
          <a:xfrm>
            <a:off x="5084064" y="2560320"/>
            <a:ext cx="2011680" cy="2011680"/>
          </a:xfrm>
          <a:prstGeom prst="roundRect">
            <a:avLst>
              <a:gd fmla="val 81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 txBox="1"/>
          <p:nvPr/>
        </p:nvSpPr>
        <p:spPr>
          <a:xfrm>
            <a:off x="5221224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Avance demostrado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 txBox="1"/>
          <p:nvPr/>
        </p:nvSpPr>
        <p:spPr>
          <a:xfrm>
            <a:off x="5221224" y="34290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Pipeline, modelo, API y tablero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14"/>
          <p:cNvCxnSpPr/>
          <p:nvPr/>
        </p:nvCxnSpPr>
        <p:spPr>
          <a:xfrm>
            <a:off x="7114032" y="3566160"/>
            <a:ext cx="219456" cy="0"/>
          </a:xfrm>
          <a:prstGeom prst="straightConnector1">
            <a:avLst/>
          </a:prstGeom>
          <a:noFill/>
          <a:ln cap="flat" cmpd="sng" w="38100">
            <a:solidFill>
              <a:srgbClr val="80B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14"/>
          <p:cNvSpPr/>
          <p:nvPr/>
        </p:nvSpPr>
        <p:spPr>
          <a:xfrm>
            <a:off x="7351776" y="2560320"/>
            <a:ext cx="2011680" cy="2011680"/>
          </a:xfrm>
          <a:prstGeom prst="roundRect">
            <a:avLst>
              <a:gd fmla="val 81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 txBox="1"/>
          <p:nvPr/>
        </p:nvSpPr>
        <p:spPr>
          <a:xfrm>
            <a:off x="7488936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Valor esperado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 txBox="1"/>
          <p:nvPr/>
        </p:nvSpPr>
        <p:spPr>
          <a:xfrm>
            <a:off x="7488936" y="34290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Lectura anticipada y trazable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14"/>
          <p:cNvCxnSpPr/>
          <p:nvPr/>
        </p:nvCxnSpPr>
        <p:spPr>
          <a:xfrm>
            <a:off x="9381744" y="3566160"/>
            <a:ext cx="219456" cy="0"/>
          </a:xfrm>
          <a:prstGeom prst="straightConnector1">
            <a:avLst/>
          </a:prstGeom>
          <a:noFill/>
          <a:ln cap="flat" cmpd="sng" w="38100">
            <a:solidFill>
              <a:srgbClr val="80BD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4" name="Google Shape;594;p14"/>
          <p:cNvSpPr/>
          <p:nvPr/>
        </p:nvSpPr>
        <p:spPr>
          <a:xfrm>
            <a:off x="9619488" y="2560320"/>
            <a:ext cx="2011680" cy="2011680"/>
          </a:xfrm>
          <a:prstGeom prst="roundRect">
            <a:avLst>
              <a:gd fmla="val 8182" name="adj"/>
            </a:avLst>
          </a:prstGeom>
          <a:solidFill>
            <a:srgbClr val="ECA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 txBox="1"/>
          <p:nvPr/>
        </p:nvSpPr>
        <p:spPr>
          <a:xfrm>
            <a:off x="9756648" y="26974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Próximo hito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 txBox="1"/>
          <p:nvPr/>
        </p:nvSpPr>
        <p:spPr>
          <a:xfrm>
            <a:off x="9756648" y="34290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Fase 2.3, 26 de noviembre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548640" y="5166360"/>
            <a:ext cx="260604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SAAD" id="598" name="Google Shape;5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257800"/>
            <a:ext cx="213181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4"/>
          <p:cNvSpPr txBox="1"/>
          <p:nvPr/>
        </p:nvSpPr>
        <p:spPr>
          <a:xfrm>
            <a:off x="3429000" y="521208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Camila Aroca Muñoz, Cristopher Rojas,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Rivera y Catalina Rodríguez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9418320" y="5212080"/>
            <a:ext cx="2221992" cy="777240"/>
          </a:xfrm>
          <a:prstGeom prst="roundRect">
            <a:avLst>
              <a:gd fmla="val 49412" name="adj"/>
            </a:avLst>
          </a:prstGeom>
          <a:solidFill>
            <a:srgbClr val="ECA840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"/>
          <p:cNvSpPr txBox="1"/>
          <p:nvPr>
            <p:ph type="title"/>
          </p:nvPr>
        </p:nvSpPr>
        <p:spPr>
          <a:xfrm>
            <a:off x="822960" y="24688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4400"/>
          </a:p>
        </p:txBody>
      </p:sp>
      <p:sp>
        <p:nvSpPr>
          <p:cNvPr id="607" name="Google Shape;607;p15"/>
          <p:cNvSpPr txBox="1"/>
          <p:nvPr>
            <p:ph idx="1" type="body"/>
          </p:nvPr>
        </p:nvSpPr>
        <p:spPr>
          <a:xfrm>
            <a:off x="822960" y="3749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0BDA8"/>
              </a:buClr>
              <a:buSzPts val="2200"/>
              <a:buNone/>
            </a:pPr>
            <a:r>
              <a:rPr lang="en-US" sz="2200">
                <a:solidFill>
                  <a:srgbClr val="80BDA8"/>
                </a:solidFill>
                <a:latin typeface="Arial"/>
                <a:ea typeface="Arial"/>
                <a:cs typeface="Arial"/>
                <a:sym typeface="Arial"/>
              </a:rPr>
              <a:t>Material de respaldo para responder preguntas</a:t>
            </a:r>
            <a:endParaRPr sz="2200"/>
          </a:p>
        </p:txBody>
      </p:sp>
      <p:pic>
        <p:nvPicPr>
          <p:cNvPr descr="chibi dev" id="608" name="Google Shape;6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0" y="2194560"/>
            <a:ext cx="219456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6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Ficha del proyecto y gobernanza</a:t>
            </a:r>
            <a:endParaRPr sz="2800"/>
          </a:p>
        </p:txBody>
      </p:sp>
      <p:graphicFrame>
        <p:nvGraphicFramePr>
          <p:cNvPr id="615" name="Google Shape;615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1828800"/>
                <a:gridCol w="48463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 formal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de Análisis y Anticipación de Demanda de Urgencia en Salud Mental para la Región Metropolitana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Sigla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SAAD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DUOC UC, sede Antonio Varas, Capstone APT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actual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2.1, 15 de octubre de 2026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Seguimiento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Tablero Kanban en GitHub Projects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Aprobación del alcance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 registro escrito de la docente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6" name="Google Shape;616;p16"/>
          <p:cNvGraphicFramePr/>
          <p:nvPr/>
        </p:nvGraphicFramePr>
        <p:xfrm>
          <a:off x="74523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2011675"/>
                <a:gridCol w="2176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Camila Aroca Muñoz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Jefa de Proyecto y Scrum Master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Cristopher Rojas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Owner y Data Scientist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 Rivera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Engineer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Catalina Rodríguez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Stack y Geoespacial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7" name="Google Shape;617;p16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7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Requisitos funcionales y no funcionales</a:t>
            </a:r>
            <a:endParaRPr sz="2800"/>
          </a:p>
        </p:txBody>
      </p:sp>
      <p:graphicFrame>
        <p:nvGraphicFramePr>
          <p:cNvPr id="624" name="Google Shape;624;p17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4114800"/>
                <a:gridCol w="1920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Alcance funcional del MVP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de datos confiable y reproducible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Proyección semanal de demanda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Análisis territorial y accesibilidad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Hospitalizaciones F00 a F99, factores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 web y API de consulta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fuentes y versiones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5" name="Google Shape;625;p17"/>
          <p:cNvGraphicFramePr/>
          <p:nvPr/>
        </p:nvGraphicFramePr>
        <p:xfrm>
          <a:off x="68122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1280150"/>
                <a:gridCol w="3547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 no funcional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RNF-__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6" name="Google Shape;626;p17"/>
          <p:cNvSpPr txBox="1"/>
          <p:nvPr/>
        </p:nvSpPr>
        <p:spPr>
          <a:xfrm>
            <a:off x="6812280" y="4297680"/>
            <a:ext cx="4828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El alcance ya exige reproducibilidad, trazabilidad de fuentes, datos agregados y avisos de interpretación visibles.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Historias de usuario priorizadas</a:t>
            </a:r>
            <a:endParaRPr sz="2800"/>
          </a:p>
        </p:txBody>
      </p:sp>
      <p:sp>
        <p:nvSpPr>
          <p:cNvPr id="634" name="Google Shape;634;p18"/>
          <p:cNvSpPr/>
          <p:nvPr/>
        </p:nvSpPr>
        <p:spPr>
          <a:xfrm>
            <a:off x="548640" y="1691640"/>
            <a:ext cx="2706624" cy="914400"/>
          </a:xfrm>
          <a:prstGeom prst="roundRect">
            <a:avLst>
              <a:gd fmla="val 12000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8"/>
          <p:cNvSpPr/>
          <p:nvPr/>
        </p:nvSpPr>
        <p:spPr>
          <a:xfrm>
            <a:off x="658368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636" name="Google Shape;6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637" y="19677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8"/>
          <p:cNvSpPr txBox="1"/>
          <p:nvPr/>
        </p:nvSpPr>
        <p:spPr>
          <a:xfrm>
            <a:off x="1325880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Gestor de red o planificador sanitario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3364992" y="1691640"/>
            <a:ext cx="2706624" cy="914400"/>
          </a:xfrm>
          <a:prstGeom prst="roundRect">
            <a:avLst>
              <a:gd fmla="val 12000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>
            <a:off x="3474720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640" name="Google Shape;6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7989" y="19677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18"/>
          <p:cNvSpPr txBox="1"/>
          <p:nvPr/>
        </p:nvSpPr>
        <p:spPr>
          <a:xfrm>
            <a:off x="4142232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Referente comunal de salud mental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6181344" y="1691640"/>
            <a:ext cx="2706624" cy="914400"/>
          </a:xfrm>
          <a:prstGeom prst="roundRect">
            <a:avLst>
              <a:gd fmla="val 12000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6291072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644" name="Google Shape;6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4341" y="19677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6958584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Analista o epidemiólogo de servicio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8997696" y="1691640"/>
            <a:ext cx="2706624" cy="914400"/>
          </a:xfrm>
          <a:prstGeom prst="roundRect">
            <a:avLst>
              <a:gd fmla="val 12000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9107424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suario" id="648" name="Google Shape;6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0693" y="19677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8"/>
          <p:cNvSpPr txBox="1"/>
          <p:nvPr/>
        </p:nvSpPr>
        <p:spPr>
          <a:xfrm>
            <a:off x="9774936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Jefatura de urgencia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0" name="Google Shape;650;p18"/>
          <p:cNvGraphicFramePr/>
          <p:nvPr/>
        </p:nvGraphicFramePr>
        <p:xfrm>
          <a:off x="54864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1188725"/>
                <a:gridCol w="6583675"/>
                <a:gridCol w="1645925"/>
                <a:gridCol w="1673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Historia de usuario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 v1.1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 v1.1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 v1.1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 v1.1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HU-__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Insertar desde la especificación v1.1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definir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1" name="Google Shape;651;p18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9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Product Backlog, Sprint Backlog y Daily Scrum</a:t>
            </a:r>
            <a:endParaRPr sz="2800"/>
          </a:p>
        </p:txBody>
      </p:sp>
      <p:sp>
        <p:nvSpPr>
          <p:cNvPr id="658" name="Google Shape;658;p19"/>
          <p:cNvSpPr/>
          <p:nvPr/>
        </p:nvSpPr>
        <p:spPr>
          <a:xfrm>
            <a:off x="548640" y="1691640"/>
            <a:ext cx="3502152" cy="329184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9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9"/>
          <p:cNvSpPr txBox="1"/>
          <p:nvPr/>
        </p:nvSpPr>
        <p:spPr>
          <a:xfrm>
            <a:off x="731520" y="24688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issues priorizados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4343400" y="1691640"/>
            <a:ext cx="3502152" cy="329184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9"/>
          <p:cNvSpPr txBox="1"/>
          <p:nvPr/>
        </p:nvSpPr>
        <p:spPr>
          <a:xfrm>
            <a:off x="4526280" y="24688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issues del sprint actual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8138160" y="1691640"/>
            <a:ext cx="3502152" cy="329184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9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9"/>
          <p:cNvSpPr txBox="1"/>
          <p:nvPr/>
        </p:nvSpPr>
        <p:spPr>
          <a:xfrm>
            <a:off x="8321040" y="24688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registros o bitácoras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548640" y="5212080"/>
            <a:ext cx="11091672" cy="731520"/>
          </a:xfrm>
          <a:prstGeom prst="roundRect">
            <a:avLst>
              <a:gd fmla="val 15000" name="adj"/>
            </a:avLst>
          </a:prstGeom>
          <a:solidFill>
            <a:srgbClr val="FBEFD5"/>
          </a:solidFill>
          <a:ln>
            <a:noFill/>
          </a:ln>
        </p:spPr>
        <p:txBody>
          <a:bodyPr anchorCtr="0" anchor="ctr" bIns="139700" lIns="139700" spcFirstLastPara="1" rIns="139700" wrap="square" tIns="13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El acta no registra una cadencia formal de reuniones. Dato por validar.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9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0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Modelo de base de datos</a:t>
            </a:r>
            <a:endParaRPr sz="2800"/>
          </a:p>
        </p:txBody>
      </p:sp>
      <p:sp>
        <p:nvSpPr>
          <p:cNvPr id="675" name="Google Shape;675;p20"/>
          <p:cNvSpPr/>
          <p:nvPr/>
        </p:nvSpPr>
        <p:spPr>
          <a:xfrm>
            <a:off x="548640" y="1691640"/>
            <a:ext cx="7132320" cy="4434840"/>
          </a:xfrm>
          <a:prstGeom prst="roundRect">
            <a:avLst>
              <a:gd fmla="val 2474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0"/>
          <p:cNvSpPr txBox="1"/>
          <p:nvPr/>
        </p:nvSpPr>
        <p:spPr>
          <a:xfrm>
            <a:off x="640080" y="1691640"/>
            <a:ext cx="69494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diagrama entidad-relación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1097280" y="1920240"/>
            <a:ext cx="1645920" cy="73152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Entidad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5394960" y="1920240"/>
            <a:ext cx="1645920" cy="73152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Entidad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3291840" y="4937760"/>
            <a:ext cx="1645920" cy="73152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Entidad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7909560" y="1691640"/>
            <a:ext cx="3730752" cy="1280160"/>
          </a:xfrm>
          <a:prstGeom prst="roundRect">
            <a:avLst>
              <a:gd fmla="val 8571" name="adj"/>
            </a:avLst>
          </a:prstGeom>
          <a:solidFill>
            <a:srgbClr val="DDF1EA"/>
          </a:solidFill>
          <a:ln cap="flat" cmpd="sng" w="15875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0"/>
          <p:cNvSpPr txBox="1"/>
          <p:nvPr/>
        </p:nvSpPr>
        <p:spPr>
          <a:xfrm>
            <a:off x="8092440" y="1801368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Modelo lógico y físico con DDL para PostgreSQL y PostGIS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8092440" y="2606040"/>
            <a:ext cx="1188720" cy="256032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7909560" y="3154680"/>
            <a:ext cx="3730752" cy="1280160"/>
          </a:xfrm>
          <a:prstGeom prst="roundRect">
            <a:avLst>
              <a:gd fmla="val 8571" name="adj"/>
            </a:avLst>
          </a:prstGeom>
          <a:solidFill>
            <a:srgbClr val="E3EEF6"/>
          </a:solidFill>
          <a:ln cap="flat" cmpd="sng" w="15875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"/>
          <p:cNvSpPr txBox="1"/>
          <p:nvPr/>
        </p:nvSpPr>
        <p:spPr>
          <a:xfrm>
            <a:off x="8092440" y="3264408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Base no desplegada: la API lee archivos del pipeline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8092440" y="4069080"/>
            <a:ext cx="11887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0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Diagramas UML</a:t>
            </a:r>
            <a:endParaRPr sz="2800"/>
          </a:p>
        </p:txBody>
      </p:sp>
      <p:sp>
        <p:nvSpPr>
          <p:cNvPr id="693" name="Google Shape;693;p21"/>
          <p:cNvSpPr txBox="1"/>
          <p:nvPr/>
        </p:nvSpPr>
        <p:spPr>
          <a:xfrm>
            <a:off x="548640" y="169164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548640" y="2148840"/>
            <a:ext cx="3502152" cy="3931920"/>
          </a:xfrm>
          <a:prstGeom prst="roundRect">
            <a:avLst>
              <a:gd fmla="val 3133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1"/>
          <p:cNvSpPr txBox="1"/>
          <p:nvPr/>
        </p:nvSpPr>
        <p:spPr>
          <a:xfrm>
            <a:off x="640080" y="2148840"/>
            <a:ext cx="331927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diagrama de casos de uso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1"/>
          <p:cNvSpPr txBox="1"/>
          <p:nvPr/>
        </p:nvSpPr>
        <p:spPr>
          <a:xfrm>
            <a:off x="4343400" y="169164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4343400" y="2148840"/>
            <a:ext cx="3502152" cy="3931920"/>
          </a:xfrm>
          <a:prstGeom prst="roundRect">
            <a:avLst>
              <a:gd fmla="val 3133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 txBox="1"/>
          <p:nvPr/>
        </p:nvSpPr>
        <p:spPr>
          <a:xfrm>
            <a:off x="4434840" y="2148840"/>
            <a:ext cx="331927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diagrama de componentes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1"/>
          <p:cNvSpPr txBox="1"/>
          <p:nvPr/>
        </p:nvSpPr>
        <p:spPr>
          <a:xfrm>
            <a:off x="8138160" y="1691640"/>
            <a:ext cx="3502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Clases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8138160" y="2148840"/>
            <a:ext cx="3502152" cy="3931920"/>
          </a:xfrm>
          <a:prstGeom prst="roundRect">
            <a:avLst>
              <a:gd fmla="val 3133" name="adj"/>
            </a:avLst>
          </a:prstGeom>
          <a:solidFill>
            <a:srgbClr val="F3F8FA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1"/>
          <p:cNvSpPr txBox="1"/>
          <p:nvPr/>
        </p:nvSpPr>
        <p:spPr>
          <a:xfrm>
            <a:off x="8229600" y="2148840"/>
            <a:ext cx="331927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Insertar diagrama de clases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1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2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Matriz de riesgos</a:t>
            </a:r>
            <a:endParaRPr sz="2800"/>
          </a:p>
        </p:txBody>
      </p:sp>
      <p:graphicFrame>
        <p:nvGraphicFramePr>
          <p:cNvPr id="709" name="Google Shape;709;p2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4754875"/>
                <a:gridCol w="1554475"/>
                <a:gridCol w="1645925"/>
                <a:gridCol w="31364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Riesgo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Probabilidad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Responsable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Intervalos subcalibrados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Observada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Cristopher Rojas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Snapshot 2026 sin procedencia registrada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Observada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 a 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 Rivera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Demostración y despliegue pendientes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 a 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Catalina Rodríguez y Camila Aroca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Aprobación del alcance sin registro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Camila Aroca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Cliente o validador sin confirmar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Camila Aroca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Alcance amplio para el tiempo restante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Cristopher Rojas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Fuentes públicas mutables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Felipe Rivera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 de la integración geoespacial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 a alto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Catalina Rodríguez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Documentación desalineada con el código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Camila Aroca y Felipe Rivera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0" name="Google Shape;710;p22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3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Mapa de cobertura entre entregables y diapositivas</a:t>
            </a:r>
            <a:endParaRPr sz="2800"/>
          </a:p>
        </p:txBody>
      </p:sp>
      <p:graphicFrame>
        <p:nvGraphicFramePr>
          <p:cNvPr id="717" name="Google Shape;717;p23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{8A1816FB-41E0-4738-A3F1-146A2AFC12E2}</a:tableStyleId>
              </a:tblPr>
              <a:tblGrid>
                <a:gridCol w="5120650"/>
                <a:gridCol w="2926075"/>
                <a:gridCol w="30449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Entregable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Diapositivas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3F5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de datos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6, 7, 8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de pronóstico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7, 10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6, 8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Tablero web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8, 9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Accesibilidad territorial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5, 13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Factores de hospitalización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5, 13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Anexos 2 y 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de datos y UML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8A6B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8A6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Anexos 5 y 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automatizadas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A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A5A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revisión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10, 13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Demostración en video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con usuario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4A5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74A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4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B2B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12, 13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7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8" name="Google Shape;718;p23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4"/>
          <p:cNvSpPr txBox="1"/>
          <p:nvPr>
            <p:ph type="title"/>
          </p:nvPr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Sistema visual y componentes</a:t>
            </a:r>
            <a:endParaRPr sz="2800"/>
          </a:p>
        </p:txBody>
      </p:sp>
      <p:sp>
        <p:nvSpPr>
          <p:cNvPr id="725" name="Google Shape;725;p24"/>
          <p:cNvSpPr/>
          <p:nvPr/>
        </p:nvSpPr>
        <p:spPr>
          <a:xfrm>
            <a:off x="5486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043F57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4"/>
          <p:cNvSpPr txBox="1"/>
          <p:nvPr/>
        </p:nvSpPr>
        <p:spPr>
          <a:xfrm>
            <a:off x="5486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Deep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043F57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19202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0A506A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4"/>
          <p:cNvSpPr txBox="1"/>
          <p:nvPr/>
        </p:nvSpPr>
        <p:spPr>
          <a:xfrm>
            <a:off x="19202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Petróleo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0A506A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4"/>
          <p:cNvSpPr/>
          <p:nvPr/>
        </p:nvSpPr>
        <p:spPr>
          <a:xfrm>
            <a:off x="32918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2A74A5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4"/>
          <p:cNvSpPr txBox="1"/>
          <p:nvPr/>
        </p:nvSpPr>
        <p:spPr>
          <a:xfrm>
            <a:off x="32918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2A74A5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4"/>
          <p:cNvSpPr/>
          <p:nvPr/>
        </p:nvSpPr>
        <p:spPr>
          <a:xfrm>
            <a:off x="46634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4A9ACB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4"/>
          <p:cNvSpPr txBox="1"/>
          <p:nvPr/>
        </p:nvSpPr>
        <p:spPr>
          <a:xfrm>
            <a:off x="46634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Celeste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4A9ACB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4"/>
          <p:cNvSpPr/>
          <p:nvPr/>
        </p:nvSpPr>
        <p:spPr>
          <a:xfrm>
            <a:off x="60350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80BDA8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4"/>
          <p:cNvSpPr txBox="1"/>
          <p:nvPr/>
        </p:nvSpPr>
        <p:spPr>
          <a:xfrm>
            <a:off x="60350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Menta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80BDA8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4"/>
          <p:cNvSpPr/>
          <p:nvPr/>
        </p:nvSpPr>
        <p:spPr>
          <a:xfrm>
            <a:off x="74066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ECA840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4"/>
          <p:cNvSpPr txBox="1"/>
          <p:nvPr/>
        </p:nvSpPr>
        <p:spPr>
          <a:xfrm>
            <a:off x="74066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Ámbar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ECA840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4"/>
          <p:cNvSpPr/>
          <p:nvPr/>
        </p:nvSpPr>
        <p:spPr>
          <a:xfrm>
            <a:off x="87782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1F8A6B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4"/>
          <p:cNvSpPr txBox="1"/>
          <p:nvPr/>
        </p:nvSpPr>
        <p:spPr>
          <a:xfrm>
            <a:off x="87782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Verde estado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1F8A6B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4"/>
          <p:cNvSpPr/>
          <p:nvPr/>
        </p:nvSpPr>
        <p:spPr>
          <a:xfrm>
            <a:off x="10149840" y="1645920"/>
            <a:ext cx="1261872" cy="640080"/>
          </a:xfrm>
          <a:prstGeom prst="roundRect">
            <a:avLst>
              <a:gd fmla="val 17143" name="adj"/>
            </a:avLst>
          </a:prstGeom>
          <a:solidFill>
            <a:srgbClr val="F3F8FA"/>
          </a:solidFill>
          <a:ln cap="flat" cmpd="sng" w="952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4"/>
          <p:cNvSpPr txBox="1"/>
          <p:nvPr/>
        </p:nvSpPr>
        <p:spPr>
          <a:xfrm>
            <a:off x="10149840" y="233172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Superficie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F3F8FA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4"/>
          <p:cNvSpPr txBox="1"/>
          <p:nvPr/>
        </p:nvSpPr>
        <p:spPr>
          <a:xfrm>
            <a:off x="548640" y="2971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Arial Bold título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4"/>
          <p:cNvSpPr txBox="1"/>
          <p:nvPr/>
        </p:nvSpPr>
        <p:spPr>
          <a:xfrm>
            <a:off x="548640" y="3383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Arial Regular cuerpo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4"/>
          <p:cNvSpPr txBox="1"/>
          <p:nvPr/>
        </p:nvSpPr>
        <p:spPr>
          <a:xfrm>
            <a:off x="54864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06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506A"/>
                </a:solidFill>
                <a:latin typeface="Arial"/>
                <a:ea typeface="Arial"/>
                <a:cs typeface="Arial"/>
                <a:sym typeface="Arial"/>
              </a:rPr>
              <a:t>Cifra 23,5 %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4"/>
          <p:cNvSpPr/>
          <p:nvPr/>
        </p:nvSpPr>
        <p:spPr>
          <a:xfrm>
            <a:off x="4023360" y="2971800"/>
            <a:ext cx="2194560" cy="1234440"/>
          </a:xfrm>
          <a:prstGeom prst="roundRect">
            <a:avLst>
              <a:gd fmla="val 8889" name="adj"/>
            </a:avLst>
          </a:prstGeom>
          <a:solidFill>
            <a:srgbClr val="F3F8FA"/>
          </a:solidFill>
          <a:ln cap="flat" cmpd="sng" w="15875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B2B34"/>
                </a:solidFill>
                <a:latin typeface="Arial"/>
                <a:ea typeface="Arial"/>
                <a:cs typeface="Arial"/>
                <a:sym typeface="Arial"/>
              </a:rPr>
              <a:t>Tarjeta base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4"/>
          <p:cNvSpPr/>
          <p:nvPr/>
        </p:nvSpPr>
        <p:spPr>
          <a:xfrm>
            <a:off x="6355080" y="2971800"/>
            <a:ext cx="2194560" cy="1234440"/>
          </a:xfrm>
          <a:prstGeom prst="roundRect">
            <a:avLst>
              <a:gd fmla="val 8889" name="adj"/>
            </a:avLst>
          </a:prstGeom>
          <a:solidFill>
            <a:srgbClr val="043F57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Tarjeta oscura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8778240" y="2971800"/>
            <a:ext cx="2834640" cy="274320"/>
          </a:xfrm>
          <a:prstGeom prst="roundRect">
            <a:avLst>
              <a:gd fmla="val 50000" name="adj"/>
            </a:avLst>
          </a:prstGeom>
          <a:solidFill>
            <a:srgbClr val="1F8A6B"/>
          </a:solidFill>
          <a:ln cap="flat" cmpd="sng" w="19050">
            <a:solidFill>
              <a:srgbClr val="1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/>
          <p:nvPr/>
        </p:nvSpPr>
        <p:spPr>
          <a:xfrm>
            <a:off x="8778240" y="3300984"/>
            <a:ext cx="2834640" cy="274320"/>
          </a:xfrm>
          <a:prstGeom prst="roundRect">
            <a:avLst>
              <a:gd fmla="val 50000" name="adj"/>
            </a:avLst>
          </a:prstGeom>
          <a:solidFill>
            <a:srgbClr val="ECA840"/>
          </a:solidFill>
          <a:ln cap="flat" cmpd="sng" w="19050">
            <a:solidFill>
              <a:srgbClr val="ECA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F5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43F57"/>
                </a:solidFill>
                <a:latin typeface="Arial"/>
                <a:ea typeface="Arial"/>
                <a:cs typeface="Arial"/>
                <a:sym typeface="Arial"/>
              </a:rPr>
              <a:t>En revisión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4"/>
          <p:cNvSpPr/>
          <p:nvPr/>
        </p:nvSpPr>
        <p:spPr>
          <a:xfrm>
            <a:off x="8778240" y="3630168"/>
            <a:ext cx="283464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2A74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4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A74A5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8778240" y="3959352"/>
            <a:ext cx="2834640" cy="274320"/>
          </a:xfrm>
          <a:prstGeom prst="roundRect">
            <a:avLst>
              <a:gd fmla="val 50000" name="adj"/>
            </a:avLst>
          </a:prstGeom>
          <a:solidFill>
            <a:srgbClr val="EEF1F3"/>
          </a:solidFill>
          <a:ln cap="flat" cmpd="sng" w="19050">
            <a:solidFill>
              <a:srgbClr val="7A8C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F5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F4F58"/>
                </a:solidFill>
                <a:latin typeface="Arial"/>
                <a:ea typeface="Arial"/>
                <a:cs typeface="Arial"/>
                <a:sym typeface="Arial"/>
              </a:rPr>
              <a:t>Fuera del alcance actual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0" name="Google Shape;750;p24"/>
          <p:cNvCxnSpPr/>
          <p:nvPr/>
        </p:nvCxnSpPr>
        <p:spPr>
          <a:xfrm>
            <a:off x="548640" y="4572000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0A50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1" name="Google Shape;751;p24"/>
          <p:cNvCxnSpPr/>
          <p:nvPr/>
        </p:nvCxnSpPr>
        <p:spPr>
          <a:xfrm>
            <a:off x="2103120" y="4572000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2A74A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752" name="Google Shape;752;p24"/>
          <p:cNvCxnSpPr/>
          <p:nvPr/>
        </p:nvCxnSpPr>
        <p:spPr>
          <a:xfrm>
            <a:off x="3657600" y="4572000"/>
            <a:ext cx="1280160" cy="0"/>
          </a:xfrm>
          <a:prstGeom prst="straightConnector1">
            <a:avLst/>
          </a:prstGeom>
          <a:noFill/>
          <a:ln cap="flat" cmpd="sng" w="38100">
            <a:solidFill>
              <a:srgbClr val="C9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3" name="Google Shape;753;p24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salud" id="754" name="Google Shape;7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9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24"/>
          <p:cNvSpPr/>
          <p:nvPr/>
        </p:nvSpPr>
        <p:spPr>
          <a:xfrm>
            <a:off x="1207008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urgencia" id="756" name="Google Shape;7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277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24"/>
          <p:cNvSpPr/>
          <p:nvPr/>
        </p:nvSpPr>
        <p:spPr>
          <a:xfrm>
            <a:off x="1865376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atos" id="758" name="Google Shape;7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8645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4"/>
          <p:cNvSpPr/>
          <p:nvPr/>
        </p:nvSpPr>
        <p:spPr>
          <a:xfrm>
            <a:off x="2523744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rediccion" id="760" name="Google Shape;76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7013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4"/>
          <p:cNvSpPr/>
          <p:nvPr/>
        </p:nvSpPr>
        <p:spPr>
          <a:xfrm>
            <a:off x="3182112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equipo" id="762" name="Google Shape;76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5381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24"/>
          <p:cNvSpPr/>
          <p:nvPr/>
        </p:nvSpPr>
        <p:spPr>
          <a:xfrm>
            <a:off x="3840480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tecnologia" id="764" name="Google Shape;76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33749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4"/>
          <p:cNvSpPr/>
          <p:nvPr/>
        </p:nvSpPr>
        <p:spPr>
          <a:xfrm>
            <a:off x="4498848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planificacion" id="766" name="Google Shape;76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2117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24"/>
          <p:cNvSpPr/>
          <p:nvPr/>
        </p:nvSpPr>
        <p:spPr>
          <a:xfrm>
            <a:off x="5157216" y="4846320"/>
            <a:ext cx="548640" cy="548640"/>
          </a:xfrm>
          <a:prstGeom prst="ellipse">
            <a:avLst/>
          </a:prstGeom>
          <a:solidFill>
            <a:srgbClr val="E3E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 decision" id="768" name="Google Shape;76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50485" y="4939589"/>
            <a:ext cx="362102" cy="362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psicologa" id="769" name="Google Shape;76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600" y="4343400"/>
            <a:ext cx="914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urgencia" id="770" name="Google Shape;770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40880" y="4343400"/>
            <a:ext cx="914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analista" id="771" name="Google Shape;771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38160" y="4343400"/>
            <a:ext cx="914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planificadora" id="772" name="Google Shape;772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35440" y="4343400"/>
            <a:ext cx="914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bi dev" id="773" name="Google Shape;773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332720" y="4343400"/>
            <a:ext cx="9144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2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Mensaje, flujo, arquitectura, línea de tiempo, capturas, indicadores, comparación, riesgos, cierre y anexo están disponibles como diseños.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4"/>
          <p:cNvSpPr txBox="1"/>
          <p:nvPr>
            <p:ph idx="4294967295" type="sldNum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5F707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5F707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AD">
  <a:themeElements>
    <a:clrScheme name="SAAD">
      <a:dk1>
        <a:srgbClr val="1B2B34"/>
      </a:dk1>
      <a:lt1>
        <a:srgbClr val="FFFFFF"/>
      </a:lt1>
      <a:dk2>
        <a:srgbClr val="043F57"/>
      </a:dk2>
      <a:lt2>
        <a:srgbClr val="F3F8FA"/>
      </a:lt2>
      <a:accent1>
        <a:srgbClr val="0A506A"/>
      </a:accent1>
      <a:accent2>
        <a:srgbClr val="2A74A5"/>
      </a:accent2>
      <a:accent3>
        <a:srgbClr val="4A9ACB"/>
      </a:accent3>
      <a:accent4>
        <a:srgbClr val="80BDA8"/>
      </a:accent4>
      <a:accent5>
        <a:srgbClr val="ECA840"/>
      </a:accent5>
      <a:accent6>
        <a:srgbClr val="1F8A6B"/>
      </a:accent6>
      <a:hlink>
        <a:srgbClr val="2A74A5"/>
      </a:hlink>
      <a:folHlink>
        <a:srgbClr val="0A50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AD">
  <a:themeElements>
    <a:clrScheme name="SAAD">
      <a:dk1>
        <a:srgbClr val="1B2B34"/>
      </a:dk1>
      <a:lt1>
        <a:srgbClr val="FFFFFF"/>
      </a:lt1>
      <a:dk2>
        <a:srgbClr val="043F57"/>
      </a:dk2>
      <a:lt2>
        <a:srgbClr val="F3F8FA"/>
      </a:lt2>
      <a:accent1>
        <a:srgbClr val="0A506A"/>
      </a:accent1>
      <a:accent2>
        <a:srgbClr val="2A74A5"/>
      </a:accent2>
      <a:accent3>
        <a:srgbClr val="4A9ACB"/>
      </a:accent3>
      <a:accent4>
        <a:srgbClr val="80BDA8"/>
      </a:accent4>
      <a:accent5>
        <a:srgbClr val="ECA840"/>
      </a:accent5>
      <a:accent6>
        <a:srgbClr val="1F8A6B"/>
      </a:accent6>
      <a:hlink>
        <a:srgbClr val="2A74A5"/>
      </a:hlink>
      <a:folHlink>
        <a:srgbClr val="0A50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2026-10-08T05:03:56Z</dcterms:created>
  <dc:creator>Equipo SAAD</dc:creator>
</cp:coreProperties>
</file>